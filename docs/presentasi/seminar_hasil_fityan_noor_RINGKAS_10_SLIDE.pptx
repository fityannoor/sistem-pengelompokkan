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6" r:id="rId10"/>
    <p:sldId id="267" r:id="rId11"/>
  </p:sldIdLst>
  <p:sldSz cx="18288000" cy="10287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(MS)" panose="020B0604020202020204" charset="0"/>
      <p:regular r:id="rId17"/>
    </p:embeddedFont>
    <p:embeddedFont>
      <p:font typeface="Calibri (MS) Bold" panose="020B0604020202020204" charset="0"/>
      <p:regular r:id="rId18"/>
    </p:embeddedFont>
    <p:embeddedFont>
      <p:font typeface="Calibri (MS) Italics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5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23143" y="-2207257"/>
            <a:ext cx="8255003" cy="8255003"/>
            <a:chOff x="0" y="0"/>
            <a:chExt cx="11006671" cy="11006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06709" cy="11006709"/>
            </a:xfrm>
            <a:custGeom>
              <a:avLst/>
              <a:gdLst/>
              <a:ahLst/>
              <a:cxnLst/>
              <a:rect r="r" b="b" t="t" l="l"/>
              <a:pathLst>
                <a:path h="11006709" w="11006709">
                  <a:moveTo>
                    <a:pt x="0" y="5503291"/>
                  </a:moveTo>
                  <a:cubicBezTo>
                    <a:pt x="0" y="2463927"/>
                    <a:pt x="2463927" y="0"/>
                    <a:pt x="5503291" y="0"/>
                  </a:cubicBezTo>
                  <a:cubicBezTo>
                    <a:pt x="8542655" y="0"/>
                    <a:pt x="11006709" y="2463927"/>
                    <a:pt x="11006709" y="5503291"/>
                  </a:cubicBezTo>
                  <a:cubicBezTo>
                    <a:pt x="11006709" y="8542655"/>
                    <a:pt x="8542782" y="11006709"/>
                    <a:pt x="5503291" y="11006709"/>
                  </a:cubicBezTo>
                  <a:cubicBezTo>
                    <a:pt x="2463800" y="11006709"/>
                    <a:pt x="0" y="8542782"/>
                    <a:pt x="0" y="5503291"/>
                  </a:cubicBezTo>
                  <a:close/>
                </a:path>
              </a:pathLst>
            </a:custGeom>
            <a:solidFill>
              <a:srgbClr val="FBBF24">
                <a:alpha val="5882"/>
              </a:srgbClr>
            </a:solidFill>
            <a:ln w="25400" cap="sq">
              <a:solidFill>
                <a:srgbClr val="FBBF2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3703303" y="-927097"/>
            <a:ext cx="5511803" cy="5511803"/>
            <a:chOff x="0" y="0"/>
            <a:chExt cx="7349071" cy="73490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49109" cy="7349109"/>
            </a:xfrm>
            <a:custGeom>
              <a:avLst/>
              <a:gdLst/>
              <a:ahLst/>
              <a:cxnLst/>
              <a:rect r="r" b="b" t="t" l="l"/>
              <a:pathLst>
                <a:path h="7349109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cubicBezTo>
                    <a:pt x="5703824" y="0"/>
                    <a:pt x="7349109" y="1645158"/>
                    <a:pt x="7349109" y="3674491"/>
                  </a:cubicBezTo>
                  <a:cubicBezTo>
                    <a:pt x="7349109" y="5703824"/>
                    <a:pt x="5703951" y="7349109"/>
                    <a:pt x="3674491" y="7349109"/>
                  </a:cubicBezTo>
                  <a:cubicBezTo>
                    <a:pt x="1645031" y="7349109"/>
                    <a:pt x="0" y="5703951"/>
                    <a:pt x="0" y="3674491"/>
                  </a:cubicBezTo>
                  <a:close/>
                </a:path>
              </a:pathLst>
            </a:custGeom>
            <a:solidFill>
              <a:srgbClr val="F59E0B">
                <a:alpha val="15686"/>
              </a:srgbClr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2755897" y="7668263"/>
            <a:ext cx="10998203" cy="5511803"/>
            <a:chOff x="0" y="0"/>
            <a:chExt cx="14664271" cy="73490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64182" cy="7349109"/>
            </a:xfrm>
            <a:custGeom>
              <a:avLst/>
              <a:gdLst/>
              <a:ahLst/>
              <a:cxnLst/>
              <a:rect r="r" b="b" t="t" l="l"/>
              <a:pathLst>
                <a:path h="7349109" w="14664182">
                  <a:moveTo>
                    <a:pt x="0" y="3674491"/>
                  </a:moveTo>
                  <a:cubicBezTo>
                    <a:pt x="0" y="1645158"/>
                    <a:pt x="3282696" y="0"/>
                    <a:pt x="7332091" y="0"/>
                  </a:cubicBezTo>
                  <a:cubicBezTo>
                    <a:pt x="11381487" y="0"/>
                    <a:pt x="14664182" y="1645158"/>
                    <a:pt x="14664182" y="3674491"/>
                  </a:cubicBezTo>
                  <a:cubicBezTo>
                    <a:pt x="14664182" y="5703824"/>
                    <a:pt x="11381613" y="7349109"/>
                    <a:pt x="7332091" y="7349109"/>
                  </a:cubicBezTo>
                  <a:cubicBezTo>
                    <a:pt x="3282569" y="7349109"/>
                    <a:pt x="0" y="5703951"/>
                    <a:pt x="0" y="3674491"/>
                  </a:cubicBezTo>
                  <a:close/>
                </a:path>
              </a:pathLst>
            </a:custGeom>
            <a:solidFill>
              <a:srgbClr val="F97316">
                <a:alpha val="24706"/>
              </a:srgbClr>
            </a:solidFill>
            <a:ln w="2540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2743205" y="301752"/>
            <a:ext cx="1188720" cy="1188720"/>
            <a:chOff x="0" y="0"/>
            <a:chExt cx="1584960" cy="1584960"/>
          </a:xfrm>
        </p:grpSpPr>
        <p:sp>
          <p:nvSpPr>
            <p:cNvPr name="Freeform 9" id="9" descr="/mnt/user-data/uploads/PRODI-TI-225__1_.png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584960"/>
                  </a:lnTo>
                  <a:lnTo>
                    <a:pt x="0" y="1584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467863" y="535943"/>
            <a:ext cx="5877563" cy="720347"/>
            <a:chOff x="0" y="0"/>
            <a:chExt cx="7836751" cy="9604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36662" cy="960501"/>
            </a:xfrm>
            <a:custGeom>
              <a:avLst/>
              <a:gdLst/>
              <a:ahLst/>
              <a:cxnLst/>
              <a:rect r="r" b="b" t="t" l="l"/>
              <a:pathLst>
                <a:path h="960501" w="7836662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7659751" y="0"/>
                  </a:lnTo>
                  <a:cubicBezTo>
                    <a:pt x="7757414" y="0"/>
                    <a:pt x="7836662" y="79248"/>
                    <a:pt x="7836662" y="176911"/>
                  </a:cubicBezTo>
                  <a:lnTo>
                    <a:pt x="7836662" y="783590"/>
                  </a:lnTo>
                  <a:cubicBezTo>
                    <a:pt x="7836662" y="881253"/>
                    <a:pt x="7757414" y="960501"/>
                    <a:pt x="7659751" y="960501"/>
                  </a:cubicBezTo>
                  <a:lnTo>
                    <a:pt x="176911" y="960501"/>
                  </a:lnTo>
                  <a:cubicBezTo>
                    <a:pt x="79248" y="960501"/>
                    <a:pt x="0" y="881253"/>
                    <a:pt x="0" y="783590"/>
                  </a:cubicBezTo>
                  <a:close/>
                </a:path>
              </a:pathLst>
            </a:custGeom>
            <a:solidFill>
              <a:srgbClr val="FBBF24"/>
            </a:solidFill>
            <a:ln w="25400" cap="sq">
              <a:solidFill>
                <a:srgbClr val="FBBF2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480560" y="548640"/>
            <a:ext cx="5852160" cy="694944"/>
            <a:chOff x="0" y="0"/>
            <a:chExt cx="7802880" cy="9265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02880" cy="926592"/>
            </a:xfrm>
            <a:custGeom>
              <a:avLst/>
              <a:gdLst/>
              <a:ahLst/>
              <a:cxnLst/>
              <a:rect r="r" b="b" t="t" l="l"/>
              <a:pathLst>
                <a:path h="92659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4084" r="0" b="-11408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802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EA58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SEMINAR HASIL PENELITIAN · 2026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897356" y="327660"/>
            <a:ext cx="3916680" cy="3916680"/>
            <a:chOff x="0" y="0"/>
            <a:chExt cx="5222240" cy="5222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22240" cy="5222240"/>
            </a:xfrm>
            <a:custGeom>
              <a:avLst/>
              <a:gdLst/>
              <a:ahLst/>
              <a:cxnLst/>
              <a:rect r="r" b="b" t="t" l="l"/>
              <a:pathLst>
                <a:path h="5222240" w="5222240">
                  <a:moveTo>
                    <a:pt x="0" y="2611120"/>
                  </a:moveTo>
                  <a:cubicBezTo>
                    <a:pt x="0" y="1169035"/>
                    <a:pt x="1169035" y="0"/>
                    <a:pt x="2611120" y="0"/>
                  </a:cubicBezTo>
                  <a:cubicBezTo>
                    <a:pt x="4053205" y="0"/>
                    <a:pt x="5222240" y="1169035"/>
                    <a:pt x="5222240" y="2611120"/>
                  </a:cubicBezTo>
                  <a:cubicBezTo>
                    <a:pt x="5222240" y="4053205"/>
                    <a:pt x="4053205" y="5222240"/>
                    <a:pt x="2611120" y="5222240"/>
                  </a:cubicBezTo>
                  <a:cubicBezTo>
                    <a:pt x="1169035" y="5222240"/>
                    <a:pt x="0" y="4053205"/>
                    <a:pt x="0" y="2611120"/>
                  </a:cubicBezTo>
                  <a:close/>
                </a:path>
              </a:pathLst>
            </a:custGeom>
            <a:blipFill>
              <a:blip r:embed="rId5"/>
              <a:stretch>
                <a:fillRect l="0" t="-16666" r="0" b="-16666"/>
              </a:stretch>
            </a:blipFill>
            <a:ln w="76200" cap="sq">
              <a:solidFill>
                <a:srgbClr val="FBBF24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01703" y="6973319"/>
            <a:ext cx="16850363" cy="2914907"/>
            <a:chOff x="0" y="0"/>
            <a:chExt cx="22467151" cy="388654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67188" cy="3886581"/>
            </a:xfrm>
            <a:custGeom>
              <a:avLst/>
              <a:gdLst/>
              <a:ahLst/>
              <a:cxnLst/>
              <a:rect r="r" b="b" t="t" l="l"/>
              <a:pathLst>
                <a:path h="3886581" w="22467188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22221189" y="0"/>
                  </a:lnTo>
                  <a:cubicBezTo>
                    <a:pt x="22357079" y="0"/>
                    <a:pt x="22467188" y="110109"/>
                    <a:pt x="22467188" y="245999"/>
                  </a:cubicBezTo>
                  <a:lnTo>
                    <a:pt x="22467188" y="3640582"/>
                  </a:lnTo>
                  <a:cubicBezTo>
                    <a:pt x="22467188" y="3776472"/>
                    <a:pt x="22357079" y="3886581"/>
                    <a:pt x="22221189" y="3886581"/>
                  </a:cubicBezTo>
                  <a:lnTo>
                    <a:pt x="245999" y="3886581"/>
                  </a:lnTo>
                  <a:cubicBezTo>
                    <a:pt x="110109" y="3886581"/>
                    <a:pt x="0" y="3776472"/>
                    <a:pt x="0" y="3640582"/>
                  </a:cubicBezTo>
                  <a:close/>
                </a:path>
              </a:pathLst>
            </a:custGeom>
            <a:solidFill>
              <a:srgbClr val="1C1917">
                <a:alpha val="48627"/>
              </a:srgbClr>
            </a:solidFill>
            <a:ln w="25400" cap="sq">
              <a:solidFill>
                <a:srgbClr val="FBBF24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316736" y="7132320"/>
            <a:ext cx="16093440" cy="2560320"/>
            <a:chOff x="0" y="0"/>
            <a:chExt cx="21457920" cy="34137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4579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1457920" cy="3461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Fityan Noor  ·  22.43.032  ·  Teknik Informatika</a:t>
              </a:r>
            </a:p>
            <a:p>
              <a:pPr algn="l">
                <a:lnSpc>
                  <a:spcPts val="2760"/>
                </a:lnSpc>
              </a:pP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D5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Pembimbing Utama       :  </a:t>
              </a: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Wahyuni, S.Kom., M.Kom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D5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Pembimbing Pendamping :  </a:t>
              </a: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Rizki Galang Rahmadani, S.Kom., M.Kom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141916" y="371707"/>
            <a:ext cx="1067888" cy="1048819"/>
          </a:xfrm>
          <a:custGeom>
            <a:avLst/>
            <a:gdLst/>
            <a:ahLst/>
            <a:cxnLst/>
            <a:rect r="r" b="b" t="t" l="l"/>
            <a:pathLst>
              <a:path h="1048819" w="1067888">
                <a:moveTo>
                  <a:pt x="0" y="0"/>
                </a:moveTo>
                <a:lnTo>
                  <a:pt x="1067889" y="0"/>
                </a:lnTo>
                <a:lnTo>
                  <a:pt x="1067889" y="1048819"/>
                </a:lnTo>
                <a:lnTo>
                  <a:pt x="0" y="10488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01703" y="2774956"/>
            <a:ext cx="11417303" cy="350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Penerapan Algoritma K-Means untuk Pengelompokan Siswa </a:t>
            </a:r>
            <a:r>
              <a:rPr lang="en-US" sz="5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sebagai Dasar Strategi Pembelajaran pada SMK Negeri 4 Tanah Grogot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EA580C"/>
            </a:solidFill>
            <a:ln w="25400" cap="sq">
              <a:solidFill>
                <a:srgbClr val="EA580C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12697" y="-12697"/>
            <a:ext cx="354587" cy="1945643"/>
            <a:chOff x="0" y="0"/>
            <a:chExt cx="472783" cy="25941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2821" cy="2594229"/>
            </a:xfrm>
            <a:custGeom>
              <a:avLst/>
              <a:gdLst/>
              <a:ahLst/>
              <a:cxnLst/>
              <a:rect l="l" t="t" r="r" b="b"/>
              <a:pathLst>
                <a:path w="472821" h="2594229">
                  <a:moveTo>
                    <a:pt x="0" y="0"/>
                  </a:moveTo>
                  <a:lnTo>
                    <a:pt x="472821" y="0"/>
                  </a:lnTo>
                  <a:lnTo>
                    <a:pt x="472821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FBBF24"/>
            </a:solidFill>
            <a:ln w="25400" cap="sq">
              <a:solidFill>
                <a:srgbClr val="FBBF24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94944" y="0"/>
            <a:ext cx="17007840" cy="1920240"/>
            <a:chOff x="0" y="0"/>
            <a:chExt cx="22677120" cy="25603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677120" cy="2560320"/>
            </a:xfrm>
            <a:custGeom>
              <a:avLst/>
              <a:gdLst/>
              <a:ahLst/>
              <a:cxnLst/>
              <a:rect l="l" t="t" r="r" b="b"/>
              <a:pathLst>
                <a:path w="22677120" h="2560320">
                  <a:moveTo>
                    <a:pt x="0" y="0"/>
                  </a:moveTo>
                  <a:lnTo>
                    <a:pt x="22677120" y="0"/>
                  </a:lnTo>
                  <a:lnTo>
                    <a:pt x="2267712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581" b="-122581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22677120" cy="2636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Tabel Revisi Seminar Proposal</a:t>
              </a:r>
            </a:p>
          </p:txBody>
        </p:sp>
      </p:grp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640080" y="2194560"/>
          <a:ext cx="16967200" cy="6985000"/>
        </p:xfrm>
        <a:graphic>
          <a:graphicData uri="http://schemas.openxmlformats.org/drawingml/2006/table">
            <a:tbl>
              <a:tblPr/>
              <a:tblGrid>
                <a:gridCol w="771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6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5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35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70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No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Item Revisi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Keterangan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Status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4440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4440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Revisi Batasan Masalah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4440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Batasan diperjelas: jumlah cluster otomatis via Silhouette Score &amp; Elbow Method, sistem web, data kelas XI.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65F4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Selesai ✅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4440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4440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Revisi Sistematika Penulisan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4440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Susunan bab &amp; sub-bab disesuaikan dengan pedoman penulisan yang berlaku.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65F4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Selesai ✅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4440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4440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Tambah Referensi Python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4440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Ditambahkan: Hidayat &amp; Prasetyo (2022), Ramadhan &amp; Saputra (2023), Nugroho &amp; Kurniawan (2024).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65F4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Selesai ✅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4440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4440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Tambah Referensi White Box Testing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4440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Ditambahkan: Setiawan dkk. (2022) dan Sie dkk. (2022) terkait basis path testing.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65F4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Selesai ✅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0" name="Group 10"/>
          <p:cNvGrpSpPr/>
          <p:nvPr/>
        </p:nvGrpSpPr>
        <p:grpSpPr>
          <a:xfrm>
            <a:off x="627383" y="9350759"/>
            <a:ext cx="17033243" cy="683771"/>
            <a:chOff x="0" y="0"/>
            <a:chExt cx="22710991" cy="91169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711029" cy="911733"/>
            </a:xfrm>
            <a:custGeom>
              <a:avLst/>
              <a:gdLst/>
              <a:ahLst/>
              <a:cxnLst/>
              <a:rect l="l" t="t" r="r" b="b"/>
              <a:pathLst>
                <a:path w="22711029" h="911733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lnTo>
                    <a:pt x="22533738" y="0"/>
                  </a:lnTo>
                  <a:cubicBezTo>
                    <a:pt x="22631654" y="0"/>
                    <a:pt x="22711029" y="79375"/>
                    <a:pt x="22711029" y="177292"/>
                  </a:cubicBezTo>
                  <a:lnTo>
                    <a:pt x="22711029" y="734441"/>
                  </a:lnTo>
                  <a:cubicBezTo>
                    <a:pt x="22711029" y="832358"/>
                    <a:pt x="22631654" y="911733"/>
                    <a:pt x="22533738" y="911733"/>
                  </a:cubicBezTo>
                  <a:lnTo>
                    <a:pt x="177292" y="911733"/>
                  </a:lnTo>
                  <a:cubicBezTo>
                    <a:pt x="79375" y="911733"/>
                    <a:pt x="0" y="832358"/>
                    <a:pt x="0" y="734441"/>
                  </a:cubicBezTo>
                  <a:close/>
                </a:path>
              </a:pathLst>
            </a:custGeom>
            <a:solidFill>
              <a:srgbClr val="FBBF24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914400" y="9400032"/>
            <a:ext cx="16459200" cy="585216"/>
            <a:chOff x="0" y="0"/>
            <a:chExt cx="21945600" cy="7802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945600" cy="780288"/>
            </a:xfrm>
            <a:custGeom>
              <a:avLst/>
              <a:gdLst/>
              <a:ahLst/>
              <a:cxnLst/>
              <a:rect l="l" t="t" r="r" b="b"/>
              <a:pathLst>
                <a:path w="21945600" h="780288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8016" b="-498016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194560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EA58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Semua revisi dari seminar proposal telah diselesaikan sebelum seminar hasil dilaksanakan.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FFBF5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id="2" name="Group 2"/>
          <ns0:cNvGrpSpPr/>
          <ns0:nvPr/>
        </ns0:nvGrpSpPr>
        <ns0:grpSpPr>
          <ns1:xfrm>
            <ns1:off x="-12697" y="-12697"/>
            <ns1:ext cx="18313403" cy="1945643"/>
            <ns1:chOff x="0" y="0"/>
            <ns1:chExt cx="24417871" cy="2594191"/>
          </ns1:xfrm>
        </ns0:grpSpPr>
        <ns0:sp>
          <ns0:nvSpPr>
            <ns0:cNvPr id="3" name="Freeform 3"/>
            <ns0:cNvSpPr/>
            <ns0:nvPr/>
          </ns0:nvSpPr>
          <ns0:spPr>
            <ns1:xfrm>
              <ns1:off x="0" y="0"/>
              <ns1:ext cx="24417910" cy="2594229"/>
            </ns1:xfrm>
            <ns1:custGeom>
              <ns1:avLst/>
              <ns1:gdLst/>
              <ns1:ahLst/>
              <ns1:cxnLst/>
              <ns1:rect l="l" t="t" r="r" b="b"/>
              <ns1:pathLst>
                <ns1:path w="24417910" h="2594229">
                  <ns1:moveTo>
                    <ns1:pt x="0" y="0"/>
                  </ns1:moveTo>
                  <ns1:lnTo>
                    <ns1:pt x="24417910" y="0"/>
                  </ns1:lnTo>
                  <ns1:lnTo>
                    <ns1:pt x="24417910" y="2594229"/>
                  </ns1:lnTo>
                  <ns1:lnTo>
                    <ns1:pt x="0" y="2594229"/>
                  </ns1:lnTo>
                  <ns1:close/>
                </ns1:path>
              </ns1:pathLst>
            </ns1:custGeom>
            <ns1:solidFill>
              <ns1:srgbClr val="EA580C"/>
            </ns1:solidFill>
            <ns1:ln w="25400" cap="sq">
              <ns1:solidFill>
                <ns1:srgbClr val="EA580C"/>
              </ns1:solidFill>
              <ns1:prstDash val="solid"/>
              <ns1:miter/>
            </ns1:ln>
          </ns0:spPr>
        </ns0:sp>
      </ns0:grpSp>
      <ns0:grpSp>
        <ns0:nvGrpSpPr>
          <ns0:cNvPr id="4" name="Group 4"/>
          <ns0:cNvGrpSpPr/>
          <ns0:nvPr/>
        </ns0:nvGrpSpPr>
        <ns0:grpSpPr>
          <ns1:xfrm>
            <ns1:off x="-12697" y="-12697"/>
            <ns1:ext cx="354587" cy="1945643"/>
            <ns1:chOff x="0" y="0"/>
            <ns1:chExt cx="472783" cy="2594191"/>
          </ns1:xfrm>
        </ns0:grpSpPr>
        <ns0:sp>
          <ns0:nvSpPr>
            <ns0:cNvPr id="5" name="Freeform 5"/>
            <ns0:cNvSpPr/>
            <ns0:nvPr/>
          </ns0:nvSpPr>
          <ns0:spPr>
            <ns1:xfrm>
              <ns1:off x="0" y="0"/>
              <ns1:ext cx="472821" cy="2594229"/>
            </ns1:xfrm>
            <ns1:custGeom>
              <ns1:avLst/>
              <ns1:gdLst/>
              <ns1:ahLst/>
              <ns1:cxnLst/>
              <ns1:rect l="l" t="t" r="r" b="b"/>
              <ns1:pathLst>
                <ns1:path w="472821" h="2594229">
                  <ns1:moveTo>
                    <ns1:pt x="0" y="0"/>
                  </ns1:moveTo>
                  <ns1:lnTo>
                    <ns1:pt x="472821" y="0"/>
                  </ns1:lnTo>
                  <ns1:lnTo>
                    <ns1:pt x="472821" y="2594229"/>
                  </ns1:lnTo>
                  <ns1:lnTo>
                    <ns1:pt x="0" y="2594229"/>
                  </ns1:lnTo>
                  <ns1:close/>
                </ns1:path>
              </ns1:pathLst>
            </ns1:custGeom>
            <ns1:solidFill>
              <ns1:srgbClr val="FBBF24"/>
            </ns1:solidFill>
            <ns1:ln w="25400" cap="sq">
              <ns1:solidFill>
                <ns1:srgbClr val="FBBF24"/>
              </ns1:solidFill>
              <ns1:prstDash val="solid"/>
              <ns1:miter/>
            </ns1:ln>
          </ns0:spPr>
        </ns0:sp>
      </ns0:grpSp>
      <ns0:grpSp>
        <ns0:nvGrpSpPr>
          <ns0:cNvPr id="6" name="Group 6"/>
          <ns0:cNvGrpSpPr/>
          <ns0:nvPr/>
        </ns0:nvGrpSpPr>
        <ns0:grpSpPr>
          <ns1:xfrm>
            <ns1:off x="694944" y="0"/>
            <ns1:ext cx="17007840" cy="1920240"/>
            <ns1:chOff x="0" y="0"/>
            <ns1:chExt cx="22677120" cy="2560320"/>
          </ns1:xfrm>
        </ns0:grpSpPr>
        <ns0:sp>
          <ns0:nvSpPr>
            <ns0:cNvPr id="7" name="Freeform 7"/>
            <ns0:cNvSpPr/>
            <ns0:nvPr/>
          </ns0:nvSpPr>
          <ns0:spPr>
            <ns1:xfrm>
              <ns1:off x="0" y="0"/>
              <ns1:ext cx="22677120" cy="2560320"/>
            </ns1:xfrm>
            <ns1:custGeom>
              <ns1:avLst/>
              <ns1:gdLst/>
              <ns1:ahLst/>
              <ns1:cxnLst/>
              <ns1:rect l="l" t="t" r="r" b="b"/>
              <ns1:pathLst>
                <ns1:path w="22677120" h="2560320">
                  <ns1:moveTo>
                    <ns1:pt x="0" y="0"/>
                  </ns1:moveTo>
                  <ns1:lnTo>
                    <ns1:pt x="22677120" y="0"/>
                  </ns1:lnTo>
                  <ns1:lnTo>
                    <ns1:pt x="22677120" y="2560320"/>
                  </ns1:lnTo>
                  <ns1:lnTo>
                    <ns1:pt x="0" y="256032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122581" b="-122581"/>
              </ns1:stretch>
            </ns1:blipFill>
          </ns0:spPr>
        </ns0:sp>
        <ns0:sp>
          <ns0:nvSpPr>
            <ns0:cNvPr id="8" name="TextBox 8"/>
            <ns0:cNvSpPr txBox="1"/>
            <ns0:nvPr/>
          </ns0:nvSpPr>
          <ns0:spPr>
            <ns1:xfrm>
              <ns1:off x="0" y="-76200"/>
              <ns1:ext cx="22677120" cy="2636520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5280"/>
                </ns1:lnSpc>
              </ns1:pPr>
              <ns1:r>
                <ns1:rPr lang="en-US" sz="4400" b="1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Latar Belakang, Rumusan, Batasan &amp; Tujuan</ns1:t>
              </ns1:r>
            </ns1:p>
          </ns0:txBody>
        </ns0:sp>
      </ns0:grpSp>
      <ns0:grpSp>
        <ns0:nvGrpSpPr>
          <ns0:cNvPr id="9" name="Group 9"/>
          <ns0:cNvGrpSpPr/>
          <ns0:nvPr/>
        </ns0:nvGrpSpPr>
        <ns0:grpSpPr>
          <ns1:xfrm>
            <ns1:off x="535943" y="2090423"/>
            <ns1:ext cx="8529323" cy="3591563"/>
            <ns1:chOff x="0" y="0"/>
            <ns1:chExt cx="11372431" cy="4788751"/>
          </ns1:xfrm>
        </ns0:grpSpPr>
        <ns0:sp>
          <ns0:nvSpPr>
            <ns0:cNvPr id="10" name="Freeform 10"/>
            <ns0:cNvSpPr/>
            <ns0:nvPr/>
          </ns0:nvSpPr>
          <ns0:spPr>
            <ns1:xfrm>
              <ns1:off x="0" y="0"/>
              <ns1:ext cx="11372469" cy="4788789"/>
            </ns1:xfrm>
            <ns1:custGeom>
              <ns1:avLst/>
              <ns1:gdLst/>
              <ns1:ahLst/>
              <ns1:cxnLst/>
              <ns1:rect l="l" t="t" r="r" b="b"/>
              <ns1:pathLst>
                <ns1:path w="11372469" h="4788789">
                  <ns1:moveTo>
                    <ns1:pt x="0" y="245618"/>
                  </ns1:moveTo>
                  <ns1:cubicBezTo>
                    <ns1:pt x="0" y="109982"/>
                    <ns1:pt x="109982" y="0"/>
                    <ns1:pt x="245618" y="0"/>
                  </ns1:cubicBezTo>
                  <ns1:lnTo>
                    <ns1:pt x="11126851" y="0"/>
                  </ns1:lnTo>
                  <ns1:cubicBezTo>
                    <ns1:pt x="11262487" y="0"/>
                    <ns1:pt x="11372469" y="109982"/>
                    <ns1:pt x="11372469" y="245618"/>
                  </ns1:cubicBezTo>
                  <ns1:lnTo>
                    <ns1:pt x="11372469" y="4543171"/>
                  </ns1:lnTo>
                  <ns1:cubicBezTo>
                    <ns1:pt x="11372469" y="4678807"/>
                    <ns1:pt x="11262487" y="4788789"/>
                    <ns1:pt x="11126851" y="4788789"/>
                  </ns1:cubicBezTo>
                  <ns1:lnTo>
                    <ns1:pt x="245618" y="4788789"/>
                  </ns1:lnTo>
                  <ns1:cubicBezTo>
                    <ns1:pt x="109982" y="4788789"/>
                    <ns1:pt x="0" y="4678807"/>
                    <ns1:pt x="0" y="4543171"/>
                  </ns1:cubicBezTo>
                  <ns1:close/>
                </ns1:path>
              </ns1:pathLst>
            </ns1:custGeom>
            <ns1:solidFill>
              <ns1:srgbClr val="FFF7ED"/>
            </ns1:solidFill>
            <ns1:ln w="25400" cap="sq">
              <ns1:solidFill>
                <ns1:srgbClr val="FED7AA"/>
              </ns1:solidFill>
              <ns1:prstDash val="solid"/>
              <ns1:miter/>
            </ns1:ln>
          </ns0:spPr>
        </ns0:sp>
      </ns0:grpSp>
      <ns0:grpSp>
        <ns0:nvGrpSpPr>
          <ns0:cNvPr id="11" name="Group 11"/>
          <ns0:cNvGrpSpPr/>
          <ns0:nvPr/>
        </ns0:nvGrpSpPr>
        <ns0:grpSpPr>
          <ns1:xfrm>
            <ns1:off x="535943" y="2090423"/>
            <ns1:ext cx="8529323" cy="866651"/>
            <ns1:chOff x="0" y="0"/>
            <ns1:chExt cx="11372431" cy="1155535"/>
          </ns1:xfrm>
        </ns0:grpSpPr>
        <ns0:sp>
          <ns0:nvSpPr>
            <ns0:cNvPr id="12" name="Freeform 12"/>
            <ns0:cNvSpPr/>
            <ns0:nvPr/>
          </ns0:nvSpPr>
          <ns0:spPr>
            <ns1:xfrm>
              <ns1:off x="0" y="0"/>
              <ns1:ext cx="11372469" cy="1155573"/>
            </ns1:xfrm>
            <ns1:custGeom>
              <ns1:avLst/>
              <ns1:gdLst/>
              <ns1:ahLst/>
              <ns1:cxnLst/>
              <ns1:rect l="l" t="t" r="r" b="b"/>
              <ns1:pathLst>
                <ns1:path w="11372469" h="1155573">
                  <ns1:moveTo>
                    <ns1:pt x="0" y="251206"/>
                  </ns1:moveTo>
                  <ns1:cubicBezTo>
                    <ns1:pt x="0" y="112522"/>
                    <ns1:pt x="112522" y="0"/>
                    <ns1:pt x="251206" y="0"/>
                  </ns1:cubicBezTo>
                  <ns1:lnTo>
                    <ns1:pt x="11121263" y="0"/>
                  </ns1:lnTo>
                  <ns1:cubicBezTo>
                    <ns1:pt x="11259947" y="0"/>
                    <ns1:pt x="11372469" y="112522"/>
                    <ns1:pt x="11372469" y="251206"/>
                  </ns1:cubicBezTo>
                  <ns1:lnTo>
                    <ns1:pt x="11372469" y="904367"/>
                  </ns1:lnTo>
                  <ns1:cubicBezTo>
                    <ns1:pt x="11372469" y="1043051"/>
                    <ns1:pt x="11259947" y="1155573"/>
                    <ns1:pt x="11121263" y="1155573"/>
                  </ns1:cubicBezTo>
                  <ns1:lnTo>
                    <ns1:pt x="251206" y="1155573"/>
                  </ns1:lnTo>
                  <ns1:cubicBezTo>
                    <ns1:pt x="112522" y="1155573"/>
                    <ns1:pt x="0" y="1043051"/>
                    <ns1:pt x="0" y="904367"/>
                  </ns1:cubicBezTo>
                  <ns1:close/>
                </ns1:path>
              </ns1:pathLst>
            </ns1:custGeom>
            <ns1:solidFill>
              <ns1:srgbClr val="F97316"/>
            </ns1:solidFill>
            <ns1:ln w="25400" cap="sq">
              <ns1:solidFill>
                <ns1:srgbClr val="F97316"/>
              </ns1:solidFill>
              <ns1:prstDash val="solid"/>
              <ns1:miter/>
            </ns1:ln>
          </ns0:spPr>
        </ns0:sp>
      </ns0:grpSp>
      <ns0:grpSp>
        <ns0:nvGrpSpPr>
          <ns0:cNvPr id="13" name="Group 13"/>
          <ns0:cNvGrpSpPr/>
          <ns0:nvPr/>
        </ns0:nvGrpSpPr>
        <ns0:grpSpPr>
          <ns1:xfrm>
            <ns1:off x="535943" y="2602487"/>
            <ns1:ext cx="8529323" cy="354587"/>
            <ns1:chOff x="0" y="0"/>
            <ns1:chExt cx="11372431" cy="472783"/>
          </ns1:xfrm>
        </ns0:grpSpPr>
        <ns0:sp>
          <ns0:nvSpPr>
            <ns0:cNvPr id="14" name="Freeform 14"/>
            <ns0:cNvSpPr/>
            <ns0:nvPr/>
          </ns0:nvSpPr>
          <ns0:spPr>
            <ns1:xfrm>
              <ns1:off x="0" y="0"/>
              <ns1:ext cx="11372469" cy="472821"/>
            </ns1:xfrm>
            <ns1:custGeom>
              <ns1:avLst/>
              <ns1:gdLst/>
              <ns1:ahLst/>
              <ns1:cxnLst/>
              <ns1:rect l="l" t="t" r="r" b="b"/>
              <ns1:pathLst>
                <ns1:path w="11372469" h="472821">
                  <ns1:moveTo>
                    <ns1:pt x="0" y="0"/>
                  </ns1:moveTo>
                  <ns1:lnTo>
                    <ns1:pt x="11372469" y="0"/>
                  </ns1:lnTo>
                  <ns1:lnTo>
                    <ns1:pt x="11372469" y="472821"/>
                  </ns1:lnTo>
                  <ns1:lnTo>
                    <ns1:pt x="0" y="472821"/>
                  </ns1:lnTo>
                  <ns1:close/>
                </ns1:path>
              </ns1:pathLst>
            </ns1:custGeom>
            <ns1:solidFill>
              <ns1:srgbClr val="F97316"/>
            </ns1:solidFill>
            <ns1:ln w="25400" cap="sq">
              <ns1:solidFill>
                <ns1:srgbClr val="F97316"/>
              </ns1:solidFill>
              <ns1:prstDash val="solid"/>
              <ns1:miter/>
            </ns1:ln>
          </ns0:spPr>
        </ns0:sp>
      </ns0:grpSp>
      <ns0:grpSp>
        <ns0:nvGrpSpPr>
          <ns0:cNvPr id="15" name="Group 15"/>
          <ns0:cNvGrpSpPr/>
          <ns0:nvPr/>
        </ns0:nvGrpSpPr>
        <ns0:grpSpPr>
          <ns1:xfrm>
            <ns1:off x="822960" y="2212848"/>
            <ns1:ext cx="7955280" cy="658368"/>
            <ns1:chOff x="0" y="0"/>
            <ns1:chExt cx="10607040" cy="877824"/>
          </ns1:xfrm>
        </ns0:grpSpPr>
        <ns0:sp>
          <ns0:nvSpPr>
            <ns0:cNvPr id="16" name="Freeform 16"/>
            <ns0:cNvSpPr/>
            <ns0:nvPr/>
          </ns0:nvSpPr>
          <ns0:spPr>
            <ns1:xfrm>
              <ns1:off x="0" y="0"/>
              <ns1:ext cx="10607040" cy="877824"/>
            </ns1:xfrm>
            <ns1:custGeom>
              <ns1:avLst/>
              <ns1:gdLst/>
              <ns1:ahLst/>
              <ns1:cxnLst/>
              <ns1:rect l="l" t="t" r="r" b="b"/>
              <ns1:pathLst>
                <ns1:path w="10607040" h="877824">
                  <ns1:moveTo>
                    <ns1:pt x="0" y="0"/>
                  </ns1:moveTo>
                  <ns1:lnTo>
                    <ns1:pt x="10607040" y="0"/>
                  </ns1:lnTo>
                  <ns1:lnTo>
                    <ns1:pt x="10607040" y="877824"/>
                  </ns1:lnTo>
                  <ns1:lnTo>
                    <ns1:pt x="0" y="877824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185444" b="-185444"/>
              </ns1:stretch>
            </ns1:blipFill>
          </ns0:spPr>
        </ns0:sp>
        <ns0:sp>
          <ns0:nvSpPr>
            <ns0:cNvPr id="17" name="TextBox 17"/>
            <ns0:cNvSpPr txBox="1"/>
            <ns0:nvPr/>
          </ns0:nvSpPr>
          <ns0:spPr>
            <ns1:xfrm>
              <ns1:off x="0" y="-38100"/>
              <ns1:ext cx="10607040" cy="915924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879"/>
                </ns1:lnSpc>
              </ns1:pPr>
              <ns1:r>
                <ns1:rPr lang="en-US" sz="2400" b="1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📌  Latar Belakang</ns1:t>
              </ns1:r>
            </ns1:p>
          </ns0:txBody>
        </ns0:sp>
      </ns0:grpSp>
      <ns0:sp>
        <ns0:nvSpPr>
          <ns0:cNvPr id="18" name="TextBox 18"/>
          <ns0:cNvSpPr txBox="1"/>
          <ns0:nvPr/>
        </ns0:nvSpPr>
        <ns0:spPr>
          <ns1:xfrm>
            <ns1:off x="1005840" y="3134868"/>
            <ns1:ext cx="7680960" cy="2324100"/>
          </ns1:xfrm>
          <ns1:prstGeom prst="rect">
            <ns1:avLst/>
          </ns1:prstGeom>
        </ns0:spPr>
        <ns0:txBody>
          <ns1:bodyPr lIns="0" tIns="0" rIns="0" bIns="0" rtlCol="0" anchor="t">
            <ns1:spAutoFit/>
          </ns1:bodyPr>
          <ns1:lstStyle/>
          <ns1:p>
            <ns1:pPr algn="l">
              <ns1:lnSpc>
                <ns1:spcPts val="2400"/>
              </ns1:lnSpc>
            </ns1:pPr>
            <ns1:r>
              <ns1:rPr lang="en-US" sz="2000">
                <ns1:solidFill>
                  <ns1:srgbClr val="44403C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- Data nilai akademik masih dominan untuk pelaporan</ns1:t>
            </ns1:r>
          </ns1:p>
          <ns1:p>
            <ns1:pPr algn="l">
              <ns1:lnSpc>
                <ns1:spcPts val="2400"/>
              </ns1:lnSpc>
            </ns1:pPr>
            <ns1:r>
              <ns1:rPr lang="en-US" sz="2000">
                <ns1:solidFill>
                  <ns1:srgbClr val="44403C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- Pengelompokan siswa masih manual dan subjektif</ns1:t>
            </ns1:r>
          </ns1:p>
          <ns1:p>
            <ns1:pPr algn="l">
              <ns1:lnSpc>
                <ns1:spcPts val="2400"/>
              </ns1:lnSpc>
            </ns1:pPr>
            <ns1:r>
              <ns1:rPr lang="en-US" sz="2000">
                <ns1:solidFill>
                  <ns1:srgbClr val="44403C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- Diperlukan analisis otomatis berbasis kemiripan nilai</ns1:t>
            </ns1:r>
          </ns1:p>
        </ns0:txBody>
      </ns0:sp>
      <ns0:grpSp>
        <ns0:nvGrpSpPr>
          <ns0:cNvPr id="19" name="Group 19"/>
          <ns0:cNvGrpSpPr/>
          <ns0:nvPr/>
        </ns0:nvGrpSpPr>
        <ns0:grpSpPr>
          <ns1:xfrm>
            <ns1:off x="9405623" y="2090423"/>
            <ns1:ext cx="8529323" cy="3591563"/>
            <ns1:chOff x="0" y="0"/>
            <ns1:chExt cx="11372431" cy="4788751"/>
          </ns1:xfrm>
        </ns0:grpSpPr>
        <ns0:sp>
          <ns0:nvSpPr>
            <ns0:cNvPr id="20" name="Freeform 20"/>
            <ns0:cNvSpPr/>
            <ns0:nvPr/>
          </ns0:nvSpPr>
          <ns0:spPr>
            <ns1:xfrm>
              <ns1:off x="0" y="0"/>
              <ns1:ext cx="11372469" cy="4788789"/>
            </ns1:xfrm>
            <ns1:custGeom>
              <ns1:avLst/>
              <ns1:gdLst/>
              <ns1:ahLst/>
              <ns1:cxnLst/>
              <ns1:rect l="l" t="t" r="r" b="b"/>
              <ns1:pathLst>
                <ns1:path w="11372469" h="4788789">
                  <ns1:moveTo>
                    <ns1:pt x="0" y="245618"/>
                  </ns1:moveTo>
                  <ns1:cubicBezTo>
                    <ns1:pt x="0" y="109982"/>
                    <ns1:pt x="109982" y="0"/>
                    <ns1:pt x="245618" y="0"/>
                  </ns1:cubicBezTo>
                  <ns1:lnTo>
                    <ns1:pt x="11126851" y="0"/>
                  </ns1:lnTo>
                  <ns1:cubicBezTo>
                    <ns1:pt x="11262487" y="0"/>
                    <ns1:pt x="11372469" y="109982"/>
                    <ns1:pt x="11372469" y="245618"/>
                  </ns1:cubicBezTo>
                  <ns1:lnTo>
                    <ns1:pt x="11372469" y="4543171"/>
                  </ns1:lnTo>
                  <ns1:cubicBezTo>
                    <ns1:pt x="11372469" y="4678807"/>
                    <ns1:pt x="11262487" y="4788789"/>
                    <ns1:pt x="11126851" y="4788789"/>
                  </ns1:cubicBezTo>
                  <ns1:lnTo>
                    <ns1:pt x="245618" y="4788789"/>
                  </ns1:lnTo>
                  <ns1:cubicBezTo>
                    <ns1:pt x="109982" y="4788789"/>
                    <ns1:pt x="0" y="4678807"/>
                    <ns1:pt x="0" y="4543171"/>
                  </ns1:cubicBezTo>
                  <ns1:close/>
                </ns1:path>
              </ns1:pathLst>
            </ns1:custGeom>
            <ns1:solidFill>
              <ns1:srgbClr val="F0FDFA"/>
            </ns1:solidFill>
            <ns1:ln w="25400" cap="sq">
              <ns1:solidFill>
                <ns1:srgbClr val="99F6E4"/>
              </ns1:solidFill>
              <ns1:prstDash val="solid"/>
              <ns1:miter/>
            </ns1:ln>
          </ns0:spPr>
        </ns0:sp>
      </ns0:grpSp>
      <ns0:grpSp>
        <ns0:nvGrpSpPr>
          <ns0:cNvPr id="21" name="Group 21"/>
          <ns0:cNvGrpSpPr/>
          <ns0:nvPr/>
        </ns0:nvGrpSpPr>
        <ns0:grpSpPr>
          <ns1:xfrm>
            <ns1:off x="9405623" y="2090423"/>
            <ns1:ext cx="8529323" cy="866651"/>
            <ns1:chOff x="0" y="0"/>
            <ns1:chExt cx="11372431" cy="1155535"/>
          </ns1:xfrm>
        </ns0:grpSpPr>
        <ns0:sp>
          <ns0:nvSpPr>
            <ns0:cNvPr id="22" name="Freeform 22"/>
            <ns0:cNvSpPr/>
            <ns0:nvPr/>
          </ns0:nvSpPr>
          <ns0:spPr>
            <ns1:xfrm>
              <ns1:off x="0" y="0"/>
              <ns1:ext cx="11372469" cy="1155573"/>
            </ns1:xfrm>
            <ns1:custGeom>
              <ns1:avLst/>
              <ns1:gdLst/>
              <ns1:ahLst/>
              <ns1:cxnLst/>
              <ns1:rect l="l" t="t" r="r" b="b"/>
              <ns1:pathLst>
                <ns1:path w="11372469" h="1155573">
                  <ns1:moveTo>
                    <ns1:pt x="0" y="251206"/>
                  </ns1:moveTo>
                  <ns1:cubicBezTo>
                    <ns1:pt x="0" y="112522"/>
                    <ns1:pt x="112522" y="0"/>
                    <ns1:pt x="251206" y="0"/>
                  </ns1:cubicBezTo>
                  <ns1:lnTo>
                    <ns1:pt x="11121263" y="0"/>
                  </ns1:lnTo>
                  <ns1:cubicBezTo>
                    <ns1:pt x="11259947" y="0"/>
                    <ns1:pt x="11372469" y="112522"/>
                    <ns1:pt x="11372469" y="251206"/>
                  </ns1:cubicBezTo>
                  <ns1:lnTo>
                    <ns1:pt x="11372469" y="904367"/>
                  </ns1:lnTo>
                  <ns1:cubicBezTo>
                    <ns1:pt x="11372469" y="1043051"/>
                    <ns1:pt x="11259947" y="1155573"/>
                    <ns1:pt x="11121263" y="1155573"/>
                  </ns1:cubicBezTo>
                  <ns1:lnTo>
                    <ns1:pt x="251206" y="1155573"/>
                  </ns1:lnTo>
                  <ns1:cubicBezTo>
                    <ns1:pt x="112522" y="1155573"/>
                    <ns1:pt x="0" y="1043051"/>
                    <ns1:pt x="0" y="904367"/>
                  </ns1:cubicBezTo>
                  <ns1:close/>
                </ns1:path>
              </ns1:pathLst>
            </ns1:custGeom>
            <ns1:solidFill>
              <ns1:srgbClr val="0D9488"/>
            </ns1:solidFill>
            <ns1:ln w="25400" cap="sq">
              <ns1:solidFill>
                <ns1:srgbClr val="0D9488"/>
              </ns1:solidFill>
              <ns1:prstDash val="solid"/>
              <ns1:miter/>
            </ns1:ln>
          </ns0:spPr>
        </ns0:sp>
      </ns0:grpSp>
      <ns0:grpSp>
        <ns0:nvGrpSpPr>
          <ns0:cNvPr id="23" name="Group 23"/>
          <ns0:cNvGrpSpPr/>
          <ns0:nvPr/>
        </ns0:nvGrpSpPr>
        <ns0:grpSpPr>
          <ns1:xfrm>
            <ns1:off x="9405623" y="2602487"/>
            <ns1:ext cx="8529323" cy="354587"/>
            <ns1:chOff x="0" y="0"/>
            <ns1:chExt cx="11372431" cy="472783"/>
          </ns1:xfrm>
        </ns0:grpSpPr>
        <ns0:sp>
          <ns0:nvSpPr>
            <ns0:cNvPr id="24" name="Freeform 24"/>
            <ns0:cNvSpPr/>
            <ns0:nvPr/>
          </ns0:nvSpPr>
          <ns0:spPr>
            <ns1:xfrm>
              <ns1:off x="0" y="0"/>
              <ns1:ext cx="11372469" cy="472821"/>
            </ns1:xfrm>
            <ns1:custGeom>
              <ns1:avLst/>
              <ns1:gdLst/>
              <ns1:ahLst/>
              <ns1:cxnLst/>
              <ns1:rect l="l" t="t" r="r" b="b"/>
              <ns1:pathLst>
                <ns1:path w="11372469" h="472821">
                  <ns1:moveTo>
                    <ns1:pt x="0" y="0"/>
                  </ns1:moveTo>
                  <ns1:lnTo>
                    <ns1:pt x="11372469" y="0"/>
                  </ns1:lnTo>
                  <ns1:lnTo>
                    <ns1:pt x="11372469" y="472821"/>
                  </ns1:lnTo>
                  <ns1:lnTo>
                    <ns1:pt x="0" y="472821"/>
                  </ns1:lnTo>
                  <ns1:close/>
                </ns1:path>
              </ns1:pathLst>
            </ns1:custGeom>
            <ns1:solidFill>
              <ns1:srgbClr val="0D9488"/>
            </ns1:solidFill>
            <ns1:ln w="25400" cap="sq">
              <ns1:solidFill>
                <ns1:srgbClr val="0D9488"/>
              </ns1:solidFill>
              <ns1:prstDash val="solid"/>
              <ns1:miter/>
            </ns1:ln>
          </ns0:spPr>
        </ns0:sp>
      </ns0:grpSp>
      <ns0:grpSp>
        <ns0:nvGrpSpPr>
          <ns0:cNvPr id="25" name="Group 25"/>
          <ns0:cNvGrpSpPr/>
          <ns0:nvPr/>
        </ns0:nvGrpSpPr>
        <ns0:grpSpPr>
          <ns1:xfrm>
            <ns1:off x="9692640" y="2212848"/>
            <ns1:ext cx="7955280" cy="658368"/>
            <ns1:chOff x="0" y="0"/>
            <ns1:chExt cx="10607040" cy="877824"/>
          </ns1:xfrm>
        </ns0:grpSpPr>
        <ns0:sp>
          <ns0:nvSpPr>
            <ns0:cNvPr id="26" name="Freeform 26"/>
            <ns0:cNvSpPr/>
            <ns0:nvPr/>
          </ns0:nvSpPr>
          <ns0:spPr>
            <ns1:xfrm>
              <ns1:off x="0" y="0"/>
              <ns1:ext cx="10607040" cy="877824"/>
            </ns1:xfrm>
            <ns1:custGeom>
              <ns1:avLst/>
              <ns1:gdLst/>
              <ns1:ahLst/>
              <ns1:cxnLst/>
              <ns1:rect l="l" t="t" r="r" b="b"/>
              <ns1:pathLst>
                <ns1:path w="10607040" h="877824">
                  <ns1:moveTo>
                    <ns1:pt x="0" y="0"/>
                  </ns1:moveTo>
                  <ns1:lnTo>
                    <ns1:pt x="10607040" y="0"/>
                  </ns1:lnTo>
                  <ns1:lnTo>
                    <ns1:pt x="10607040" y="877824"/>
                  </ns1:lnTo>
                  <ns1:lnTo>
                    <ns1:pt x="0" y="877824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185444" b="-185444"/>
              </ns1:stretch>
            </ns1:blipFill>
          </ns0:spPr>
        </ns0:sp>
        <ns0:sp>
          <ns0:nvSpPr>
            <ns0:cNvPr id="27" name="TextBox 27"/>
            <ns0:cNvSpPr txBox="1"/>
            <ns0:nvPr/>
          </ns0:nvSpPr>
          <ns0:spPr>
            <ns1:xfrm>
              <ns1:off x="0" y="-38100"/>
              <ns1:ext cx="10607040" cy="915924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879"/>
                </ns1:lnSpc>
              </ns1:pPr>
              <ns1:r>
                <ns1:rPr lang="en-US" sz="2400" b="1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❓  Rumusan Masalah</ns1:t>
              </ns1:r>
            </ns1:p>
          </ns0:txBody>
        </ns0:sp>
      </ns0:grpSp>
      <ns0:grpSp>
        <ns0:nvGrpSpPr>
          <ns0:cNvPr id="28" name="Group 28"/>
          <ns0:cNvGrpSpPr/>
          <ns0:nvPr/>
        </ns0:nvGrpSpPr>
        <ns0:grpSpPr>
          <ns1:xfrm>
            <ns1:off x="9784080" y="3127248"/>
            <ns1:ext cx="7863840" cy="2377440"/>
            <ns1:chOff x="0" y="0"/>
            <ns1:chExt cx="10485120" cy="3169920"/>
          </ns1:xfrm>
        </ns0:grpSpPr>
        <ns0:sp>
          <ns0:nvSpPr>
            <ns0:cNvPr id="29" name="Freeform 29"/>
            <ns0:cNvSpPr/>
            <ns0:nvPr/>
          </ns0:nvSpPr>
          <ns0:spPr>
            <ns1:xfrm>
              <ns1:off x="0" y="0"/>
              <ns1:ext cx="10485120" cy="3169920"/>
            </ns1:xfrm>
            <ns1:custGeom>
              <ns1:avLst/>
              <ns1:gdLst/>
              <ns1:ahLst/>
              <ns1:cxnLst/>
              <ns1:rect l="l" t="t" r="r" b="b"/>
              <ns1:pathLst>
                <ns1:path w="10485120" h="3169920">
                  <ns1:moveTo>
                    <ns1:pt x="0" y="0"/>
                  </ns1:moveTo>
                  <ns1:lnTo>
                    <ns1:pt x="10485120" y="0"/>
                  </ns1:lnTo>
                  <ns1:lnTo>
                    <ns1:pt x="10485120" y="3169920"/>
                  </ns1:lnTo>
                  <ns1:lnTo>
                    <ns1:pt x="0" y="316992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14450" b="-14450"/>
              </ns1:stretch>
            </ns1:blipFill>
          </ns0:spPr>
        </ns0:sp>
        <ns0:sp>
          <ns0:nvSpPr>
            <ns0:cNvPr id="30" name="TextBox 30"/>
            <ns0:cNvSpPr txBox="1"/>
            <ns0:nvPr/>
          </ns0:nvSpPr>
          <ns0:spPr>
            <ns1:xfrm>
              <ns1:off x="0" y="-47625"/>
              <ns1:ext cx="10485120" cy="3217545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520"/>
                </ns1:lnSpc>
              </ns1:pPr>
              <ns1:r>
                <ns1:rPr lang="en-US" sz="2100">
                  <ns1:solidFill>
                    <ns1:srgbClr val="44403C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Bagaimana K-Means diterapkan untuk mengelompokkan siswa sebagai dasar strategi pembelajaran?</ns1:t>
              </ns1:r>
            </ns1:p>
          </ns0:txBody>
        </ns0:sp>
      </ns0:grpSp>
      <ns0:grpSp>
        <ns0:nvGrpSpPr>
          <ns0:cNvPr id="31" name="Group 31"/>
          <ns0:cNvGrpSpPr/>
          <ns0:nvPr/>
        </ns0:nvGrpSpPr>
        <ns0:grpSpPr>
          <ns1:xfrm>
            <ns1:off x="535943" y="5839463"/>
            <ns1:ext cx="8529323" cy="4048763"/>
            <ns1:chOff x="0" y="0"/>
            <ns1:chExt cx="11372431" cy="5398351"/>
          </ns1:xfrm>
        </ns0:grpSpPr>
        <ns0:sp>
          <ns0:nvSpPr>
            <ns0:cNvPr id="32" name="Freeform 32"/>
            <ns0:cNvSpPr/>
            <ns0:nvPr/>
          </ns0:nvSpPr>
          <ns0:spPr>
            <ns1:xfrm>
              <ns1:off x="0" y="0"/>
              <ns1:ext cx="11372469" cy="5398389"/>
            </ns1:xfrm>
            <ns1:custGeom>
              <ns1:avLst/>
              <ns1:gdLst/>
              <ns1:ahLst/>
              <ns1:cxnLst/>
              <ns1:rect l="l" t="t" r="r" b="b"/>
              <ns1:pathLst>
                <ns1:path w="11372469" h="5398389">
                  <ns1:moveTo>
                    <ns1:pt x="0" y="245364"/>
                  </ns1:moveTo>
                  <ns1:cubicBezTo>
                    <ns1:pt x="0" y="109855"/>
                    <ns1:pt x="109855" y="0"/>
                    <ns1:pt x="245364" y="0"/>
                  </ns1:cubicBezTo>
                  <ns1:lnTo>
                    <ns1:pt x="11127105" y="0"/>
                  </ns1:lnTo>
                  <ns1:cubicBezTo>
                    <ns1:pt x="11262614" y="0"/>
                    <ns1:pt x="11372469" y="109855"/>
                    <ns1:pt x="11372469" y="245364"/>
                  </ns1:cubicBezTo>
                  <ns1:lnTo>
                    <ns1:pt x="11372469" y="5153025"/>
                  </ns1:lnTo>
                  <ns1:cubicBezTo>
                    <ns1:pt x="11372469" y="5288534"/>
                    <ns1:pt x="11262614" y="5398389"/>
                    <ns1:pt x="11127105" y="5398389"/>
                  </ns1:cubicBezTo>
                  <ns1:lnTo>
                    <ns1:pt x="245364" y="5398389"/>
                  </ns1:lnTo>
                  <ns1:cubicBezTo>
                    <ns1:pt x="109855" y="5398389"/>
                    <ns1:pt x="0" y="5288534"/>
                    <ns1:pt x="0" y="5153025"/>
                  </ns1:cubicBezTo>
                  <ns1:close/>
                </ns1:path>
              </ns1:pathLst>
            </ns1:custGeom>
            <ns1:solidFill>
              <ns1:srgbClr val="FEF3C7"/>
            </ns1:solidFill>
            <ns1:ln w="25400" cap="sq">
              <ns1:solidFill>
                <ns1:srgbClr val="FDE68A"/>
              </ns1:solidFill>
              <ns1:prstDash val="solid"/>
              <ns1:miter/>
            </ns1:ln>
          </ns0:spPr>
        </ns0:sp>
      </ns0:grpSp>
      <ns0:grpSp>
        <ns0:nvGrpSpPr>
          <ns0:cNvPr id="33" name="Group 33"/>
          <ns0:cNvGrpSpPr/>
          <ns0:nvPr/>
        </ns0:nvGrpSpPr>
        <ns0:grpSpPr>
          <ns1:xfrm>
            <ns1:off x="535943" y="5839463"/>
            <ns1:ext cx="8529323" cy="866651"/>
            <ns1:chOff x="0" y="0"/>
            <ns1:chExt cx="11372431" cy="1155535"/>
          </ns1:xfrm>
        </ns0:grpSpPr>
        <ns0:sp>
          <ns0:nvSpPr>
            <ns0:cNvPr id="34" name="Freeform 34"/>
            <ns0:cNvSpPr/>
            <ns0:nvPr/>
          </ns0:nvSpPr>
          <ns0:spPr>
            <ns1:xfrm>
              <ns1:off x="0" y="0"/>
              <ns1:ext cx="11372469" cy="1155573"/>
            </ns1:xfrm>
            <ns1:custGeom>
              <ns1:avLst/>
              <ns1:gdLst/>
              <ns1:ahLst/>
              <ns1:cxnLst/>
              <ns1:rect l="l" t="t" r="r" b="b"/>
              <ns1:pathLst>
                <ns1:path w="11372469" h="1155573">
                  <ns1:moveTo>
                    <ns1:pt x="0" y="251206"/>
                  </ns1:moveTo>
                  <ns1:cubicBezTo>
                    <ns1:pt x="0" y="112522"/>
                    <ns1:pt x="112522" y="0"/>
                    <ns1:pt x="251206" y="0"/>
                  </ns1:cubicBezTo>
                  <ns1:lnTo>
                    <ns1:pt x="11121263" y="0"/>
                  </ns1:lnTo>
                  <ns1:cubicBezTo>
                    <ns1:pt x="11259947" y="0"/>
                    <ns1:pt x="11372469" y="112522"/>
                    <ns1:pt x="11372469" y="251206"/>
                  </ns1:cubicBezTo>
                  <ns1:lnTo>
                    <ns1:pt x="11372469" y="904367"/>
                  </ns1:lnTo>
                  <ns1:cubicBezTo>
                    <ns1:pt x="11372469" y="1043051"/>
                    <ns1:pt x="11259947" y="1155573"/>
                    <ns1:pt x="11121263" y="1155573"/>
                  </ns1:cubicBezTo>
                  <ns1:lnTo>
                    <ns1:pt x="251206" y="1155573"/>
                  </ns1:lnTo>
                  <ns1:cubicBezTo>
                    <ns1:pt x="112522" y="1155573"/>
                    <ns1:pt x="0" y="1043051"/>
                    <ns1:pt x="0" y="904367"/>
                  </ns1:cubicBezTo>
                  <ns1:close/>
                </ns1:path>
              </ns1:pathLst>
            </ns1:custGeom>
            <ns1:solidFill>
              <ns1:srgbClr val="F59E0B"/>
            </ns1:solidFill>
            <ns1:ln w="25400" cap="sq">
              <ns1:solidFill>
                <ns1:srgbClr val="F59E0B"/>
              </ns1:solidFill>
              <ns1:prstDash val="solid"/>
              <ns1:miter/>
            </ns1:ln>
          </ns0:spPr>
        </ns0:sp>
      </ns0:grpSp>
      <ns0:grpSp>
        <ns0:nvGrpSpPr>
          <ns0:cNvPr id="35" name="Group 35"/>
          <ns0:cNvGrpSpPr/>
          <ns0:nvPr/>
        </ns0:nvGrpSpPr>
        <ns0:grpSpPr>
          <ns1:xfrm>
            <ns1:off x="535943" y="6351527"/>
            <ns1:ext cx="8529323" cy="354587"/>
            <ns1:chOff x="0" y="0"/>
            <ns1:chExt cx="11372431" cy="472783"/>
          </ns1:xfrm>
        </ns0:grpSpPr>
        <ns0:sp>
          <ns0:nvSpPr>
            <ns0:cNvPr id="36" name="Freeform 36"/>
            <ns0:cNvSpPr/>
            <ns0:nvPr/>
          </ns0:nvSpPr>
          <ns0:spPr>
            <ns1:xfrm>
              <ns1:off x="0" y="0"/>
              <ns1:ext cx="11372469" cy="472821"/>
            </ns1:xfrm>
            <ns1:custGeom>
              <ns1:avLst/>
              <ns1:gdLst/>
              <ns1:ahLst/>
              <ns1:cxnLst/>
              <ns1:rect l="l" t="t" r="r" b="b"/>
              <ns1:pathLst>
                <ns1:path w="11372469" h="472821">
                  <ns1:moveTo>
                    <ns1:pt x="0" y="0"/>
                  </ns1:moveTo>
                  <ns1:lnTo>
                    <ns1:pt x="11372469" y="0"/>
                  </ns1:lnTo>
                  <ns1:lnTo>
                    <ns1:pt x="11372469" y="472821"/>
                  </ns1:lnTo>
                  <ns1:lnTo>
                    <ns1:pt x="0" y="472821"/>
                  </ns1:lnTo>
                  <ns1:close/>
                </ns1:path>
              </ns1:pathLst>
            </ns1:custGeom>
            <ns1:solidFill>
              <ns1:srgbClr val="F59E0B"/>
            </ns1:solidFill>
            <ns1:ln w="25400" cap="sq">
              <ns1:solidFill>
                <ns1:srgbClr val="F59E0B"/>
              </ns1:solidFill>
              <ns1:prstDash val="solid"/>
              <ns1:miter/>
            </ns1:ln>
          </ns0:spPr>
        </ns0:sp>
      </ns0:grpSp>
      <ns0:grpSp>
        <ns0:nvGrpSpPr>
          <ns0:cNvPr id="37" name="Group 37"/>
          <ns0:cNvGrpSpPr/>
          <ns0:nvPr/>
        </ns0:nvGrpSpPr>
        <ns0:grpSpPr>
          <ns1:xfrm>
            <ns1:off x="822960" y="5961888"/>
            <ns1:ext cx="7955280" cy="658368"/>
            <ns1:chOff x="0" y="0"/>
            <ns1:chExt cx="10607040" cy="877824"/>
          </ns1:xfrm>
        </ns0:grpSpPr>
        <ns0:sp>
          <ns0:nvSpPr>
            <ns0:cNvPr id="38" name="Freeform 38"/>
            <ns0:cNvSpPr/>
            <ns0:nvPr/>
          </ns0:nvSpPr>
          <ns0:spPr>
            <ns1:xfrm>
              <ns1:off x="0" y="0"/>
              <ns1:ext cx="10607040" cy="877824"/>
            </ns1:xfrm>
            <ns1:custGeom>
              <ns1:avLst/>
              <ns1:gdLst/>
              <ns1:ahLst/>
              <ns1:cxnLst/>
              <ns1:rect l="l" t="t" r="r" b="b"/>
              <ns1:pathLst>
                <ns1:path w="10607040" h="877824">
                  <ns1:moveTo>
                    <ns1:pt x="0" y="0"/>
                  </ns1:moveTo>
                  <ns1:lnTo>
                    <ns1:pt x="10607040" y="0"/>
                  </ns1:lnTo>
                  <ns1:lnTo>
                    <ns1:pt x="10607040" y="877824"/>
                  </ns1:lnTo>
                  <ns1:lnTo>
                    <ns1:pt x="0" y="877824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185444" b="-185444"/>
              </ns1:stretch>
            </ns1:blipFill>
          </ns0:spPr>
        </ns0:sp>
        <ns0:sp>
          <ns0:nvSpPr>
            <ns0:cNvPr id="39" name="TextBox 39"/>
            <ns0:cNvSpPr txBox="1"/>
            <ns0:nvPr/>
          </ns0:nvSpPr>
          <ns0:spPr>
            <ns1:xfrm>
              <ns1:off x="0" y="-38100"/>
              <ns1:ext cx="10607040" cy="915924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879"/>
                </ns1:lnSpc>
              </ns1:pPr>
              <ns1:r>
                <ns1:rPr lang="en-US" sz="2400" b="1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📋  Batasan Masalah</ns1:t>
              </ns1:r>
            </ns1:p>
          </ns0:txBody>
        </ns0:sp>
      </ns0:grpSp>
      <ns0:sp>
        <ns0:nvSpPr>
          <ns0:cNvPr id="40" name="TextBox 40"/>
          <ns0:cNvSpPr txBox="1"/>
          <ns0:nvPr/>
        </ns0:nvSpPr>
        <ns0:spPr>
          <ns1:xfrm>
            <ns1:off x="1005840" y="6883908"/>
            <ns1:ext cx="7680960" cy="2781300"/>
          </ns1:xfrm>
          <ns1:prstGeom prst="rect">
            <ns1:avLst/>
          </ns1:prstGeom>
        </ns0:spPr>
        <ns0:txBody>
          <ns1:bodyPr lIns="0" tIns="0" rIns="0" bIns="0" rtlCol="0" anchor="t">
            <ns1:spAutoFit/>
          </ns1:bodyPr>
          <ns1:lstStyle/>
          <ns1:p>
            <ns1:pPr algn="l">
              <ns1:lnSpc>
                <ns1:spcPts val="2400"/>
              </ns1:lnSpc>
            </ns1:pPr>
            <ns1:r>
              <ns1:rPr lang="en-US" sz="2000">
                <ns1:solidFill>
                  <ns1:srgbClr val="44403C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- Data nilai akademik kelas XI</ns1:t>
            </ns1:r>
          </ns1:p>
          <ns1:p>
            <ns1:pPr algn="l">
              <ns1:lnSpc>
                <ns1:spcPts val="2400"/>
              </ns1:lnSpc>
            </ns1:pPr>
            <ns1:r>
              <ns1:rPr lang="en-US" sz="2000">
                <ns1:solidFill>
                  <ns1:srgbClr val="44403C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- Fitur hanya nilai mata pelajaran</ns1:t>
            </ns1:r>
          </ns1:p>
          <ns1:p>
            <ns1:pPr algn="l">
              <ns1:lnSpc>
                <ns1:spcPts val="2400"/>
              </ns1:lnSpc>
            </ns1:pPr>
            <ns1:r>
              <ns1:rPr lang="en-US" sz="2000">
                <ns1:solidFill>
                  <ns1:srgbClr val="44403C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- Metode clustering: K-Means</ns1:t>
            </ns1:r>
          </ns1:p>
          <ns1:p>
            <ns1:pPr algn="l">
              <ns1:lnSpc>
                <ns1:spcPts val="2400"/>
              </ns1:lnSpc>
            </ns1:pPr>
            <ns1:r>
              <ns1:rPr lang="en-US" sz="2000">
                <ns1:solidFill>
                  <ns1:srgbClr val="44403C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- K otomatis: Elbow dan Silhouette</ns1:t>
            </ns1:r>
          </ns1:p>
          <ns1:p>
            <ns1:pPr algn="l">
              <ns1:lnSpc>
                <ns1:spcPts val="2400"/>
              </ns1:lnSpc>
            </ns1:pPr>
            <ns1:r>
              <ns1:rPr lang="en-US" sz="2000">
                <ns1:solidFill>
                  <ns1:srgbClr val="44403C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- Implementasi berbasis website</ns1:t>
            </ns1:r>
          </ns1:p>
        </ns0:txBody>
      </ns0:sp>
      <ns0:grpSp>
        <ns0:nvGrpSpPr>
          <ns0:cNvPr id="41" name="Group 41"/>
          <ns0:cNvGrpSpPr/>
          <ns0:nvPr/>
        </ns0:nvGrpSpPr>
        <ns0:grpSpPr>
          <ns1:xfrm>
            <ns1:off x="9405623" y="5839463"/>
            <ns1:ext cx="8529323" cy="4048763"/>
            <ns1:chOff x="0" y="0"/>
            <ns1:chExt cx="11372431" cy="5398351"/>
          </ns1:xfrm>
        </ns0:grpSpPr>
        <ns0:sp>
          <ns0:nvSpPr>
            <ns0:cNvPr id="42" name="Freeform 42"/>
            <ns0:cNvSpPr/>
            <ns0:nvPr/>
          </ns0:nvSpPr>
          <ns0:spPr>
            <ns1:xfrm>
              <ns1:off x="0" y="0"/>
              <ns1:ext cx="11372469" cy="5398389"/>
            </ns1:xfrm>
            <ns1:custGeom>
              <ns1:avLst/>
              <ns1:gdLst/>
              <ns1:ahLst/>
              <ns1:cxnLst/>
              <ns1:rect l="l" t="t" r="r" b="b"/>
              <ns1:pathLst>
                <ns1:path w="11372469" h="5398389">
                  <ns1:moveTo>
                    <ns1:pt x="0" y="245364"/>
                  </ns1:moveTo>
                  <ns1:cubicBezTo>
                    <ns1:pt x="0" y="109855"/>
                    <ns1:pt x="109855" y="0"/>
                    <ns1:pt x="245364" y="0"/>
                  </ns1:cubicBezTo>
                  <ns1:lnTo>
                    <ns1:pt x="11127105" y="0"/>
                  </ns1:lnTo>
                  <ns1:cubicBezTo>
                    <ns1:pt x="11262614" y="0"/>
                    <ns1:pt x="11372469" y="109855"/>
                    <ns1:pt x="11372469" y="245364"/>
                  </ns1:cubicBezTo>
                  <ns1:lnTo>
                    <ns1:pt x="11372469" y="5153025"/>
                  </ns1:lnTo>
                  <ns1:cubicBezTo>
                    <ns1:pt x="11372469" y="5288534"/>
                    <ns1:pt x="11262614" y="5398389"/>
                    <ns1:pt x="11127105" y="5398389"/>
                  </ns1:cubicBezTo>
                  <ns1:lnTo>
                    <ns1:pt x="245364" y="5398389"/>
                  </ns1:lnTo>
                  <ns1:cubicBezTo>
                    <ns1:pt x="109855" y="5398389"/>
                    <ns1:pt x="0" y="5288534"/>
                    <ns1:pt x="0" y="5153025"/>
                  </ns1:cubicBezTo>
                  <ns1:close/>
                </ns1:path>
              </ns1:pathLst>
            </ns1:custGeom>
            <ns1:solidFill>
              <ns1:srgbClr val="EFF6FF"/>
            </ns1:solidFill>
            <ns1:ln w="25400" cap="sq">
              <ns1:solidFill>
                <ns1:srgbClr val="BFDBFE"/>
              </ns1:solidFill>
              <ns1:prstDash val="solid"/>
              <ns1:miter/>
            </ns1:ln>
          </ns0:spPr>
        </ns0:sp>
      </ns0:grpSp>
      <ns0:grpSp>
        <ns0:nvGrpSpPr>
          <ns0:cNvPr id="43" name="Group 43"/>
          <ns0:cNvGrpSpPr/>
          <ns0:nvPr/>
        </ns0:nvGrpSpPr>
        <ns0:grpSpPr>
          <ns1:xfrm>
            <ns1:off x="9405623" y="5839463"/>
            <ns1:ext cx="8529323" cy="866651"/>
            <ns1:chOff x="0" y="0"/>
            <ns1:chExt cx="11372431" cy="1155535"/>
          </ns1:xfrm>
        </ns0:grpSpPr>
        <ns0:sp>
          <ns0:nvSpPr>
            <ns0:cNvPr id="44" name="Freeform 44"/>
            <ns0:cNvSpPr/>
            <ns0:nvPr/>
          </ns0:nvSpPr>
          <ns0:spPr>
            <ns1:xfrm>
              <ns1:off x="0" y="0"/>
              <ns1:ext cx="11372469" cy="1155573"/>
            </ns1:xfrm>
            <ns1:custGeom>
              <ns1:avLst/>
              <ns1:gdLst/>
              <ns1:ahLst/>
              <ns1:cxnLst/>
              <ns1:rect l="l" t="t" r="r" b="b"/>
              <ns1:pathLst>
                <ns1:path w="11372469" h="1155573">
                  <ns1:moveTo>
                    <ns1:pt x="0" y="251206"/>
                  </ns1:moveTo>
                  <ns1:cubicBezTo>
                    <ns1:pt x="0" y="112522"/>
                    <ns1:pt x="112522" y="0"/>
                    <ns1:pt x="251206" y="0"/>
                  </ns1:cubicBezTo>
                  <ns1:lnTo>
                    <ns1:pt x="11121263" y="0"/>
                  </ns1:lnTo>
                  <ns1:cubicBezTo>
                    <ns1:pt x="11259947" y="0"/>
                    <ns1:pt x="11372469" y="112522"/>
                    <ns1:pt x="11372469" y="251206"/>
                  </ns1:cubicBezTo>
                  <ns1:lnTo>
                    <ns1:pt x="11372469" y="904367"/>
                  </ns1:lnTo>
                  <ns1:cubicBezTo>
                    <ns1:pt x="11372469" y="1043051"/>
                    <ns1:pt x="11259947" y="1155573"/>
                    <ns1:pt x="11121263" y="1155573"/>
                  </ns1:cubicBezTo>
                  <ns1:lnTo>
                    <ns1:pt x="251206" y="1155573"/>
                  </ns1:lnTo>
                  <ns1:cubicBezTo>
                    <ns1:pt x="112522" y="1155573"/>
                    <ns1:pt x="0" y="1043051"/>
                    <ns1:pt x="0" y="904367"/>
                  </ns1:cubicBezTo>
                  <ns1:close/>
                </ns1:path>
              </ns1:pathLst>
            </ns1:custGeom>
            <ns1:solidFill>
              <ns1:srgbClr val="2563EB"/>
            </ns1:solidFill>
            <ns1:ln w="25400" cap="sq">
              <ns1:solidFill>
                <ns1:srgbClr val="2563EB"/>
              </ns1:solidFill>
              <ns1:prstDash val="solid"/>
              <ns1:miter/>
            </ns1:ln>
          </ns0:spPr>
        </ns0:sp>
      </ns0:grpSp>
      <ns0:grpSp>
        <ns0:nvGrpSpPr>
          <ns0:cNvPr id="45" name="Group 45"/>
          <ns0:cNvGrpSpPr/>
          <ns0:nvPr/>
        </ns0:nvGrpSpPr>
        <ns0:grpSpPr>
          <ns1:xfrm>
            <ns1:off x="9405623" y="6351527"/>
            <ns1:ext cx="8529323" cy="354587"/>
            <ns1:chOff x="0" y="0"/>
            <ns1:chExt cx="11372431" cy="472783"/>
          </ns1:xfrm>
        </ns0:grpSpPr>
        <ns0:sp>
          <ns0:nvSpPr>
            <ns0:cNvPr id="46" name="Freeform 46"/>
            <ns0:cNvSpPr/>
            <ns0:nvPr/>
          </ns0:nvSpPr>
          <ns0:spPr>
            <ns1:xfrm>
              <ns1:off x="0" y="0"/>
              <ns1:ext cx="11372469" cy="472821"/>
            </ns1:xfrm>
            <ns1:custGeom>
              <ns1:avLst/>
              <ns1:gdLst/>
              <ns1:ahLst/>
              <ns1:cxnLst/>
              <ns1:rect l="l" t="t" r="r" b="b"/>
              <ns1:pathLst>
                <ns1:path w="11372469" h="472821">
                  <ns1:moveTo>
                    <ns1:pt x="0" y="0"/>
                  </ns1:moveTo>
                  <ns1:lnTo>
                    <ns1:pt x="11372469" y="0"/>
                  </ns1:lnTo>
                  <ns1:lnTo>
                    <ns1:pt x="11372469" y="472821"/>
                  </ns1:lnTo>
                  <ns1:lnTo>
                    <ns1:pt x="0" y="472821"/>
                  </ns1:lnTo>
                  <ns1:close/>
                </ns1:path>
              </ns1:pathLst>
            </ns1:custGeom>
            <ns1:solidFill>
              <ns1:srgbClr val="2563EB"/>
            </ns1:solidFill>
            <ns1:ln w="25400" cap="sq">
              <ns1:solidFill>
                <ns1:srgbClr val="2563EB"/>
              </ns1:solidFill>
              <ns1:prstDash val="solid"/>
              <ns1:miter/>
            </ns1:ln>
          </ns0:spPr>
        </ns0:sp>
      </ns0:grpSp>
      <ns0:grpSp>
        <ns0:nvGrpSpPr>
          <ns0:cNvPr id="47" name="Group 47"/>
          <ns0:cNvGrpSpPr/>
          <ns0:nvPr/>
        </ns0:nvGrpSpPr>
        <ns0:grpSpPr>
          <ns1:xfrm>
            <ns1:off x="9692640" y="5961888"/>
            <ns1:ext cx="7955280" cy="658368"/>
            <ns1:chOff x="0" y="0"/>
            <ns1:chExt cx="10607040" cy="877824"/>
          </ns1:xfrm>
        </ns0:grpSpPr>
        <ns0:sp>
          <ns0:nvSpPr>
            <ns0:cNvPr id="48" name="Freeform 48"/>
            <ns0:cNvSpPr/>
            <ns0:nvPr/>
          </ns0:nvSpPr>
          <ns0:spPr>
            <ns1:xfrm>
              <ns1:off x="0" y="0"/>
              <ns1:ext cx="10607040" cy="877824"/>
            </ns1:xfrm>
            <ns1:custGeom>
              <ns1:avLst/>
              <ns1:gdLst/>
              <ns1:ahLst/>
              <ns1:cxnLst/>
              <ns1:rect l="l" t="t" r="r" b="b"/>
              <ns1:pathLst>
                <ns1:path w="10607040" h="877824">
                  <ns1:moveTo>
                    <ns1:pt x="0" y="0"/>
                  </ns1:moveTo>
                  <ns1:lnTo>
                    <ns1:pt x="10607040" y="0"/>
                  </ns1:lnTo>
                  <ns1:lnTo>
                    <ns1:pt x="10607040" y="877824"/>
                  </ns1:lnTo>
                  <ns1:lnTo>
                    <ns1:pt x="0" y="877824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185444" b="-185444"/>
              </ns1:stretch>
            </ns1:blipFill>
          </ns0:spPr>
        </ns0:sp>
        <ns0:sp>
          <ns0:nvSpPr>
            <ns0:cNvPr id="49" name="TextBox 49"/>
            <ns0:cNvSpPr txBox="1"/>
            <ns0:nvPr/>
          </ns0:nvSpPr>
          <ns0:spPr>
            <ns1:xfrm>
              <ns1:off x="0" y="-38100"/>
              <ns1:ext cx="10607040" cy="915924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879"/>
                </ns1:lnSpc>
              </ns1:pPr>
              <ns1:r>
                <ns1:rPr lang="en-US" sz="2400" b="1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🎯  Tujuan Penelitian</ns1:t>
              </ns1:r>
            </ns1:p>
          </ns0:txBody>
        </ns0:sp>
      </ns0:grpSp>
      <ns0:grpSp>
        <ns0:nvGrpSpPr>
          <ns0:cNvPr id="50" name="Group 50"/>
          <ns0:cNvGrpSpPr/>
          <ns0:nvPr/>
        </ns0:nvGrpSpPr>
        <ns0:grpSpPr>
          <ns1:xfrm>
            <ns1:off x="9784080" y="6876288"/>
            <ns1:ext cx="7863840" cy="2834640"/>
            <ns1:chOff x="0" y="0"/>
            <ns1:chExt cx="10485120" cy="3779520"/>
          </ns1:xfrm>
        </ns0:grpSpPr>
        <ns0:sp>
          <ns0:nvSpPr>
            <ns0:cNvPr id="51" name="Freeform 51"/>
            <ns0:cNvSpPr/>
            <ns0:nvPr/>
          </ns0:nvSpPr>
          <ns0:spPr>
            <ns1:xfrm>
              <ns1:off x="0" y="0"/>
              <ns1:ext cx="10485120" cy="3779520"/>
            </ns1:xfrm>
            <ns1:custGeom>
              <ns1:avLst/>
              <ns1:gdLst/>
              <ns1:ahLst/>
              <ns1:cxnLst/>
              <ns1:rect l="l" t="t" r="r" b="b"/>
              <ns1:pathLst>
                <ns1:path w="10485120" h="3779520">
                  <ns1:moveTo>
                    <ns1:pt x="0" y="0"/>
                  </ns1:moveTo>
                  <ns1:lnTo>
                    <ns1:pt x="10485120" y="0"/>
                  </ns1:lnTo>
                  <ns1:lnTo>
                    <ns1:pt x="10485120" y="3779520"/>
                  </ns1:lnTo>
                  <ns1:lnTo>
                    <ns1:pt x="0" y="377952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4055" b="-4055"/>
              </ns1:stretch>
            </ns1:blipFill>
          </ns0:spPr>
        </ns0:sp>
        <ns0:sp>
          <ns0:nvSpPr>
            <ns0:cNvPr id="52" name="TextBox 52"/>
            <ns0:cNvSpPr txBox="1"/>
            <ns0:nvPr/>
          </ns0:nvSpPr>
          <ns0:spPr>
            <ns1:xfrm>
              <ns1:off x="0" y="-47625"/>
              <ns1:ext cx="10485120" cy="3827145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520"/>
                </ns1:lnSpc>
              </ns1:pPr>
              <ns1:r>
                <ns1:rPr lang="en-US" sz="2100">
                  <ns1:solidFill>
                    <ns1:srgbClr val="44403C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Menerapkan K-Means untuk mengelompokkan siswa dan menghasilkan informasi pendukung strategi pembelajaran.</ns1:t>
              </ns1:r>
            </ns1:p>
          </ns0:txBody>
        </ns0:sp>
      </ns0:grpSp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>
  <ns0:cSld>
    <ns0:bg>
      <ns0:bgPr>
        <ns1:solidFill>
          <ns1:srgbClr val="FFFBF5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id="2" name="Group 2"/>
          <ns0:cNvGrpSpPr/>
          <ns0:nvPr/>
        </ns0:nvGrpSpPr>
        <ns0:grpSpPr>
          <ns1:xfrm>
            <ns1:off x="-12697" y="-12697"/>
            <ns1:ext cx="18313403" cy="1945643"/>
            <ns1:chOff x="0" y="0"/>
            <ns1:chExt cx="24417871" cy="2594191"/>
          </ns1:xfrm>
        </ns0:grpSpPr>
        <ns0:sp>
          <ns0:nvSpPr>
            <ns0:cNvPr id="3" name="Freeform 3"/>
            <ns0:cNvSpPr/>
            <ns0:nvPr/>
          </ns0:nvSpPr>
          <ns0:spPr>
            <ns1:xfrm>
              <ns1:off x="0" y="0"/>
              <ns1:ext cx="24417910" cy="2594229"/>
            </ns1:xfrm>
            <ns1:custGeom>
              <ns1:avLst/>
              <ns1:gdLst/>
              <ns1:ahLst/>
              <ns1:cxnLst/>
              <ns1:rect l="l" t="t" r="r" b="b"/>
              <ns1:pathLst>
                <ns1:path w="24417910" h="2594229">
                  <ns1:moveTo>
                    <ns1:pt x="0" y="0"/>
                  </ns1:moveTo>
                  <ns1:lnTo>
                    <ns1:pt x="24417910" y="0"/>
                  </ns1:lnTo>
                  <ns1:lnTo>
                    <ns1:pt x="24417910" y="2594229"/>
                  </ns1:lnTo>
                  <ns1:lnTo>
                    <ns1:pt x="0" y="2594229"/>
                  </ns1:lnTo>
                  <ns1:close/>
                </ns1:path>
              </ns1:pathLst>
            </ns1:custGeom>
            <ns1:solidFill>
              <ns1:srgbClr val="EA580C"/>
            </ns1:solidFill>
            <ns1:ln w="25400" cap="sq">
              <ns1:solidFill>
                <ns1:srgbClr val="EA580C"/>
              </ns1:solidFill>
              <ns1:prstDash val="solid"/>
              <ns1:miter/>
            </ns1:ln>
          </ns0:spPr>
        </ns0:sp>
      </ns0:grpSp>
      <ns0:grpSp>
        <ns0:nvGrpSpPr>
          <ns0:cNvPr id="4" name="Group 4"/>
          <ns0:cNvGrpSpPr/>
          <ns0:nvPr/>
        </ns0:nvGrpSpPr>
        <ns0:grpSpPr>
          <ns1:xfrm>
            <ns1:off x="-12697" y="-12697"/>
            <ns1:ext cx="354587" cy="1945643"/>
            <ns1:chOff x="0" y="0"/>
            <ns1:chExt cx="472783" cy="2594191"/>
          </ns1:xfrm>
        </ns0:grpSpPr>
        <ns0:sp>
          <ns0:nvSpPr>
            <ns0:cNvPr id="5" name="Freeform 5"/>
            <ns0:cNvSpPr/>
            <ns0:nvPr/>
          </ns0:nvSpPr>
          <ns0:spPr>
            <ns1:xfrm>
              <ns1:off x="0" y="0"/>
              <ns1:ext cx="472821" cy="2594229"/>
            </ns1:xfrm>
            <ns1:custGeom>
              <ns1:avLst/>
              <ns1:gdLst/>
              <ns1:ahLst/>
              <ns1:cxnLst/>
              <ns1:rect l="l" t="t" r="r" b="b"/>
              <ns1:pathLst>
                <ns1:path w="472821" h="2594229">
                  <ns1:moveTo>
                    <ns1:pt x="0" y="0"/>
                  </ns1:moveTo>
                  <ns1:lnTo>
                    <ns1:pt x="472821" y="0"/>
                  </ns1:lnTo>
                  <ns1:lnTo>
                    <ns1:pt x="472821" y="2594229"/>
                  </ns1:lnTo>
                  <ns1:lnTo>
                    <ns1:pt x="0" y="2594229"/>
                  </ns1:lnTo>
                  <ns1:close/>
                </ns1:path>
              </ns1:pathLst>
            </ns1:custGeom>
            <ns1:solidFill>
              <ns1:srgbClr val="FBBF24"/>
            </ns1:solidFill>
            <ns1:ln w="25400" cap="sq">
              <ns1:solidFill>
                <ns1:srgbClr val="FBBF24"/>
              </ns1:solidFill>
              <ns1:prstDash val="solid"/>
              <ns1:miter/>
            </ns1:ln>
          </ns0:spPr>
        </ns0:sp>
      </ns0:grpSp>
      <ns0:grpSp>
        <ns0:nvGrpSpPr>
          <ns0:cNvPr id="6" name="Group 6"/>
          <ns0:cNvGrpSpPr/>
          <ns0:nvPr/>
        </ns0:nvGrpSpPr>
        <ns0:grpSpPr>
          <ns1:xfrm>
            <ns1:off x="694944" y="0"/>
            <ns1:ext cx="17007840" cy="1920240"/>
            <ns1:chOff x="0" y="0"/>
            <ns1:chExt cx="22677120" cy="2560320"/>
          </ns1:xfrm>
        </ns0:grpSpPr>
        <ns0:sp>
          <ns0:nvSpPr>
            <ns0:cNvPr id="7" name="Freeform 7"/>
            <ns0:cNvSpPr/>
            <ns0:nvPr/>
          </ns0:nvSpPr>
          <ns0:spPr>
            <ns1:xfrm>
              <ns1:off x="0" y="0"/>
              <ns1:ext cx="22677120" cy="2560320"/>
            </ns1:xfrm>
            <ns1:custGeom>
              <ns1:avLst/>
              <ns1:gdLst/>
              <ns1:ahLst/>
              <ns1:cxnLst/>
              <ns1:rect l="l" t="t" r="r" b="b"/>
              <ns1:pathLst>
                <ns1:path w="22677120" h="2560320">
                  <ns1:moveTo>
                    <ns1:pt x="0" y="0"/>
                  </ns1:moveTo>
                  <ns1:lnTo>
                    <ns1:pt x="22677120" y="0"/>
                  </ns1:lnTo>
                  <ns1:lnTo>
                    <ns1:pt x="22677120" y="2560320"/>
                  </ns1:lnTo>
                  <ns1:lnTo>
                    <ns1:pt x="0" y="256032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122581" b="-122581"/>
              </ns1:stretch>
            </ns1:blipFill>
          </ns0:spPr>
        </ns0:sp>
        <ns0:sp>
          <ns0:nvSpPr>
            <ns0:cNvPr id="8" name="TextBox 8"/>
            <ns0:cNvSpPr txBox="1"/>
            <ns0:nvPr/>
          </ns0:nvSpPr>
          <ns0:spPr>
            <ns1:xfrm>
              <ns1:off x="0" y="-76200"/>
              <ns1:ext cx="22677120" cy="2636520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5280"/>
                </ns1:lnSpc>
              </ns1:pPr>
              <ns1:r>
                <ns1:rPr lang="en-US" sz="4400" b="1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Metode Penelitian &amp; Data Penelitian</ns1:t>
              </ns1:r>
            </ns1:p>
          </ns0:txBody>
        </ns0:sp>
      </ns0:grpSp>
      <ns0:grpSp>
        <ns0:nvGrpSpPr>
          <ns0:cNvPr id="9" name="Group 9"/>
          <ns0:cNvGrpSpPr/>
          <ns0:nvPr/>
        </ns0:nvGrpSpPr>
        <ns0:grpSpPr>
          <ns1:xfrm>
            <ns1:off x="535943" y="2181863"/>
            <ns1:ext cx="8529323" cy="7706363"/>
            <ns1:chOff x="0" y="0"/>
            <ns1:chExt cx="11372431" cy="10275151"/>
          </ns1:xfrm>
        </ns0:grpSpPr>
        <ns0:sp>
          <ns0:nvSpPr>
            <ns0:cNvPr id="10" name="Freeform 10"/>
            <ns0:cNvSpPr/>
            <ns0:nvPr/>
          </ns0:nvSpPr>
          <ns0:spPr>
            <ns1:xfrm>
              <ns1:off x="0" y="0"/>
              <ns1:ext cx="11372342" cy="10275062"/>
            </ns1:xfrm>
            <ns1:custGeom>
              <ns1:avLst/>
              <ns1:gdLst/>
              <ns1:ahLst/>
              <ns1:cxnLst/>
              <ns1:rect l="l" t="t" r="r" b="b"/>
              <ns1:pathLst>
                <ns1:path w="11372342" h="10275062">
                  <ns1:moveTo>
                    <ns1:pt x="0" y="244602"/>
                  </ns1:moveTo>
                  <ns1:cubicBezTo>
                    <ns1:pt x="0" y="109474"/>
                    <ns1:pt x="109474" y="0"/>
                    <ns1:pt x="244602" y="0"/>
                  </ns1:cubicBezTo>
                  <ns1:lnTo>
                    <ns1:pt x="11127740" y="0"/>
                  </ns1:lnTo>
                  <ns1:cubicBezTo>
                    <ns1:pt x="11262868" y="0"/>
                    <ns1:pt x="11372342" y="109474"/>
                    <ns1:pt x="11372342" y="244602"/>
                  </ns1:cubicBezTo>
                  <ns1:lnTo>
                    <ns1:pt x="11372342" y="10030460"/>
                  </ns1:lnTo>
                  <ns1:cubicBezTo>
                    <ns1:pt x="11372342" y="10165588"/>
                    <ns1:pt x="11262868" y="10275062"/>
                    <ns1:pt x="11127740" y="10275062"/>
                  </ns1:cubicBezTo>
                  <ns1:lnTo>
                    <ns1:pt x="244602" y="10275062"/>
                  </ns1:lnTo>
                  <ns1:cubicBezTo>
                    <ns1:pt x="109474" y="10275189"/>
                    <ns1:pt x="0" y="10165588"/>
                    <ns1:pt x="0" y="10030460"/>
                  </ns1:cubicBezTo>
                  <ns1:close/>
                </ns1:path>
              </ns1:pathLst>
            </ns1:custGeom>
            <ns1:solidFill>
              <ns1:srgbClr val="FFFFFF"/>
            </ns1:solidFill>
            <ns1:ln w="25400" cap="sq">
              <ns1:solidFill>
                <ns1:srgbClr val="FED7AA"/>
              </ns1:solidFill>
              <ns1:prstDash val="solid"/>
              <ns1:miter/>
            </ns1:ln>
          </ns0:spPr>
        </ns0:sp>
      </ns0:grpSp>
      <ns0:grpSp>
        <ns0:nvGrpSpPr>
          <ns0:cNvPr id="11" name="Group 11"/>
          <ns0:cNvGrpSpPr/>
          <ns0:nvPr/>
        </ns0:nvGrpSpPr>
        <ns0:grpSpPr>
          <ns1:xfrm>
            <ns1:off x="535943" y="2181863"/>
            <ns1:ext cx="8529323" cy="793499"/>
            <ns1:chOff x="0" y="0"/>
            <ns1:chExt cx="11372431" cy="1057999"/>
          </ns1:xfrm>
        </ns0:grpSpPr>
        <ns0:sp>
          <ns0:nvSpPr>
            <ns0:cNvPr id="12" name="Freeform 12"/>
            <ns0:cNvSpPr/>
            <ns0:nvPr/>
          </ns0:nvSpPr>
          <ns0:spPr>
            <ns1:xfrm>
              <ns1:off x="0" y="0"/>
              <ns1:ext cx="11372596" cy="1058037"/>
            </ns1:xfrm>
            <ns1:custGeom>
              <ns1:avLst/>
              <ns1:gdLst/>
              <ns1:ahLst/>
              <ns1:cxnLst/>
              <ns1:rect l="l" t="t" r="r" b="b"/>
              <ns1:pathLst>
                <ns1:path w="11372596" h="1058037">
                  <ns1:moveTo>
                    <ns1:pt x="0" y="251968"/>
                  </ns1:moveTo>
                  <ns1:cubicBezTo>
                    <ns1:pt x="0" y="112776"/>
                    <ns1:pt x="112776" y="0"/>
                    <ns1:pt x="251968" y="0"/>
                  </ns1:cubicBezTo>
                  <ns1:lnTo>
                    <ns1:pt x="11120628" y="0"/>
                  </ns1:lnTo>
                  <ns1:cubicBezTo>
                    <ns1:pt x="11259693" y="0"/>
                    <ns1:pt x="11372596" y="112776"/>
                    <ns1:pt x="11372596" y="251968"/>
                  </ns1:cubicBezTo>
                  <ns1:lnTo>
                    <ns1:pt x="11372596" y="806069"/>
                  </ns1:lnTo>
                  <ns1:cubicBezTo>
                    <ns1:pt x="11372596" y="945134"/>
                    <ns1:pt x="11259820" y="1058037"/>
                    <ns1:pt x="11120628" y="1058037"/>
                  </ns1:cubicBezTo>
                  <ns1:lnTo>
                    <ns1:pt x="251968" y="1058037"/>
                  </ns1:lnTo>
                  <ns1:cubicBezTo>
                    <ns1:pt x="112776" y="1058037"/>
                    <ns1:pt x="0" y="945261"/>
                    <ns1:pt x="0" y="806069"/>
                  </ns1:cubicBezTo>
                  <ns1:close/>
                </ns1:path>
              </ns1:pathLst>
            </ns1:custGeom>
            <ns1:solidFill>
              <ns1:srgbClr val="F97316"/>
            </ns1:solidFill>
            <ns1:ln w="25400" cap="sq">
              <ns1:solidFill>
                <ns1:srgbClr val="F97316"/>
              </ns1:solidFill>
              <ns1:prstDash val="solid"/>
              <ns1:miter/>
            </ns1:ln>
          </ns0:spPr>
        </ns0:sp>
      </ns0:grpSp>
      <ns0:grpSp>
        <ns0:nvGrpSpPr>
          <ns0:cNvPr id="13" name="Group 13"/>
          <ns0:cNvGrpSpPr/>
          <ns0:nvPr/>
        </ns0:nvGrpSpPr>
        <ns0:grpSpPr>
          <ns1:xfrm>
            <ns1:off x="535943" y="2620775"/>
            <ns1:ext cx="8529323" cy="354587"/>
            <ns1:chOff x="0" y="0"/>
            <ns1:chExt cx="11372431" cy="472783"/>
          </ns1:xfrm>
        </ns0:grpSpPr>
        <ns0:sp>
          <ns0:nvSpPr>
            <ns0:cNvPr id="14" name="Freeform 14"/>
            <ns0:cNvSpPr/>
            <ns0:nvPr/>
          </ns0:nvSpPr>
          <ns0:spPr>
            <ns1:xfrm>
              <ns1:off x="0" y="0"/>
              <ns1:ext cx="11372469" cy="472821"/>
            </ns1:xfrm>
            <ns1:custGeom>
              <ns1:avLst/>
              <ns1:gdLst/>
              <ns1:ahLst/>
              <ns1:cxnLst/>
              <ns1:rect l="l" t="t" r="r" b="b"/>
              <ns1:pathLst>
                <ns1:path w="11372469" h="472821">
                  <ns1:moveTo>
                    <ns1:pt x="0" y="0"/>
                  </ns1:moveTo>
                  <ns1:lnTo>
                    <ns1:pt x="11372469" y="0"/>
                  </ns1:lnTo>
                  <ns1:lnTo>
                    <ns1:pt x="11372469" y="472821"/>
                  </ns1:lnTo>
                  <ns1:lnTo>
                    <ns1:pt x="0" y="472821"/>
                  </ns1:lnTo>
                  <ns1:close/>
                </ns1:path>
              </ns1:pathLst>
            </ns1:custGeom>
            <ns1:solidFill>
              <ns1:srgbClr val="F97316"/>
            </ns1:solidFill>
            <ns1:ln w="25400" cap="sq">
              <ns1:solidFill>
                <ns1:srgbClr val="F97316"/>
              </ns1:solidFill>
              <ns1:prstDash val="solid"/>
              <ns1:miter/>
            </ns1:ln>
          </ns0:spPr>
        </ns0:sp>
      </ns0:grpSp>
      <ns0:grpSp>
        <ns0:nvGrpSpPr>
          <ns0:cNvPr id="15" name="Group 15"/>
          <ns0:cNvGrpSpPr/>
          <ns0:nvPr/>
        </ns0:nvGrpSpPr>
        <ns0:grpSpPr>
          <ns1:xfrm>
            <ns1:off x="822960" y="2231136"/>
            <ns1:ext cx="8046720" cy="694944"/>
            <ns1:chOff x="0" y="0"/>
            <ns1:chExt cx="10728960" cy="926592"/>
          </ns1:xfrm>
        </ns0:grpSpPr>
        <ns0:sp>
          <ns0:nvSpPr>
            <ns0:cNvPr id="16" name="Freeform 16"/>
            <ns0:cNvSpPr/>
            <ns0:nvPr/>
          </ns0:nvSpPr>
          <ns0:spPr>
            <ns1:xfrm>
              <ns1:off x="0" y="0"/>
              <ns1:ext cx="10728960" cy="926592"/>
            </ns1:xfrm>
            <ns1:custGeom>
              <ns1:avLst/>
              <ns1:gdLst/>
              <ns1:ahLst/>
              <ns1:cxnLst/>
              <ns1:rect l="l" t="t" r="r" b="b"/>
              <ns1:pathLst>
                <ns1:path w="10728960" h="926592">
                  <ns1:moveTo>
                    <ns1:pt x="0" y="0"/>
                  </ns1:moveTo>
                  <ns1:lnTo>
                    <ns1:pt x="10728960" y="0"/>
                  </ns1:lnTo>
                  <ns1:lnTo>
                    <ns1:pt x="10728960" y="926592"/>
                  </ns1:lnTo>
                  <ns1:lnTo>
                    <ns1:pt x="0" y="926592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175616" b="-175616"/>
              </ns1:stretch>
            </ns1:blipFill>
          </ns0:spPr>
        </ns0:sp>
        <ns0:sp>
          <ns0:nvSpPr>
            <ns0:cNvPr id="17" name="TextBox 17"/>
            <ns0:cNvSpPr txBox="1"/>
            <ns0:nvPr/>
          </ns0:nvSpPr>
          <ns0:spPr>
            <ns1:xfrm>
              <ns1:off x="0" y="-38100"/>
              <ns1:ext cx="10728960" cy="964692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879"/>
                </ns1:lnSpc>
              </ns1:pPr>
              <ns1:r>
                <ns1:rPr lang="en-US" sz="2400" b="1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Metode Penelitian</ns1:t>
              </ns1:r>
            </ns1:p>
          </ns0:txBody>
        </ns0:sp>
      </ns0:grpSp>
      <ns0:grpSp>
        <ns0:nvGrpSpPr>
          <ns0:cNvPr id="18" name="Group 18"/>
          <ns0:cNvGrpSpPr/>
          <ns0:nvPr/>
        </ns0:nvGrpSpPr>
        <ns0:grpSpPr>
          <ns1:xfrm>
            <ns1:off x="755399" y="3132839"/>
            <ns1:ext cx="8108699" cy="2037083"/>
            <ns1:chOff x="0" y="0"/>
            <ns1:chExt cx="10811599" cy="2716111"/>
          </ns1:xfrm>
        </ns0:grpSpPr>
        <ns0:sp>
          <ns0:nvSpPr>
            <ns0:cNvPr id="19" name="Freeform 19"/>
            <ns0:cNvSpPr/>
            <ns0:nvPr/>
          </ns0:nvSpPr>
          <ns0:spPr>
            <ns1:xfrm>
              <ns1:off x="0" y="0"/>
              <ns1:ext cx="10811510" cy="2716022"/>
            </ns1:xfrm>
            <ns1:custGeom>
              <ns1:avLst/>
              <ns1:gdLst/>
              <ns1:ahLst/>
              <ns1:cxnLst/>
              <ns1:rect l="l" t="t" r="r" b="b"/>
              <ns1:pathLst>
                <ns1:path w="10811510" h="2716022">
                  <ns1:moveTo>
                    <ns1:pt x="0" y="197485"/>
                  </ns1:moveTo>
                  <ns1:cubicBezTo>
                    <ns1:pt x="0" y="88392"/>
                    <ns1:pt x="88392" y="0"/>
                    <ns1:pt x="197485" y="0"/>
                  </ns1:cubicBezTo>
                  <ns1:lnTo>
                    <ns1:pt x="10614025" y="0"/>
                  </ns1:lnTo>
                  <ns1:cubicBezTo>
                    <ns1:pt x="10723118" y="0"/>
                    <ns1:pt x="10811510" y="88392"/>
                    <ns1:pt x="10811510" y="197485"/>
                  </ns1:cubicBezTo>
                  <ns1:lnTo>
                    <ns1:pt x="10811510" y="2518537"/>
                  </ns1:lnTo>
                  <ns1:cubicBezTo>
                    <ns1:pt x="10811510" y="2627630"/>
                    <ns1:pt x="10723118" y="2716022"/>
                    <ns1:pt x="10614025" y="2716022"/>
                  </ns1:cubicBezTo>
                  <ns1:lnTo>
                    <ns1:pt x="197485" y="2716022"/>
                  </ns1:lnTo>
                  <ns1:cubicBezTo>
                    <ns1:pt x="88392" y="2716149"/>
                    <ns1:pt x="0" y="2627630"/>
                    <ns1:pt x="0" y="2518537"/>
                  </ns1:cubicBezTo>
                  <ns1:close/>
                </ns1:path>
              </ns1:pathLst>
            </ns1:custGeom>
            <ns1:solidFill>
              <ns1:srgbClr val="FEF3C7"/>
            </ns1:solidFill>
            <ns1:ln w="25400" cap="sq">
              <ns1:solidFill>
                <ns1:srgbClr val="F59E0B"/>
              </ns1:solidFill>
              <ns1:prstDash val="solid"/>
              <ns1:miter/>
            </ns1:ln>
          </ns0:spPr>
        </ns0:sp>
      </ns0:grpSp>
      <ns0:grpSp>
        <ns0:nvGrpSpPr>
          <ns0:cNvPr id="20" name="Group 20"/>
          <ns0:cNvGrpSpPr/>
          <ns0:nvPr/>
        </ns0:nvGrpSpPr>
        <ns0:grpSpPr>
          <ns1:xfrm>
            <ns1:off x="1005840" y="3236976"/>
            <ns1:ext cx="7589520" cy="512064"/>
            <ns1:chOff x="0" y="0"/>
            <ns1:chExt cx="10119360" cy="682752"/>
          </ns1:xfrm>
        </ns0:grpSpPr>
        <ns0:sp>
          <ns0:nvSpPr>
            <ns0:cNvPr id="21" name="Freeform 21"/>
            <ns0:cNvSpPr/>
            <ns0:nvPr/>
          </ns0:nvSpPr>
          <ns0:spPr>
            <ns1:xfrm>
              <ns1:off x="0" y="0"/>
              <ns1:ext cx="10119360" cy="682752"/>
            </ns1:xfrm>
            <ns1:custGeom>
              <ns1:avLst/>
              <ns1:gdLst/>
              <ns1:ahLst/>
              <ns1:cxnLst/>
              <ns1:rect l="l" t="t" r="r" b="b"/>
              <ns1:pathLst>
                <ns1:path w="10119360" h="682752">
                  <ns1:moveTo>
                    <ns1:pt x="0" y="0"/>
                  </ns1:moveTo>
                  <ns1:lnTo>
                    <ns1:pt x="10119360" y="0"/>
                  </ns1:lnTo>
                  <ns1:lnTo>
                    <ns1:pt x="10119360" y="682752"/>
                  </ns1:lnTo>
                  <ns1:lnTo>
                    <ns1:pt x="0" y="682752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238796" b="-238796"/>
              </ns1:stretch>
            </ns1:blipFill>
          </ns0:spPr>
        </ns0:sp>
        <ns0:sp>
          <ns0:nvSpPr>
            <ns0:cNvPr id="22" name="TextBox 22"/>
            <ns0:cNvSpPr txBox="1"/>
            <ns0:nvPr/>
          </ns0:nvSpPr>
          <ns0:spPr>
            <ns1:xfrm>
              <ns1:off x="0" y="-47625"/>
              <ns1:ext cx="10119360" cy="730377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520"/>
                </ns1:lnSpc>
              </ns1:pPr>
              <ns1:r>
                <ns1:rPr lang="en-US" sz="2100" b="1">
                  <ns1:solidFill>
                    <ns1:srgbClr val="EA580C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Teknik Pengumpulan Data</ns1:t>
              </ns1:r>
            </ns1:p>
          </ns0:txBody>
        </ns0:sp>
      </ns0:grpSp>
      <ns0:sp>
        <ns0:nvSpPr>
          <ns0:cNvPr id="23" name="TextBox 23"/>
          <ns0:cNvSpPr txBox="1"/>
          <ns0:nvPr/>
        </ns0:nvSpPr>
        <ns0:spPr>
          <ns1:xfrm>
            <ns1:off x="1097280" y="3738372"/>
            <ns1:ext cx="7406640" cy="1263396"/>
          </ns1:xfrm>
          <ns1:prstGeom prst="rect">
            <ns1:avLst/>
          </ns1:prstGeom>
        </ns0:spPr>
        <ns0:txBody>
          <ns1:bodyPr lIns="0" tIns="0" rIns="0" bIns="0" rtlCol="0" anchor="t">
            <ns1:spAutoFit/>
          </ns1:bodyPr>
          <ns1:lstStyle/>
          <ns1:p>
            <ns1:pPr algn="l">
              <ns1:lnSpc>
                <ns1:spcPts val="2280"/>
              </ns1:lnSpc>
            </ns1:pPr>
            <ns1:r>
              <ns1:rPr lang="en-US" sz="1900">
                <ns1:solidFill>
                  <ns1:srgbClr val="44403C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- Studi pustaka: K-Means dan CRISP-DM
- Studi dokumen: siswa, mapel, dan nilai
- Wawancara: WAKA Kurikulum</ns1:t>
            </ns1:r>
          </ns1:p>
        </ns0:txBody>
      </ns0:sp>
      <ns0:grpSp>
        <ns0:nvGrpSpPr>
          <ns0:cNvPr id="24" name="Group 24"/>
          <ns0:cNvGrpSpPr/>
          <ns0:nvPr/>
        </ns0:nvGrpSpPr>
        <ns0:grpSpPr>
          <ns1:xfrm>
            <ns1:off x="755399" y="5363975"/>
            <ns1:ext cx="8108699" cy="2037083"/>
            <ns1:chOff x="0" y="0"/>
            <ns1:chExt cx="10811599" cy="2716111"/>
          </ns1:xfrm>
        </ns0:grpSpPr>
        <ns0:sp>
          <ns0:nvSpPr>
            <ns0:cNvPr id="25" name="Freeform 25"/>
            <ns0:cNvSpPr/>
            <ns0:nvPr/>
          </ns0:nvSpPr>
          <ns0:spPr>
            <ns1:xfrm>
              <ns1:off x="0" y="0"/>
              <ns1:ext cx="10811510" cy="2716022"/>
            </ns1:xfrm>
            <ns1:custGeom>
              <ns1:avLst/>
              <ns1:gdLst/>
              <ns1:ahLst/>
              <ns1:cxnLst/>
              <ns1:rect l="l" t="t" r="r" b="b"/>
              <ns1:pathLst>
                <ns1:path w="10811510" h="2716022">
                  <ns1:moveTo>
                    <ns1:pt x="0" y="197485"/>
                  </ns1:moveTo>
                  <ns1:cubicBezTo>
                    <ns1:pt x="0" y="88392"/>
                    <ns1:pt x="88392" y="0"/>
                    <ns1:pt x="197485" y="0"/>
                  </ns1:cubicBezTo>
                  <ns1:lnTo>
                    <ns1:pt x="10614025" y="0"/>
                  </ns1:lnTo>
                  <ns1:cubicBezTo>
                    <ns1:pt x="10723118" y="0"/>
                    <ns1:pt x="10811510" y="88392"/>
                    <ns1:pt x="10811510" y="197485"/>
                  </ns1:cubicBezTo>
                  <ns1:lnTo>
                    <ns1:pt x="10811510" y="2518537"/>
                  </ns1:lnTo>
                  <ns1:cubicBezTo>
                    <ns1:pt x="10811510" y="2627630"/>
                    <ns1:pt x="10723118" y="2716022"/>
                    <ns1:pt x="10614025" y="2716022"/>
                  </ns1:cubicBezTo>
                  <ns1:lnTo>
                    <ns1:pt x="197485" y="2716022"/>
                  </ns1:lnTo>
                  <ns1:cubicBezTo>
                    <ns1:pt x="88392" y="2716149"/>
                    <ns1:pt x="0" y="2627630"/>
                    <ns1:pt x="0" y="2518537"/>
                  </ns1:cubicBezTo>
                  <ns1:close/>
                </ns1:path>
              </ns1:pathLst>
            </ns1:custGeom>
            <ns1:solidFill>
              <ns1:srgbClr val="F0FDFA"/>
            </ns1:solidFill>
            <ns1:ln w="25400" cap="sq">
              <ns1:solidFill>
                <ns1:srgbClr val="0D9488"/>
              </ns1:solidFill>
              <ns1:prstDash val="solid"/>
              <ns1:miter/>
            </ns1:ln>
          </ns0:spPr>
        </ns0:sp>
      </ns0:grpSp>
      <ns0:grpSp>
        <ns0:nvGrpSpPr>
          <ns0:cNvPr id="26" name="Group 26"/>
          <ns0:cNvGrpSpPr/>
          <ns0:nvPr/>
        </ns0:nvGrpSpPr>
        <ns0:grpSpPr>
          <ns1:xfrm>
            <ns1:off x="1005840" y="5468112"/>
            <ns1:ext cx="7589520" cy="512064"/>
            <ns1:chOff x="0" y="0"/>
            <ns1:chExt cx="10119360" cy="682752"/>
          </ns1:xfrm>
        </ns0:grpSpPr>
        <ns0:sp>
          <ns0:nvSpPr>
            <ns0:cNvPr id="27" name="Freeform 27"/>
            <ns0:cNvSpPr/>
            <ns0:nvPr/>
          </ns0:nvSpPr>
          <ns0:spPr>
            <ns1:xfrm>
              <ns1:off x="0" y="0"/>
              <ns1:ext cx="10119360" cy="682752"/>
            </ns1:xfrm>
            <ns1:custGeom>
              <ns1:avLst/>
              <ns1:gdLst/>
              <ns1:ahLst/>
              <ns1:cxnLst/>
              <ns1:rect l="l" t="t" r="r" b="b"/>
              <ns1:pathLst>
                <ns1:path w="10119360" h="682752">
                  <ns1:moveTo>
                    <ns1:pt x="0" y="0"/>
                  </ns1:moveTo>
                  <ns1:lnTo>
                    <ns1:pt x="10119360" y="0"/>
                  </ns1:lnTo>
                  <ns1:lnTo>
                    <ns1:pt x="10119360" y="682752"/>
                  </ns1:lnTo>
                  <ns1:lnTo>
                    <ns1:pt x="0" y="682752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238796" b="-238796"/>
              </ns1:stretch>
            </ns1:blipFill>
          </ns0:spPr>
        </ns0:sp>
        <ns0:sp>
          <ns0:nvSpPr>
            <ns0:cNvPr id="28" name="TextBox 28"/>
            <ns0:cNvSpPr txBox="1"/>
            <ns0:nvPr/>
          </ns0:nvSpPr>
          <ns0:spPr>
            <ns1:xfrm>
              <ns1:off x="0" y="-47625"/>
              <ns1:ext cx="10119360" cy="730377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520"/>
                </ns1:lnSpc>
              </ns1:pPr>
              <ns1:r>
                <ns1:rPr lang="en-US" sz="2100" b="1">
                  <ns1:solidFill>
                    <ns1:srgbClr val="0D9488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Metode Analisis</ns1:t>
              </ns1:r>
            </ns1:p>
          </ns0:txBody>
        </ns0:sp>
      </ns0:grpSp>
      <ns0:sp>
        <ns0:nvSpPr>
          <ns0:cNvPr id="29" name="TextBox 29"/>
          <ns0:cNvSpPr txBox="1"/>
          <ns0:nvPr/>
        </ns0:nvSpPr>
        <ns0:spPr>
          <ns1:xfrm>
            <ns1:off x="1097280" y="5969508"/>
            <ns1:ext cx="7406640" cy="1263396"/>
          </ns1:xfrm>
          <ns1:prstGeom prst="rect">
            <ns1:avLst/>
          </ns1:prstGeom>
        </ns0:spPr>
        <ns0:txBody>
          <ns1:bodyPr lIns="0" tIns="0" rIns="0" bIns="0" rtlCol="0" anchor="t">
            <ns1:spAutoFit/>
          </ns1:bodyPr>
          <ns1:lstStyle/>
          <ns1:p>
            <ns1:pPr algn="l">
              <ns1:lnSpc>
                <ns1:spcPts val="2280"/>
              </ns1:lnSpc>
            </ns1:pPr>
            <ns1:r>
              <ns1:rPr lang="en-US" sz="1900">
                <ns1:solidFill>
                  <ns1:srgbClr val="44403C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CRISP-DM: enam tahap dari Business Understanding hingga Deployment.</ns1:t>
            </ns1:r>
          </ns1:p>
        </ns0:txBody>
      </ns0:sp>
      <ns0:grpSp>
        <ns0:nvGrpSpPr>
          <ns0:cNvPr id="30" name="Group 30"/>
          <ns0:cNvGrpSpPr/>
          <ns0:nvPr/>
        </ns0:nvGrpSpPr>
        <ns0:grpSpPr>
          <ns1:xfrm>
            <ns1:off x="768096" y="7571232"/>
            <ns1:ext cx="8083296" cy="512064"/>
            <ns1:chOff x="0" y="0"/>
            <ns1:chExt cx="10777728" cy="682752"/>
          </ns1:xfrm>
        </ns0:grpSpPr>
        <ns0:sp>
          <ns0:nvSpPr>
            <ns0:cNvPr id="31" name="Freeform 31"/>
            <ns0:cNvSpPr/>
            <ns0:nvPr/>
          </ns0:nvSpPr>
          <ns0:spPr>
            <ns1:xfrm>
              <ns1:off x="0" y="0"/>
              <ns1:ext cx="10777728" cy="682752"/>
            </ns1:xfrm>
            <ns1:custGeom>
              <ns1:avLst/>
              <ns1:gdLst/>
              <ns1:ahLst/>
              <ns1:cxnLst/>
              <ns1:rect l="l" t="t" r="r" b="b"/>
              <ns1:pathLst>
                <ns1:path w="10777728" h="682752">
                  <ns1:moveTo>
                    <ns1:pt x="0" y="0"/>
                  </ns1:moveTo>
                  <ns1:lnTo>
                    <ns1:pt x="10777728" y="0"/>
                  </ns1:lnTo>
                  <ns1:lnTo>
                    <ns1:pt x="10777728" y="682752"/>
                  </ns1:lnTo>
                  <ns1:lnTo>
                    <ns1:pt x="0" y="682752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257585" b="-257585"/>
              </ns1:stretch>
            </ns1:blipFill>
          </ns0:spPr>
        </ns0:sp>
        <ns0:sp>
          <ns0:nvSpPr>
            <ns0:cNvPr id="32" name="TextBox 32"/>
            <ns0:cNvSpPr txBox="1"/>
            <ns0:nvPr/>
          </ns0:nvSpPr>
          <ns0:spPr>
            <ns1:xfrm>
              <ns1:off x="0" y="-38100"/>
              <ns1:ext cx="10777728" cy="720852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ctr">
                <ns1:lnSpc>
                  <ns1:spcPts val="2400"/>
                </ns1:lnSpc>
              </ns1:pPr>
              <ns1:r>
                <ns1:rPr lang="en-US" sz="2000" b="1">
                  <ns1:solidFill>
                    <ns1:srgbClr val="EA580C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Alur CRISP-DM</ns1:t>
              </ns1:r>
            </ns1:p>
          </ns0:txBody>
        </ns0:sp>
      </ns0:grpSp>
      <ns0:grpSp>
        <ns0:nvGrpSpPr>
          <ns0:cNvPr id="33" name="Group 33"/>
          <ns0:cNvGrpSpPr/>
          <ns0:nvPr/>
        </ns0:nvGrpSpPr>
        <ns0:grpSpPr>
          <ns1:xfrm>
            <ns1:off x="755399" y="8143751"/>
            <ns1:ext cx="1268987" cy="1342139"/>
            <ns1:chOff x="0" y="0"/>
            <ns1:chExt cx="1691983" cy="1789519"/>
          </ns1:xfrm>
        </ns0:grpSpPr>
        <ns0:sp>
          <ns0:nvSpPr>
            <ns0:cNvPr id="34" name="Freeform 34"/>
            <ns0:cNvSpPr/>
            <ns0:nvPr/>
          </ns0:nvSpPr>
          <ns0:spPr>
            <ns1:xfrm>
              <ns1:off x="0" y="0"/>
              <ns1:ext cx="1692021" cy="1789557"/>
            </ns1:xfrm>
            <ns1:custGeom>
              <ns1:avLst/>
              <ns1:gdLst/>
              <ns1:ahLst/>
              <ns1:cxnLst/>
              <ns1:rect l="l" t="t" r="r" b="b"/>
              <ns1:pathLst>
                <ns1:path w="1692021" h="1789557">
                  <ns1:moveTo>
                    <ns1:pt x="0" y="149352"/>
                  </ns1:moveTo>
                  <ns1:cubicBezTo>
                    <ns1:pt x="0" y="66802"/>
                    <ns1:pt x="66802" y="0"/>
                    <ns1:pt x="149352" y="0"/>
                  </ns1:cubicBezTo>
                  <ns1:lnTo>
                    <ns1:pt x="1542669" y="0"/>
                  </ns1:lnTo>
                  <ns1:cubicBezTo>
                    <ns1:pt x="1625092" y="0"/>
                    <ns1:pt x="1692021" y="66802"/>
                    <ns1:pt x="1692021" y="149352"/>
                  </ns1:cubicBezTo>
                  <ns1:lnTo>
                    <ns1:pt x="1692021" y="1640205"/>
                  </ns1:lnTo>
                  <ns1:cubicBezTo>
                    <ns1:pt x="1692021" y="1722628"/>
                    <ns1:pt x="1625219" y="1789557"/>
                    <ns1:pt x="1542669" y="1789557"/>
                  </ns1:cubicBezTo>
                  <ns1:lnTo>
                    <ns1:pt x="149352" y="1789557"/>
                  </ns1:lnTo>
                  <ns1:cubicBezTo>
                    <ns1:pt x="66802" y="1789557"/>
                    <ns1:pt x="0" y="1722628"/>
                    <ns1:pt x="0" y="1640205"/>
                  </ns1:cubicBezTo>
                  <ns1:close/>
                </ns1:path>
              </ns1:pathLst>
            </ns1:custGeom>
            <ns1:solidFill>
              <ns1:srgbClr val="F97316"/>
            </ns1:solidFill>
            <ns1:ln w="25400" cap="sq">
              <ns1:solidFill>
                <ns1:srgbClr val="F97316"/>
              </ns1:solidFill>
              <ns1:prstDash val="solid"/>
              <ns1:miter/>
            </ns1:ln>
          </ns0:spPr>
        </ns0:sp>
      </ns0:grpSp>
      <ns0:grpSp>
        <ns0:nvGrpSpPr>
          <ns0:cNvPr id="35" name="Group 35"/>
          <ns0:cNvGrpSpPr/>
          <ns0:nvPr/>
        </ns0:nvGrpSpPr>
        <ns0:grpSpPr>
          <ns1:xfrm>
            <ns1:off x="768096" y="8156448"/>
            <ns1:ext cx="1243584" cy="1316736"/>
            <ns1:chOff x="0" y="0"/>
            <ns1:chExt cx="1658112" cy="1755648"/>
          </ns1:xfrm>
        </ns0:grpSpPr>
        <ns0:sp>
          <ns0:nvSpPr>
            <ns0:cNvPr id="36" name="Freeform 36"/>
            <ns0:cNvSpPr/>
            <ns0:nvPr/>
          </ns0:nvSpPr>
          <ns0:spPr>
            <ns1:xfrm>
              <ns1:off x="0" y="0"/>
              <ns1:ext cx="1658112" cy="1755648"/>
            </ns1:xfrm>
            <ns1:custGeom>
              <ns1:avLst/>
              <ns1:gdLst/>
              <ns1:ahLst/>
              <ns1:cxnLst/>
              <ns1:rect l="l" t="t" r="r" b="b"/>
              <ns1:pathLst>
                <ns1:path w="1658112" h="1755648">
                  <ns1:moveTo>
                    <ns1:pt x="0" y="0"/>
                  </ns1:moveTo>
                  <ns1:lnTo>
                    <ns1:pt x="1658112" y="0"/>
                  </ns1:lnTo>
                  <ns1:lnTo>
                    <ns1:pt x="1658112" y="1755648"/>
                  </ns1:lnTo>
                  <ns1:lnTo>
                    <ns1:pt x="0" y="1755648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85850" r="-85850"/>
              </ns1:stretch>
            </ns1:blipFill>
          </ns0:spPr>
        </ns0:sp>
        <ns0:sp>
          <ns0:nvSpPr>
            <ns0:cNvPr id="37" name="TextBox 37"/>
            <ns0:cNvSpPr txBox="1"/>
            <ns0:nvPr/>
          </ns0:nvSpPr>
          <ns0:spPr>
            <ns1:xfrm>
              <ns1:off x="0" y="-28575"/>
              <ns1:ext cx="1658112" cy="1784223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ctr">
                <ns1:lnSpc>
                  <ns1:spcPts val="1560"/>
                </ns1:lnSpc>
              </ns1:pPr>
              <ns1:r>
                <ns1:rPr lang="en-US" sz="1300" b="1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Business</ns1:t>
              </ns1:r>
            </ns1:p>
            <ns1:p>
              <ns1:pPr algn="ctr">
                <ns1:lnSpc>
                  <ns1:spcPts val="1560"/>
                </ns1:lnSpc>
              </ns1:pPr>
              <ns1:r>
                <ns1:rPr lang="en-US" sz="1300" b="1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Under.</ns1:t>
              </ns1:r>
            </ns1:p>
          </ns0:txBody>
        </ns0:sp>
      </ns0:grpSp>
      <ns0:grpSp>
        <ns0:nvGrpSpPr>
          <ns0:cNvPr id="38" name="Group 38"/>
          <ns0:cNvGrpSpPr/>
          <ns0:nvPr/>
        </ns0:nvGrpSpPr>
        <ns0:grpSpPr>
          <ns1:xfrm>
            <ns1:off x="2090423" y="8143751"/>
            <ns1:ext cx="1268987" cy="1342139"/>
            <ns1:chOff x="0" y="0"/>
            <ns1:chExt cx="1691983" cy="1789519"/>
          </ns1:xfrm>
        </ns0:grpSpPr>
        <ns0:sp>
          <ns0:nvSpPr>
            <ns0:cNvPr id="39" name="Freeform 39"/>
            <ns0:cNvSpPr/>
            <ns0:nvPr/>
          </ns0:nvSpPr>
          <ns0:spPr>
            <ns1:xfrm>
              <ns1:off x="0" y="0"/>
              <ns1:ext cx="1692021" cy="1789557"/>
            </ns1:xfrm>
            <ns1:custGeom>
              <ns1:avLst/>
              <ns1:gdLst/>
              <ns1:ahLst/>
              <ns1:cxnLst/>
              <ns1:rect l="l" t="t" r="r" b="b"/>
              <ns1:pathLst>
                <ns1:path w="1692021" h="1789557">
                  <ns1:moveTo>
                    <ns1:pt x="0" y="149352"/>
                  </ns1:moveTo>
                  <ns1:cubicBezTo>
                    <ns1:pt x="0" y="66802"/>
                    <ns1:pt x="66802" y="0"/>
                    <ns1:pt x="149352" y="0"/>
                  </ns1:cubicBezTo>
                  <ns1:lnTo>
                    <ns1:pt x="1542669" y="0"/>
                  </ns1:lnTo>
                  <ns1:cubicBezTo>
                    <ns1:pt x="1625092" y="0"/>
                    <ns1:pt x="1692021" y="66802"/>
                    <ns1:pt x="1692021" y="149352"/>
                  </ns1:cubicBezTo>
                  <ns1:lnTo>
                    <ns1:pt x="1692021" y="1640205"/>
                  </ns1:lnTo>
                  <ns1:cubicBezTo>
                    <ns1:pt x="1692021" y="1722628"/>
                    <ns1:pt x="1625219" y="1789557"/>
                    <ns1:pt x="1542669" y="1789557"/>
                  </ns1:cubicBezTo>
                  <ns1:lnTo>
                    <ns1:pt x="149352" y="1789557"/>
                  </ns1:lnTo>
                  <ns1:cubicBezTo>
                    <ns1:pt x="66802" y="1789557"/>
                    <ns1:pt x="0" y="1722628"/>
                    <ns1:pt x="0" y="1640205"/>
                  </ns1:cubicBezTo>
                  <ns1:close/>
                </ns1:path>
              </ns1:pathLst>
            </ns1:custGeom>
            <ns1:solidFill>
              <ns1:srgbClr val="F59E0B"/>
            </ns1:solidFill>
            <ns1:ln w="25400" cap="sq">
              <ns1:solidFill>
                <ns1:srgbClr val="F59E0B"/>
              </ns1:solidFill>
              <ns1:prstDash val="solid"/>
              <ns1:miter/>
            </ns1:ln>
          </ns0:spPr>
        </ns0:sp>
      </ns0:grpSp>
      <ns0:grpSp>
        <ns0:nvGrpSpPr>
          <ns0:cNvPr id="40" name="Group 40"/>
          <ns0:cNvGrpSpPr/>
          <ns0:nvPr/>
        </ns0:nvGrpSpPr>
        <ns0:grpSpPr>
          <ns1:xfrm>
            <ns1:off x="2103120" y="8156448"/>
            <ns1:ext cx="1243584" cy="1316736"/>
            <ns1:chOff x="0" y="0"/>
            <ns1:chExt cx="1658112" cy="1755648"/>
          </ns1:xfrm>
        </ns0:grpSpPr>
        <ns0:sp>
          <ns0:nvSpPr>
            <ns0:cNvPr id="41" name="Freeform 41"/>
            <ns0:cNvSpPr/>
            <ns0:nvPr/>
          </ns0:nvSpPr>
          <ns0:spPr>
            <ns1:xfrm>
              <ns1:off x="0" y="0"/>
              <ns1:ext cx="1658112" cy="1755648"/>
            </ns1:xfrm>
            <ns1:custGeom>
              <ns1:avLst/>
              <ns1:gdLst/>
              <ns1:ahLst/>
              <ns1:cxnLst/>
              <ns1:rect l="l" t="t" r="r" b="b"/>
              <ns1:pathLst>
                <ns1:path w="1658112" h="1755648">
                  <ns1:moveTo>
                    <ns1:pt x="0" y="0"/>
                  </ns1:moveTo>
                  <ns1:lnTo>
                    <ns1:pt x="1658112" y="0"/>
                  </ns1:lnTo>
                  <ns1:lnTo>
                    <ns1:pt x="1658112" y="1755648"/>
                  </ns1:lnTo>
                  <ns1:lnTo>
                    <ns1:pt x="0" y="1755648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85850" r="-85850"/>
              </ns1:stretch>
            </ns1:blipFill>
          </ns0:spPr>
        </ns0:sp>
        <ns0:sp>
          <ns0:nvSpPr>
            <ns0:cNvPr id="42" name="TextBox 42"/>
            <ns0:cNvSpPr txBox="1"/>
            <ns0:nvPr/>
          </ns0:nvSpPr>
          <ns0:spPr>
            <ns1:xfrm>
              <ns1:off x="0" y="-28575"/>
              <ns1:ext cx="1658112" cy="1784223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ctr">
                <ns1:lnSpc>
                  <ns1:spcPts val="1560"/>
                </ns1:lnSpc>
              </ns1:pPr>
              <ns1:r>
                <ns1:rPr lang="en-US" sz="1300" b="1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Data</ns1:t>
              </ns1:r>
            </ns1:p>
            <ns1:p>
              <ns1:pPr algn="ctr">
                <ns1:lnSpc>
                  <ns1:spcPts val="1560"/>
                </ns1:lnSpc>
              </ns1:pPr>
              <ns1:r>
                <ns1:rPr lang="en-US" sz="1300" b="1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Under.</ns1:t>
              </ns1:r>
            </ns1:p>
          </ns0:txBody>
        </ns0:sp>
      </ns0:grpSp>
      <ns0:grpSp>
        <ns0:nvGrpSpPr>
          <ns0:cNvPr id="43" name="Group 43"/>
          <ns0:cNvGrpSpPr/>
          <ns0:nvPr/>
        </ns0:nvGrpSpPr>
        <ns0:grpSpPr>
          <ns1:xfrm>
            <ns1:off x="3425447" y="8143751"/>
            <ns1:ext cx="1268987" cy="1342139"/>
            <ns1:chOff x="0" y="0"/>
            <ns1:chExt cx="1691983" cy="1789519"/>
          </ns1:xfrm>
        </ns0:grpSpPr>
        <ns0:sp>
          <ns0:nvSpPr>
            <ns0:cNvPr id="44" name="Freeform 44"/>
            <ns0:cNvSpPr/>
            <ns0:nvPr/>
          </ns0:nvSpPr>
          <ns0:spPr>
            <ns1:xfrm>
              <ns1:off x="0" y="0"/>
              <ns1:ext cx="1692021" cy="1789557"/>
            </ns1:xfrm>
            <ns1:custGeom>
              <ns1:avLst/>
              <ns1:gdLst/>
              <ns1:ahLst/>
              <ns1:cxnLst/>
              <ns1:rect l="l" t="t" r="r" b="b"/>
              <ns1:pathLst>
                <ns1:path w="1692021" h="1789557">
                  <ns1:moveTo>
                    <ns1:pt x="0" y="149352"/>
                  </ns1:moveTo>
                  <ns1:cubicBezTo>
                    <ns1:pt x="0" y="66802"/>
                    <ns1:pt x="66802" y="0"/>
                    <ns1:pt x="149352" y="0"/>
                  </ns1:cubicBezTo>
                  <ns1:lnTo>
                    <ns1:pt x="1542669" y="0"/>
                  </ns1:lnTo>
                  <ns1:cubicBezTo>
                    <ns1:pt x="1625092" y="0"/>
                    <ns1:pt x="1692021" y="66802"/>
                    <ns1:pt x="1692021" y="149352"/>
                  </ns1:cubicBezTo>
                  <ns1:lnTo>
                    <ns1:pt x="1692021" y="1640205"/>
                  </ns1:lnTo>
                  <ns1:cubicBezTo>
                    <ns1:pt x="1692021" y="1722628"/>
                    <ns1:pt x="1625219" y="1789557"/>
                    <ns1:pt x="1542669" y="1789557"/>
                  </ns1:cubicBezTo>
                  <ns1:lnTo>
                    <ns1:pt x="149352" y="1789557"/>
                  </ns1:lnTo>
                  <ns1:cubicBezTo>
                    <ns1:pt x="66802" y="1789557"/>
                    <ns1:pt x="0" y="1722628"/>
                    <ns1:pt x="0" y="1640205"/>
                  </ns1:cubicBezTo>
                  <ns1:close/>
                </ns1:path>
              </ns1:pathLst>
            </ns1:custGeom>
            <ns1:solidFill>
              <ns1:srgbClr val="F97316"/>
            </ns1:solidFill>
            <ns1:ln w="25400" cap="sq">
              <ns1:solidFill>
                <ns1:srgbClr val="F97316"/>
              </ns1:solidFill>
              <ns1:prstDash val="solid"/>
              <ns1:miter/>
            </ns1:ln>
          </ns0:spPr>
        </ns0:sp>
      </ns0:grpSp>
      <ns0:grpSp>
        <ns0:nvGrpSpPr>
          <ns0:cNvPr id="45" name="Group 45"/>
          <ns0:cNvGrpSpPr/>
          <ns0:nvPr/>
        </ns0:nvGrpSpPr>
        <ns0:grpSpPr>
          <ns1:xfrm>
            <ns1:off x="3438144" y="8156448"/>
            <ns1:ext cx="1243584" cy="1316736"/>
            <ns1:chOff x="0" y="0"/>
            <ns1:chExt cx="1658112" cy="1755648"/>
          </ns1:xfrm>
        </ns0:grpSpPr>
        <ns0:sp>
          <ns0:nvSpPr>
            <ns0:cNvPr id="46" name="Freeform 46"/>
            <ns0:cNvSpPr/>
            <ns0:nvPr/>
          </ns0:nvSpPr>
          <ns0:spPr>
            <ns1:xfrm>
              <ns1:off x="0" y="0"/>
              <ns1:ext cx="1658112" cy="1755648"/>
            </ns1:xfrm>
            <ns1:custGeom>
              <ns1:avLst/>
              <ns1:gdLst/>
              <ns1:ahLst/>
              <ns1:cxnLst/>
              <ns1:rect l="l" t="t" r="r" b="b"/>
              <ns1:pathLst>
                <ns1:path w="1658112" h="1755648">
                  <ns1:moveTo>
                    <ns1:pt x="0" y="0"/>
                  </ns1:moveTo>
                  <ns1:lnTo>
                    <ns1:pt x="1658112" y="0"/>
                  </ns1:lnTo>
                  <ns1:lnTo>
                    <ns1:pt x="1658112" y="1755648"/>
                  </ns1:lnTo>
                  <ns1:lnTo>
                    <ns1:pt x="0" y="1755648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85850" r="-85850"/>
              </ns1:stretch>
            </ns1:blipFill>
          </ns0:spPr>
        </ns0:sp>
        <ns0:sp>
          <ns0:nvSpPr>
            <ns0:cNvPr id="47" name="TextBox 47"/>
            <ns0:cNvSpPr txBox="1"/>
            <ns0:nvPr/>
          </ns0:nvSpPr>
          <ns0:spPr>
            <ns1:xfrm>
              <ns1:off x="0" y="-28575"/>
              <ns1:ext cx="1658112" cy="1784223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ctr">
                <ns1:lnSpc>
                  <ns1:spcPts val="1560"/>
                </ns1:lnSpc>
              </ns1:pPr>
              <ns1:r>
                <ns1:rPr lang="en-US" sz="1300" b="1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Data</ns1:t>
              </ns1:r>
            </ns1:p>
            <ns1:p>
              <ns1:pPr algn="ctr">
                <ns1:lnSpc>
                  <ns1:spcPts val="1560"/>
                </ns1:lnSpc>
              </ns1:pPr>
              <ns1:r>
                <ns1:rPr lang="en-US" sz="1300" b="1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Prep.</ns1:t>
              </ns1:r>
            </ns1:p>
          </ns0:txBody>
        </ns0:sp>
      </ns0:grpSp>
      <ns0:grpSp>
        <ns0:nvGrpSpPr>
          <ns0:cNvPr id="48" name="Group 48"/>
          <ns0:cNvGrpSpPr/>
          <ns0:nvPr/>
        </ns0:nvGrpSpPr>
        <ns0:grpSpPr>
          <ns1:xfrm>
            <ns1:off x="4760471" y="8143751"/>
            <ns1:ext cx="1268987" cy="1342139"/>
            <ns1:chOff x="0" y="0"/>
            <ns1:chExt cx="1691983" cy="1789519"/>
          </ns1:xfrm>
        </ns0:grpSpPr>
        <ns0:sp>
          <ns0:nvSpPr>
            <ns0:cNvPr id="49" name="Freeform 49"/>
            <ns0:cNvSpPr/>
            <ns0:nvPr/>
          </ns0:nvSpPr>
          <ns0:spPr>
            <ns1:xfrm>
              <ns1:off x="0" y="0"/>
              <ns1:ext cx="1692021" cy="1789557"/>
            </ns1:xfrm>
            <ns1:custGeom>
              <ns1:avLst/>
              <ns1:gdLst/>
              <ns1:ahLst/>
              <ns1:cxnLst/>
              <ns1:rect l="l" t="t" r="r" b="b"/>
              <ns1:pathLst>
                <ns1:path w="1692021" h="1789557">
                  <ns1:moveTo>
                    <ns1:pt x="0" y="149352"/>
                  </ns1:moveTo>
                  <ns1:cubicBezTo>
                    <ns1:pt x="0" y="66802"/>
                    <ns1:pt x="66802" y="0"/>
                    <ns1:pt x="149352" y="0"/>
                  </ns1:cubicBezTo>
                  <ns1:lnTo>
                    <ns1:pt x="1542669" y="0"/>
                  </ns1:lnTo>
                  <ns1:cubicBezTo>
                    <ns1:pt x="1625092" y="0"/>
                    <ns1:pt x="1692021" y="66802"/>
                    <ns1:pt x="1692021" y="149352"/>
                  </ns1:cubicBezTo>
                  <ns1:lnTo>
                    <ns1:pt x="1692021" y="1640205"/>
                  </ns1:lnTo>
                  <ns1:cubicBezTo>
                    <ns1:pt x="1692021" y="1722628"/>
                    <ns1:pt x="1625219" y="1789557"/>
                    <ns1:pt x="1542669" y="1789557"/>
                  </ns1:cubicBezTo>
                  <ns1:lnTo>
                    <ns1:pt x="149352" y="1789557"/>
                  </ns1:lnTo>
                  <ns1:cubicBezTo>
                    <ns1:pt x="66802" y="1789557"/>
                    <ns1:pt x="0" y="1722628"/>
                    <ns1:pt x="0" y="1640205"/>
                  </ns1:cubicBezTo>
                  <ns1:close/>
                </ns1:path>
              </ns1:pathLst>
            </ns1:custGeom>
            <ns1:solidFill>
              <ns1:srgbClr val="0D9488"/>
            </ns1:solidFill>
            <ns1:ln w="25400" cap="sq">
              <ns1:solidFill>
                <ns1:srgbClr val="0D9488"/>
              </ns1:solidFill>
              <ns1:prstDash val="solid"/>
              <ns1:miter/>
            </ns1:ln>
          </ns0:spPr>
        </ns0:sp>
      </ns0:grpSp>
      <ns0:grpSp>
        <ns0:nvGrpSpPr>
          <ns0:cNvPr id="50" name="Group 50"/>
          <ns0:cNvGrpSpPr/>
          <ns0:nvPr/>
        </ns0:nvGrpSpPr>
        <ns0:grpSpPr>
          <ns1:xfrm>
            <ns1:off x="4773168" y="8156448"/>
            <ns1:ext cx="1243584" cy="1316736"/>
            <ns1:chOff x="0" y="0"/>
            <ns1:chExt cx="1658112" cy="1755648"/>
          </ns1:xfrm>
        </ns0:grpSpPr>
        <ns0:sp>
          <ns0:nvSpPr>
            <ns0:cNvPr id="51" name="Freeform 51"/>
            <ns0:cNvSpPr/>
            <ns0:nvPr/>
          </ns0:nvSpPr>
          <ns0:spPr>
            <ns1:xfrm>
              <ns1:off x="0" y="0"/>
              <ns1:ext cx="1658112" cy="1755648"/>
            </ns1:xfrm>
            <ns1:custGeom>
              <ns1:avLst/>
              <ns1:gdLst/>
              <ns1:ahLst/>
              <ns1:cxnLst/>
              <ns1:rect l="l" t="t" r="r" b="b"/>
              <ns1:pathLst>
                <ns1:path w="1658112" h="1755648">
                  <ns1:moveTo>
                    <ns1:pt x="0" y="0"/>
                  </ns1:moveTo>
                  <ns1:lnTo>
                    <ns1:pt x="1658112" y="0"/>
                  </ns1:lnTo>
                  <ns1:lnTo>
                    <ns1:pt x="1658112" y="1755648"/>
                  </ns1:lnTo>
                  <ns1:lnTo>
                    <ns1:pt x="0" y="1755648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85850" r="-85850"/>
              </ns1:stretch>
            </ns1:blipFill>
          </ns0:spPr>
        </ns0:sp>
        <ns0:sp>
          <ns0:nvSpPr>
            <ns0:cNvPr id="52" name="TextBox 52"/>
            <ns0:cNvSpPr txBox="1"/>
            <ns0:nvPr/>
          </ns0:nvSpPr>
          <ns0:spPr>
            <ns1:xfrm>
              <ns1:off x="0" y="-28575"/>
              <ns1:ext cx="1658112" cy="1784223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ctr">
                <ns1:lnSpc>
                  <ns1:spcPts val="1560"/>
                </ns1:lnSpc>
              </ns1:pPr>
              <ns1:r>
                <ns1:rPr lang="en-US" sz="1300" b="1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Model-</ns1:t>
              </ns1:r>
            </ns1:p>
            <ns1:p>
              <ns1:pPr algn="ctr">
                <ns1:lnSpc>
                  <ns1:spcPts val="1560"/>
                </ns1:lnSpc>
              </ns1:pPr>
              <ns1:r>
                <ns1:rPr lang="en-US" sz="1300" b="1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ling</ns1:t>
              </ns1:r>
            </ns1:p>
          </ns0:txBody>
        </ns0:sp>
      </ns0:grpSp>
      <ns0:grpSp>
        <ns0:nvGrpSpPr>
          <ns0:cNvPr id="53" name="Group 53"/>
          <ns0:cNvGrpSpPr/>
          <ns0:nvPr/>
        </ns0:nvGrpSpPr>
        <ns0:grpSpPr>
          <ns1:xfrm>
            <ns1:off x="6095495" y="8143751"/>
            <ns1:ext cx="1268987" cy="1342139"/>
            <ns1:chOff x="0" y="0"/>
            <ns1:chExt cx="1691983" cy="1789519"/>
          </ns1:xfrm>
        </ns0:grpSpPr>
        <ns0:sp>
          <ns0:nvSpPr>
            <ns0:cNvPr id="54" name="Freeform 54"/>
            <ns0:cNvSpPr/>
            <ns0:nvPr/>
          </ns0:nvSpPr>
          <ns0:spPr>
            <ns1:xfrm>
              <ns1:off x="0" y="0"/>
              <ns1:ext cx="1692021" cy="1789557"/>
            </ns1:xfrm>
            <ns1:custGeom>
              <ns1:avLst/>
              <ns1:gdLst/>
              <ns1:ahLst/>
              <ns1:cxnLst/>
              <ns1:rect l="l" t="t" r="r" b="b"/>
              <ns1:pathLst>
                <ns1:path w="1692021" h="1789557">
                  <ns1:moveTo>
                    <ns1:pt x="0" y="149352"/>
                  </ns1:moveTo>
                  <ns1:cubicBezTo>
                    <ns1:pt x="0" y="66802"/>
                    <ns1:pt x="66802" y="0"/>
                    <ns1:pt x="149352" y="0"/>
                  </ns1:cubicBezTo>
                  <ns1:lnTo>
                    <ns1:pt x="1542669" y="0"/>
                  </ns1:lnTo>
                  <ns1:cubicBezTo>
                    <ns1:pt x="1625092" y="0"/>
                    <ns1:pt x="1692021" y="66802"/>
                    <ns1:pt x="1692021" y="149352"/>
                  </ns1:cubicBezTo>
                  <ns1:lnTo>
                    <ns1:pt x="1692021" y="1640205"/>
                  </ns1:lnTo>
                  <ns1:cubicBezTo>
                    <ns1:pt x="1692021" y="1722628"/>
                    <ns1:pt x="1625219" y="1789557"/>
                    <ns1:pt x="1542669" y="1789557"/>
                  </ns1:cubicBezTo>
                  <ns1:lnTo>
                    <ns1:pt x="149352" y="1789557"/>
                  </ns1:lnTo>
                  <ns1:cubicBezTo>
                    <ns1:pt x="66802" y="1789557"/>
                    <ns1:pt x="0" y="1722628"/>
                    <ns1:pt x="0" y="1640205"/>
                  </ns1:cubicBezTo>
                  <ns1:close/>
                </ns1:path>
              </ns1:pathLst>
            </ns1:custGeom>
            <ns1:solidFill>
              <ns1:srgbClr val="2563EB"/>
            </ns1:solidFill>
            <ns1:ln w="25400" cap="sq">
              <ns1:solidFill>
                <ns1:srgbClr val="2563EB"/>
              </ns1:solidFill>
              <ns1:prstDash val="solid"/>
              <ns1:miter/>
            </ns1:ln>
          </ns0:spPr>
        </ns0:sp>
      </ns0:grpSp>
      <ns0:grpSp>
        <ns0:nvGrpSpPr>
          <ns0:cNvPr id="55" name="Group 55"/>
          <ns0:cNvGrpSpPr/>
          <ns0:nvPr/>
        </ns0:nvGrpSpPr>
        <ns0:grpSpPr>
          <ns1:xfrm>
            <ns1:off x="6108192" y="8156448"/>
            <ns1:ext cx="1243584" cy="1316736"/>
            <ns1:chOff x="0" y="0"/>
            <ns1:chExt cx="1658112" cy="1755648"/>
          </ns1:xfrm>
        </ns0:grpSpPr>
        <ns0:sp>
          <ns0:nvSpPr>
            <ns0:cNvPr id="56" name="Freeform 56"/>
            <ns0:cNvSpPr/>
            <ns0:nvPr/>
          </ns0:nvSpPr>
          <ns0:spPr>
            <ns1:xfrm>
              <ns1:off x="0" y="0"/>
              <ns1:ext cx="1658112" cy="1755648"/>
            </ns1:xfrm>
            <ns1:custGeom>
              <ns1:avLst/>
              <ns1:gdLst/>
              <ns1:ahLst/>
              <ns1:cxnLst/>
              <ns1:rect l="l" t="t" r="r" b="b"/>
              <ns1:pathLst>
                <ns1:path w="1658112" h="1755648">
                  <ns1:moveTo>
                    <ns1:pt x="0" y="0"/>
                  </ns1:moveTo>
                  <ns1:lnTo>
                    <ns1:pt x="1658112" y="0"/>
                  </ns1:lnTo>
                  <ns1:lnTo>
                    <ns1:pt x="1658112" y="1755648"/>
                  </ns1:lnTo>
                  <ns1:lnTo>
                    <ns1:pt x="0" y="1755648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85850" r="-85850"/>
              </ns1:stretch>
            </ns1:blipFill>
          </ns0:spPr>
        </ns0:sp>
        <ns0:sp>
          <ns0:nvSpPr>
            <ns0:cNvPr id="57" name="TextBox 57"/>
            <ns0:cNvSpPr txBox="1"/>
            <ns0:nvPr/>
          </ns0:nvSpPr>
          <ns0:spPr>
            <ns1:xfrm>
              <ns1:off x="0" y="-28575"/>
              <ns1:ext cx="1658112" cy="1784223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ctr">
                <ns1:lnSpc>
                  <ns1:spcPts val="1560"/>
                </ns1:lnSpc>
              </ns1:pPr>
              <ns1:r>
                <ns1:rPr lang="en-US" sz="1300" b="1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Eval.</ns1:t>
              </ns1:r>
            </ns1:p>
          </ns0:txBody>
        </ns0:sp>
      </ns0:grpSp>
      <ns0:grpSp>
        <ns0:nvGrpSpPr>
          <ns0:cNvPr id="58" name="Group 58"/>
          <ns0:cNvGrpSpPr/>
          <ns0:nvPr/>
        </ns0:nvGrpSpPr>
        <ns0:grpSpPr>
          <ns1:xfrm>
            <ns1:off x="7430519" y="8143751"/>
            <ns1:ext cx="1268987" cy="1342139"/>
            <ns1:chOff x="0" y="0"/>
            <ns1:chExt cx="1691983" cy="1789519"/>
          </ns1:xfrm>
        </ns0:grpSpPr>
        <ns0:sp>
          <ns0:nvSpPr>
            <ns0:cNvPr id="59" name="Freeform 59"/>
            <ns0:cNvSpPr/>
            <ns0:nvPr/>
          </ns0:nvSpPr>
          <ns0:spPr>
            <ns1:xfrm>
              <ns1:off x="0" y="0"/>
              <ns1:ext cx="1692021" cy="1789557"/>
            </ns1:xfrm>
            <ns1:custGeom>
              <ns1:avLst/>
              <ns1:gdLst/>
              <ns1:ahLst/>
              <ns1:cxnLst/>
              <ns1:rect l="l" t="t" r="r" b="b"/>
              <ns1:pathLst>
                <ns1:path w="1692021" h="1789557">
                  <ns1:moveTo>
                    <ns1:pt x="0" y="149352"/>
                  </ns1:moveTo>
                  <ns1:cubicBezTo>
                    <ns1:pt x="0" y="66802"/>
                    <ns1:pt x="66802" y="0"/>
                    <ns1:pt x="149352" y="0"/>
                  </ns1:cubicBezTo>
                  <ns1:lnTo>
                    <ns1:pt x="1542669" y="0"/>
                  </ns1:lnTo>
                  <ns1:cubicBezTo>
                    <ns1:pt x="1625092" y="0"/>
                    <ns1:pt x="1692021" y="66802"/>
                    <ns1:pt x="1692021" y="149352"/>
                  </ns1:cubicBezTo>
                  <ns1:lnTo>
                    <ns1:pt x="1692021" y="1640205"/>
                  </ns1:lnTo>
                  <ns1:cubicBezTo>
                    <ns1:pt x="1692021" y="1722628"/>
                    <ns1:pt x="1625219" y="1789557"/>
                    <ns1:pt x="1542669" y="1789557"/>
                  </ns1:cubicBezTo>
                  <ns1:lnTo>
                    <ns1:pt x="149352" y="1789557"/>
                  </ns1:lnTo>
                  <ns1:cubicBezTo>
                    <ns1:pt x="66802" y="1789557"/>
                    <ns1:pt x="0" y="1722628"/>
                    <ns1:pt x="0" y="1640205"/>
                  </ns1:cubicBezTo>
                  <ns1:close/>
                </ns1:path>
              </ns1:pathLst>
            </ns1:custGeom>
            <ns1:solidFill>
              <ns1:srgbClr val="7C3AED"/>
            </ns1:solidFill>
            <ns1:ln w="25400" cap="sq">
              <ns1:solidFill>
                <ns1:srgbClr val="7C3AED"/>
              </ns1:solidFill>
              <ns1:prstDash val="solid"/>
              <ns1:miter/>
            </ns1:ln>
          </ns0:spPr>
        </ns0:sp>
      </ns0:grpSp>
      <ns0:grpSp>
        <ns0:nvGrpSpPr>
          <ns0:cNvPr id="60" name="Group 60"/>
          <ns0:cNvGrpSpPr/>
          <ns0:nvPr/>
        </ns0:nvGrpSpPr>
        <ns0:grpSpPr>
          <ns1:xfrm>
            <ns1:off x="7443216" y="8156448"/>
            <ns1:ext cx="1243584" cy="1316736"/>
            <ns1:chOff x="0" y="0"/>
            <ns1:chExt cx="1658112" cy="1755648"/>
          </ns1:xfrm>
        </ns0:grpSpPr>
        <ns0:sp>
          <ns0:nvSpPr>
            <ns0:cNvPr id="61" name="Freeform 61"/>
            <ns0:cNvSpPr/>
            <ns0:nvPr/>
          </ns0:nvSpPr>
          <ns0:spPr>
            <ns1:xfrm>
              <ns1:off x="0" y="0"/>
              <ns1:ext cx="1658112" cy="1755648"/>
            </ns1:xfrm>
            <ns1:custGeom>
              <ns1:avLst/>
              <ns1:gdLst/>
              <ns1:ahLst/>
              <ns1:cxnLst/>
              <ns1:rect l="l" t="t" r="r" b="b"/>
              <ns1:pathLst>
                <ns1:path w="1658112" h="1755648">
                  <ns1:moveTo>
                    <ns1:pt x="0" y="0"/>
                  </ns1:moveTo>
                  <ns1:lnTo>
                    <ns1:pt x="1658112" y="0"/>
                  </ns1:lnTo>
                  <ns1:lnTo>
                    <ns1:pt x="1658112" y="1755648"/>
                  </ns1:lnTo>
                  <ns1:lnTo>
                    <ns1:pt x="0" y="1755648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85850" r="-85850"/>
              </ns1:stretch>
            </ns1:blipFill>
          </ns0:spPr>
        </ns0:sp>
        <ns0:sp>
          <ns0:nvSpPr>
            <ns0:cNvPr id="62" name="TextBox 62"/>
            <ns0:cNvSpPr txBox="1"/>
            <ns0:nvPr/>
          </ns0:nvSpPr>
          <ns0:spPr>
            <ns1:xfrm>
              <ns1:off x="0" y="-28575"/>
              <ns1:ext cx="1658112" cy="1784223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ctr">
                <ns1:lnSpc>
                  <ns1:spcPts val="1560"/>
                </ns1:lnSpc>
              </ns1:pPr>
              <ns1:r>
                <ns1:rPr lang="en-US" sz="1300" b="1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Deploy</ns1:t>
              </ns1:r>
            </ns1:p>
          </ns0:txBody>
        </ns0:sp>
      </ns0:grpSp>
      <ns0:grpSp>
        <ns0:nvGrpSpPr>
          <ns0:cNvPr id="63" name="Group 63"/>
          <ns0:cNvGrpSpPr/>
          <ns0:nvPr/>
        </ns0:nvGrpSpPr>
        <ns0:grpSpPr>
          <ns1:xfrm>
            <ns1:off x="9405623" y="2181863"/>
            <ns1:ext cx="8529323" cy="7706363"/>
            <ns1:chOff x="0" y="0"/>
            <ns1:chExt cx="11372431" cy="10275151"/>
          </ns1:xfrm>
        </ns0:grpSpPr>
        <ns0:sp>
          <ns0:nvSpPr>
            <ns0:cNvPr id="64" name="Freeform 64"/>
            <ns0:cNvSpPr/>
            <ns0:nvPr/>
          </ns0:nvSpPr>
          <ns0:spPr>
            <ns1:xfrm>
              <ns1:off x="0" y="0"/>
              <ns1:ext cx="11372342" cy="10275062"/>
            </ns1:xfrm>
            <ns1:custGeom>
              <ns1:avLst/>
              <ns1:gdLst/>
              <ns1:ahLst/>
              <ns1:cxnLst/>
              <ns1:rect l="l" t="t" r="r" b="b"/>
              <ns1:pathLst>
                <ns1:path w="11372342" h="10275062">
                  <ns1:moveTo>
                    <ns1:pt x="0" y="244602"/>
                  </ns1:moveTo>
                  <ns1:cubicBezTo>
                    <ns1:pt x="0" y="109474"/>
                    <ns1:pt x="109474" y="0"/>
                    <ns1:pt x="244602" y="0"/>
                  </ns1:cubicBezTo>
                  <ns1:lnTo>
                    <ns1:pt x="11127740" y="0"/>
                  </ns1:lnTo>
                  <ns1:cubicBezTo>
                    <ns1:pt x="11262868" y="0"/>
                    <ns1:pt x="11372342" y="109474"/>
                    <ns1:pt x="11372342" y="244602"/>
                  </ns1:cubicBezTo>
                  <ns1:lnTo>
                    <ns1:pt x="11372342" y="10030460"/>
                  </ns1:lnTo>
                  <ns1:cubicBezTo>
                    <ns1:pt x="11372342" y="10165588"/>
                    <ns1:pt x="11262868" y="10275062"/>
                    <ns1:pt x="11127740" y="10275062"/>
                  </ns1:cubicBezTo>
                  <ns1:lnTo>
                    <ns1:pt x="244602" y="10275062"/>
                  </ns1:lnTo>
                  <ns1:cubicBezTo>
                    <ns1:pt x="109474" y="10275189"/>
                    <ns1:pt x="0" y="10165588"/>
                    <ns1:pt x="0" y="10030460"/>
                  </ns1:cubicBezTo>
                  <ns1:close/>
                </ns1:path>
              </ns1:pathLst>
            </ns1:custGeom>
            <ns1:solidFill>
              <ns1:srgbClr val="FFFFFF"/>
            </ns1:solidFill>
            <ns1:ln w="25400" cap="sq">
              <ns1:solidFill>
                <ns1:srgbClr val="FED7AA"/>
              </ns1:solidFill>
              <ns1:prstDash val="solid"/>
              <ns1:miter/>
            </ns1:ln>
          </ns0:spPr>
        </ns0:sp>
      </ns0:grpSp>
      <ns0:grpSp>
        <ns0:nvGrpSpPr>
          <ns0:cNvPr id="65" name="Group 65"/>
          <ns0:cNvGrpSpPr/>
          <ns0:nvPr/>
        </ns0:nvGrpSpPr>
        <ns0:grpSpPr>
          <ns1:xfrm>
            <ns1:off x="9405623" y="2181863"/>
            <ns1:ext cx="8529323" cy="793499"/>
            <ns1:chOff x="0" y="0"/>
            <ns1:chExt cx="11372431" cy="1057999"/>
          </ns1:xfrm>
        </ns0:grpSpPr>
        <ns0:sp>
          <ns0:nvSpPr>
            <ns0:cNvPr id="66" name="Freeform 66"/>
            <ns0:cNvSpPr/>
            <ns0:nvPr/>
          </ns0:nvSpPr>
          <ns0:spPr>
            <ns1:xfrm>
              <ns1:off x="0" y="0"/>
              <ns1:ext cx="11372596" cy="1058037"/>
            </ns1:xfrm>
            <ns1:custGeom>
              <ns1:avLst/>
              <ns1:gdLst/>
              <ns1:ahLst/>
              <ns1:cxnLst/>
              <ns1:rect l="l" t="t" r="r" b="b"/>
              <ns1:pathLst>
                <ns1:path w="11372596" h="1058037">
                  <ns1:moveTo>
                    <ns1:pt x="0" y="251968"/>
                  </ns1:moveTo>
                  <ns1:cubicBezTo>
                    <ns1:pt x="0" y="112776"/>
                    <ns1:pt x="112776" y="0"/>
                    <ns1:pt x="251968" y="0"/>
                  </ns1:cubicBezTo>
                  <ns1:lnTo>
                    <ns1:pt x="11120628" y="0"/>
                  </ns1:lnTo>
                  <ns1:cubicBezTo>
                    <ns1:pt x="11259693" y="0"/>
                    <ns1:pt x="11372596" y="112776"/>
                    <ns1:pt x="11372596" y="251968"/>
                  </ns1:cubicBezTo>
                  <ns1:lnTo>
                    <ns1:pt x="11372596" y="806069"/>
                  </ns1:lnTo>
                  <ns1:cubicBezTo>
                    <ns1:pt x="11372596" y="945134"/>
                    <ns1:pt x="11259820" y="1058037"/>
                    <ns1:pt x="11120628" y="1058037"/>
                  </ns1:cubicBezTo>
                  <ns1:lnTo>
                    <ns1:pt x="251968" y="1058037"/>
                  </ns1:lnTo>
                  <ns1:cubicBezTo>
                    <ns1:pt x="112776" y="1058037"/>
                    <ns1:pt x="0" y="945261"/>
                    <ns1:pt x="0" y="806069"/>
                  </ns1:cubicBezTo>
                  <ns1:close/>
                </ns1:path>
              </ns1:pathLst>
            </ns1:custGeom>
            <ns1:solidFill>
              <ns1:srgbClr val="F59E0B"/>
            </ns1:solidFill>
            <ns1:ln w="25400" cap="sq">
              <ns1:solidFill>
                <ns1:srgbClr val="F59E0B"/>
              </ns1:solidFill>
              <ns1:prstDash val="solid"/>
              <ns1:miter/>
            </ns1:ln>
          </ns0:spPr>
        </ns0:sp>
      </ns0:grpSp>
      <ns0:grpSp>
        <ns0:nvGrpSpPr>
          <ns0:cNvPr id="67" name="Group 67"/>
          <ns0:cNvGrpSpPr/>
          <ns0:nvPr/>
        </ns0:nvGrpSpPr>
        <ns0:grpSpPr>
          <ns1:xfrm>
            <ns1:off x="9405623" y="2620775"/>
            <ns1:ext cx="8529323" cy="354587"/>
            <ns1:chOff x="0" y="0"/>
            <ns1:chExt cx="11372431" cy="472783"/>
          </ns1:xfrm>
        </ns0:grpSpPr>
        <ns0:sp>
          <ns0:nvSpPr>
            <ns0:cNvPr id="68" name="Freeform 68"/>
            <ns0:cNvSpPr/>
            <ns0:nvPr/>
          </ns0:nvSpPr>
          <ns0:spPr>
            <ns1:xfrm>
              <ns1:off x="0" y="0"/>
              <ns1:ext cx="11372469" cy="472821"/>
            </ns1:xfrm>
            <ns1:custGeom>
              <ns1:avLst/>
              <ns1:gdLst/>
              <ns1:ahLst/>
              <ns1:cxnLst/>
              <ns1:rect l="l" t="t" r="r" b="b"/>
              <ns1:pathLst>
                <ns1:path w="11372469" h="472821">
                  <ns1:moveTo>
                    <ns1:pt x="0" y="0"/>
                  </ns1:moveTo>
                  <ns1:lnTo>
                    <ns1:pt x="11372469" y="0"/>
                  </ns1:lnTo>
                  <ns1:lnTo>
                    <ns1:pt x="11372469" y="472821"/>
                  </ns1:lnTo>
                  <ns1:lnTo>
                    <ns1:pt x="0" y="472821"/>
                  </ns1:lnTo>
                  <ns1:close/>
                </ns1:path>
              </ns1:pathLst>
            </ns1:custGeom>
            <ns1:solidFill>
              <ns1:srgbClr val="F59E0B"/>
            </ns1:solidFill>
            <ns1:ln w="25400" cap="sq">
              <ns1:solidFill>
                <ns1:srgbClr val="F59E0B"/>
              </ns1:solidFill>
              <ns1:prstDash val="solid"/>
              <ns1:miter/>
            </ns1:ln>
          </ns0:spPr>
        </ns0:sp>
      </ns0:grpSp>
      <ns0:grpSp>
        <ns0:nvGrpSpPr>
          <ns0:cNvPr id="69" name="Group 69"/>
          <ns0:cNvGrpSpPr/>
          <ns0:nvPr/>
        </ns0:nvGrpSpPr>
        <ns0:grpSpPr>
          <ns1:xfrm>
            <ns1:off x="9692640" y="2231136"/>
            <ns1:ext cx="8046720" cy="694944"/>
            <ns1:chOff x="0" y="0"/>
            <ns1:chExt cx="10728960" cy="926592"/>
          </ns1:xfrm>
        </ns0:grpSpPr>
        <ns0:sp>
          <ns0:nvSpPr>
            <ns0:cNvPr id="70" name="Freeform 70"/>
            <ns0:cNvSpPr/>
            <ns0:nvPr/>
          </ns0:nvSpPr>
          <ns0:spPr>
            <ns1:xfrm>
              <ns1:off x="0" y="0"/>
              <ns1:ext cx="10728960" cy="926592"/>
            </ns1:xfrm>
            <ns1:custGeom>
              <ns1:avLst/>
              <ns1:gdLst/>
              <ns1:ahLst/>
              <ns1:cxnLst/>
              <ns1:rect l="l" t="t" r="r" b="b"/>
              <ns1:pathLst>
                <ns1:path w="10728960" h="926592">
                  <ns1:moveTo>
                    <ns1:pt x="0" y="0"/>
                  </ns1:moveTo>
                  <ns1:lnTo>
                    <ns1:pt x="10728960" y="0"/>
                  </ns1:lnTo>
                  <ns1:lnTo>
                    <ns1:pt x="10728960" y="926592"/>
                  </ns1:lnTo>
                  <ns1:lnTo>
                    <ns1:pt x="0" y="926592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175616" b="-175616"/>
              </ns1:stretch>
            </ns1:blipFill>
          </ns0:spPr>
        </ns0:sp>
        <ns0:sp>
          <ns0:nvSpPr>
            <ns0:cNvPr id="71" name="TextBox 71"/>
            <ns0:cNvSpPr txBox="1"/>
            <ns0:nvPr/>
          </ns0:nvSpPr>
          <ns0:spPr>
            <ns1:xfrm>
              <ns1:off x="0" y="-38100"/>
              <ns1:ext cx="10728960" cy="964692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879"/>
                </ns1:lnSpc>
              </ns1:pPr>
              <ns1:r>
                <ns1:rPr lang="en-US" sz="2400" b="1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Data Penelitian</ns1:t>
              </ns1:r>
            </ns1:p>
          </ns0:txBody>
        </ns0:sp>
      </ns0:grpSp>
      <ns0:grpSp>
        <ns0:nvGrpSpPr>
          <ns0:cNvPr id="72" name="Group 72"/>
          <ns0:cNvGrpSpPr/>
          <ns0:nvPr/>
        </ns0:nvGrpSpPr>
        <ns0:grpSpPr>
          <ns1:xfrm>
            <ns1:off x="9656064" y="3145536"/>
            <ns1:ext cx="8083296" cy="548640"/>
            <ns1:chOff x="0" y="0"/>
            <ns1:chExt cx="10777728" cy="731520"/>
          </ns1:xfrm>
        </ns0:grpSpPr>
        <ns0:sp>
          <ns0:nvSpPr>
            <ns0:cNvPr id="73" name="Freeform 73"/>
            <ns0:cNvSpPr/>
            <ns0:nvPr/>
          </ns0:nvSpPr>
          <ns0:spPr>
            <ns1:xfrm>
              <ns1:off x="0" y="0"/>
              <ns1:ext cx="10777728" cy="731520"/>
            </ns1:xfrm>
            <ns1:custGeom>
              <ns1:avLst/>
              <ns1:gdLst/>
              <ns1:ahLst/>
              <ns1:cxnLst/>
              <ns1:rect l="l" t="t" r="r" b="b"/>
              <ns1:pathLst>
                <ns1:path w="10777728" h="731520">
                  <ns1:moveTo>
                    <ns1:pt x="0" y="0"/>
                  </ns1:moveTo>
                  <ns1:lnTo>
                    <ns1:pt x="10777728" y="0"/>
                  </ns1:lnTo>
                  <ns1:lnTo>
                    <ns1:pt x="10777728" y="731520"/>
                  </ns1:lnTo>
                  <ns1:lnTo>
                    <ns1:pt x="0" y="73152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237079" b="-237079"/>
              </ns1:stretch>
            </ns1:blipFill>
          </ns0:spPr>
        </ns0:sp>
        <ns0:sp>
          <ns0:nvSpPr>
            <ns0:cNvPr id="74" name="TextBox 74"/>
            <ns0:cNvSpPr txBox="1"/>
            <ns0:nvPr/>
          </ns0:nvSpPr>
          <ns0:spPr>
            <ns1:xfrm>
              <ns1:off x="0" y="-38100"/>
              <ns1:ext cx="10777728" cy="769620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400"/>
                </ns1:lnSpc>
              </ns1:pPr>
              <ns1:r>
                <ns1:rPr lang="en-US" sz="2000" i="1">
                  <ns1:solidFill>
                    <ns1:srgbClr val="78716C"/>
                  </ns1:solidFill>
                  <ns1:latin typeface="Calibri (MS) Italics"/>
                  <ns1:ea typeface="Calibri (MS) Italics"/>
                  <ns1:cs typeface="Calibri (MS) Italics"/>
                  <ns1:sym typeface="Calibri (MS) Italics"/>
                </ns1:rPr>
                <ns1:t>34 siswa XI Perhotelan | Tahun Ajaran 2024/2025</ns1:t>
              </ns1:r>
            </ns1:p>
          </ns0:txBody>
        </ns0:sp>
      </ns0:grpSp>
      <ns0:graphicFrame>
        <ns0:nvGraphicFramePr>
          <ns0:cNvPr id="75" name="Table 75"/>
          <ns0:cNvGraphicFramePr>
            <ns1:graphicFrameLocks noGrp="1"/>
          </ns0:cNvGraphicFramePr>
          <ns0:nvPr/>
        </ns0:nvGraphicFramePr>
        <ns0:xfrm>
          <ns1:off x="9637776" y="3840480"/>
          <ns1:ext cx="8051800" cy="3810000"/>
        </ns0:xfrm>
        <ns1:graphic>
          <ns1:graphicData uri="http://schemas.openxmlformats.org/drawingml/2006/table">
            <ns1:tbl>
              <ns1:tblPr/>
              <ns1:tblGrid>
                <ns1:gridCol w="5087346">
                  <ns1:extLst>
                    <ns1:ext uri="{9D8B030D-6E8A-4147-A177-3AD203B41FA5}">
                      <ns3:colId val="20000"/>
                    </ns1:ext>
                  </ns1:extLst>
                </ns1:gridCol>
                <ns1:gridCol w="2964454">
                  <ns1:extLst>
                    <ns1:ext uri="{9D8B030D-6E8A-4147-A177-3AD203B41FA5}">
                      <ns3:colId val="20001"/>
                    </ns1:ext>
                  </ns1:extLst>
                </ns1:gridCol>
              </ns1:tblGrid>
              <ns1:tr h="762000">
                <ns1:tc>
                  <ns1:txBody>
                    <ns1:bodyPr/>
                    <ns1:lstStyle/>
                    <ns1:p>
                      <ns1:pPr algn="l">
                        <ns1:lnSpc>
                          <ns1:spcPts val="2400"/>
                        </ns1:lnSpc>
                        <ns1:defRPr/>
                      </ns1:pPr>
                      <ns1:r>
                        <ns1:rPr lang="en-US" sz="2000" b="1">
                          <ns1:solidFill>
                            <ns1:srgbClr val="FFFFFF"/>
                          </ns1:solidFill>
                          <ns1:latin typeface="Calibri (MS) Bold"/>
                          <ns1:ea typeface="Calibri (MS) Bold"/>
                          <ns1:cs typeface="Calibri (MS) Bold"/>
                          <ns1:sym typeface="Calibri (MS) Bold"/>
                        </ns1:rPr>
                        <ns1:t>Atribut</ns1:t>
                      </ns1:r>
                      <ns1:endParaRPr lang="en-US" sz="1100"/>
                    </ns1:p>
                  </ns1:txBody>
                  <ns1:tcPr marT="91440" marB="91440" anchor="ctr">
                    <ns1:lnL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l">
                        <ns1:lnSpc>
                          <ns1:spcPts val="2400"/>
                        </ns1:lnSpc>
                        <ns1:defRPr/>
                      </ns1:pPr>
                      <ns1:r>
                        <ns1:rPr lang="en-US" sz="2000" b="1">
                          <ns1:solidFill>
                            <ns1:srgbClr val="FFFFFF"/>
                          </ns1:solidFill>
                          <ns1:latin typeface="Calibri (MS) Bold"/>
                          <ns1:ea typeface="Calibri (MS) Bold"/>
                          <ns1:cs typeface="Calibri (MS) Bold"/>
                          <ns1:sym typeface="Calibri (MS) Bold"/>
                        </ns1:rPr>
                        <ns1:t>Digunakan?</ns1:t>
                      </ns1:r>
                      <ns1:endParaRPr lang="en-US" sz="1100"/>
                    </ns1:p>
                  </ns1:txBody>
                  <ns1:tcPr marT="91440" marB="91440" anchor="ctr">
                    <ns1:lnL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extLst>
                  <ns1:ext uri="{0D108BD9-81ED-4DB2-BD59-A6C34878D82A}">
                    <ns3:rowId val="10000"/>
                  </ns1:ext>
                </ns1:extLst>
              </ns1:tr>
              <ns1:tr h="762000">
                <ns1:tc>
                  <ns1:txBody>
                    <ns1:bodyPr/>
                    <ns1:lstStyle/>
                    <ns1:p>
                      <ns1:pPr algn="l">
                        <ns1:lnSpc>
                          <ns1:spcPts val="2400"/>
                        </ns1:lnSpc>
                        <ns1:defRPr/>
                      </ns1:pPr>
                      <ns1:r>
                        <ns1:rPr lang="en-US" sz="2000">
                          <ns1:solidFill>
                            <ns1:srgbClr val="44403C"/>
                          </ns1:solidFill>
                          <ns1:latin typeface="Calibri (MS)"/>
                          <ns1:ea typeface="Calibri (MS)"/>
                          <ns1:cs typeface="Calibri (MS)"/>
                          <ns1:sym typeface="Calibri (MS)"/>
                        </ns1:rPr>
                        <ns1:t>Nama / NIS / No</ns1:t>
                      </ns1:r>
                      <ns1:endParaRPr lang="en-US" sz="1100"/>
                    </ns1:p>
                  </ns1:txBody>
                  <ns1:tcPr marT="91440" marB="91440" anchor="ctr">
                    <ns1:lnL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l">
                        <ns1:lnSpc>
                          <ns1:spcPts val="2400"/>
                        </ns1:lnSpc>
                        <ns1:defRPr/>
                      </ns1:pPr>
                      <ns1:r>
                        <ns1:rPr lang="en-US" sz="2000">
                          <ns1:solidFill>
                            <ns1:srgbClr val="44403C"/>
                          </ns1:solidFill>
                          <ns1:latin typeface="Calibri (MS)"/>
                          <ns1:ea typeface="Calibri (MS)"/>
                          <ns1:cs typeface="Calibri (MS)"/>
                          <ns1:sym typeface="Calibri (MS)"/>
                        </ns1:rPr>
                        <ns1:t>❌ Identitas saja</ns1:t>
                      </ns1:r>
                      <ns1:endParaRPr lang="en-US" sz="1100"/>
                    </ns1:p>
                  </ns1:txBody>
                  <ns1:tcPr marT="91440" marB="91440" anchor="ctr">
                    <ns1:lnL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extLst>
                  <ns1:ext uri="{0D108BD9-81ED-4DB2-BD59-A6C34878D82A}">
                    <ns3:rowId val="10001"/>
                  </ns1:ext>
                </ns1:extLst>
              </ns1:tr>
              <ns1:tr h="762000">
                <ns1:tc>
                  <ns1:txBody>
                    <ns1:bodyPr/>
                    <ns1:lstStyle/>
                    <ns1:p>
                      <ns1:pPr algn="l">
                        <ns1:lnSpc>
                          <ns1:spcPts val="2400"/>
                        </ns1:lnSpc>
                        <ns1:defRPr/>
                      </ns1:pPr>
                      <ns1:r>
                        <ns1:rPr lang="en-US" sz="2000">
                          <ns1:solidFill>
                            <ns1:srgbClr val="44403C"/>
                          </ns1:solidFill>
                          <ns1:latin typeface="Calibri (MS)"/>
                          <ns1:ea typeface="Calibri (MS)"/>
                          <ns1:cs typeface="Calibri (MS)"/>
                          <ns1:sym typeface="Calibri (MS)"/>
                        </ns1:rPr>
                        <ns1:t>Nilai Mata Pelajaran Umum</ns1:t>
                      </ns1:r>
                      <ns1:endParaRPr lang="en-US" sz="1100"/>
                    </ns1:p>
                  </ns1:txBody>
                  <ns1:tcPr marT="91440" marB="91440" anchor="ctr">
                    <ns1:lnL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l">
                        <ns1:lnSpc>
                          <ns1:spcPts val="2400"/>
                        </ns1:lnSpc>
                        <ns1:defRPr/>
                      </ns1:pPr>
                      <ns1:r>
                        <ns1:rPr lang="en-US" sz="2000">
                          <ns1:solidFill>
                            <ns1:srgbClr val="44403C"/>
                          </ns1:solidFill>
                          <ns1:latin typeface="Calibri (MS)"/>
                          <ns1:ea typeface="Calibri (MS)"/>
                          <ns1:cs typeface="Calibri (MS)"/>
                          <ns1:sym typeface="Calibri (MS)"/>
                        </ns1:rPr>
                        <ns1:t>✅ Fitur clustering</ns1:t>
                      </ns1:r>
                      <ns1:endParaRPr lang="en-US" sz="1100"/>
                    </ns1:p>
                  </ns1:txBody>
                  <ns1:tcPr marT="91440" marB="91440" anchor="ctr">
                    <ns1:lnL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extLst>
                  <ns1:ext uri="{0D108BD9-81ED-4DB2-BD59-A6C34878D82A}">
                    <ns3:rowId val="10002"/>
                  </ns1:ext>
                </ns1:extLst>
              </ns1:tr>
              <ns1:tr h="762000">
                <ns1:tc>
                  <ns1:txBody>
                    <ns1:bodyPr/>
                    <ns1:lstStyle/>
                    <ns1:p>
                      <ns1:pPr algn="l">
                        <ns1:lnSpc>
                          <ns1:spcPts val="2400"/>
                        </ns1:lnSpc>
                        <ns1:defRPr/>
                      </ns1:pPr>
                      <ns1:r>
                        <ns1:rPr lang="en-US" sz="2000">
                          <ns1:solidFill>
                            <ns1:srgbClr val="44403C"/>
                          </ns1:solidFill>
                          <ns1:latin typeface="Calibri (MS)"/>
                          <ns1:ea typeface="Calibri (MS)"/>
                          <ns1:cs typeface="Calibri (MS)"/>
                          <ns1:sym typeface="Calibri (MS)"/>
                        </ns1:rPr>
                        <ns1:t>Nilai Mata Pelajaran Kejuruan</ns1:t>
                      </ns1:r>
                      <ns1:endParaRPr lang="en-US" sz="1100"/>
                    </ns1:p>
                  </ns1:txBody>
                  <ns1:tcPr marT="91440" marB="91440" anchor="ctr">
                    <ns1:lnL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l">
                        <ns1:lnSpc>
                          <ns1:spcPts val="2400"/>
                        </ns1:lnSpc>
                        <ns1:defRPr/>
                      </ns1:pPr>
                      <ns1:r>
                        <ns1:rPr lang="en-US" sz="2000">
                          <ns1:solidFill>
                            <ns1:srgbClr val="44403C"/>
                          </ns1:solidFill>
                          <ns1:latin typeface="Calibri (MS)"/>
                          <ns1:ea typeface="Calibri (MS)"/>
                          <ns1:cs typeface="Calibri (MS)"/>
                          <ns1:sym typeface="Calibri (MS)"/>
                        </ns1:rPr>
                        <ns1:t>✅ Fitur clustering</ns1:t>
                      </ns1:r>
                      <ns1:endParaRPr lang="en-US" sz="1100"/>
                    </ns1:p>
                  </ns1:txBody>
                  <ns1:tcPr marT="91440" marB="91440" anchor="ctr">
                    <ns1:lnL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extLst>
                  <ns1:ext uri="{0D108BD9-81ED-4DB2-BD59-A6C34878D82A}">
                    <ns3:rowId val="10003"/>
                  </ns1:ext>
                </ns1:extLst>
              </ns1:tr>
              <ns1:tr h="762000">
                <ns1:tc>
                  <ns1:txBody>
                    <ns1:bodyPr/>
                    <ns1:lstStyle/>
                    <ns1:p>
                      <ns1:pPr algn="l">
                        <ns1:lnSpc>
                          <ns1:spcPts val="2400"/>
                        </ns1:lnSpc>
                        <ns1:defRPr/>
                      </ns1:pPr>
                      <ns1:r>
                        <ns1:rPr lang="en-US" sz="2000">
                          <ns1:solidFill>
                            <ns1:srgbClr val="44403C"/>
                          </ns1:solidFill>
                          <ns1:latin typeface="Calibri (MS)"/>
                          <ns1:ea typeface="Calibri (MS)"/>
                          <ns1:cs typeface="Calibri (MS)"/>
                          <ns1:sym typeface="Calibri (MS)"/>
                        </ns1:rPr>
                        <ns1:t>Ketidakhadiran (S / I / A)</ns1:t>
                      </ns1:r>
                      <ns1:endParaRPr lang="en-US" sz="1100"/>
                    </ns1:p>
                  </ns1:txBody>
                  <ns1:tcPr marT="91440" marB="91440" anchor="ctr">
                    <ns1:lnL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l">
                        <ns1:lnSpc>
                          <ns1:spcPts val="2400"/>
                        </ns1:lnSpc>
                        <ns1:defRPr/>
                      </ns1:pPr>
                      <ns1:r>
                        <ns1:rPr lang="en-US" sz="2000">
                          <ns1:solidFill>
                            <ns1:srgbClr val="44403C"/>
                          </ns1:solidFill>
                          <ns1:latin typeface="Calibri (MS)"/>
                          <ns1:ea typeface="Calibri (MS)"/>
                          <ns1:cs typeface="Calibri (MS)"/>
                          <ns1:sym typeface="Calibri (MS)"/>
                        </ns1:rPr>
                        <ns1:t>❌ Tidak digunakan</ns1:t>
                      </ns1:r>
                      <ns1:endParaRPr lang="en-US" sz="1100"/>
                    </ns1:p>
                  </ns1:txBody>
                  <ns1:tcPr marT="91440" marB="91440" anchor="ctr">
                    <ns1:lnL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FED7A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extLst>
                  <ns1:ext uri="{0D108BD9-81ED-4DB2-BD59-A6C34878D82A}">
                    <ns3:rowId val="10004"/>
                  </ns1:ext>
                </ns1:extLst>
              </ns1:tr>
            </ns1:tbl>
          </ns1:graphicData>
        </ns1:graphic>
      </ns0:graphicFrame>
      <ns0:grpSp>
        <ns0:nvGrpSpPr>
          <ns0:cNvPr id="76" name="Group 76"/>
          <ns0:cNvGrpSpPr/>
          <ns0:nvPr/>
        </ns0:nvGrpSpPr>
        <ns0:grpSpPr>
          <ns1:xfrm>
            <ns1:off x="9625079" y="7814567"/>
            <ns1:ext cx="8108699" cy="1854203"/>
            <ns1:chOff x="0" y="0"/>
            <ns1:chExt cx="10811599" cy="2472271"/>
          </ns1:xfrm>
        </ns0:grpSpPr>
        <ns0:sp>
          <ns0:nvSpPr>
            <ns0:cNvPr id="77" name="Freeform 77"/>
            <ns0:cNvSpPr/>
            <ns0:nvPr/>
          </ns0:nvSpPr>
          <ns0:spPr>
            <ns1:xfrm>
              <ns1:off x="0" y="0"/>
              <ns1:ext cx="10811510" cy="2472182"/>
            </ns1:xfrm>
            <ns1:custGeom>
              <ns1:avLst/>
              <ns1:gdLst/>
              <ns1:ahLst/>
              <ns1:cxnLst/>
              <ns1:rect l="l" t="t" r="r" b="b"/>
              <ns1:pathLst>
                <ns1:path w="10811510" h="2472182">
                  <ns1:moveTo>
                    <ns1:pt x="0" y="197739"/>
                  </ns1:moveTo>
                  <ns1:cubicBezTo>
                    <ns1:pt x="0" y="88519"/>
                    <ns1:pt x="88519" y="0"/>
                    <ns1:pt x="197739" y="0"/>
                  </ns1:cubicBezTo>
                  <ns1:lnTo>
                    <ns1:pt x="10613771" y="0"/>
                  </ns1:lnTo>
                  <ns1:cubicBezTo>
                    <ns1:pt x="10722990" y="0"/>
                    <ns1:pt x="10811510" y="88519"/>
                    <ns1:pt x="10811510" y="197739"/>
                  </ns1:cubicBezTo>
                  <ns1:lnTo>
                    <ns1:pt x="10811510" y="2274443"/>
                  </ns1:lnTo>
                  <ns1:cubicBezTo>
                    <ns1:pt x="10811510" y="2383663"/>
                    <ns1:pt x="10722990" y="2472182"/>
                    <ns1:pt x="10613771" y="2472182"/>
                  </ns1:cubicBezTo>
                  <ns1:lnTo>
                    <ns1:pt x="197739" y="2472182"/>
                  </ns1:lnTo>
                  <ns1:cubicBezTo>
                    <ns1:pt x="88519" y="2472309"/>
                    <ns1:pt x="0" y="2383663"/>
                    <ns1:pt x="0" y="2274443"/>
                  </ns1:cubicBezTo>
                  <ns1:close/>
                </ns1:path>
              </ns1:pathLst>
            </ns1:custGeom>
            <ns1:solidFill>
              <ns1:srgbClr val="FFF7ED"/>
            </ns1:solidFill>
            <ns1:ln w="25400" cap="sq">
              <ns1:solidFill>
                <ns1:srgbClr val="F59E0B"/>
              </ns1:solidFill>
              <ns1:prstDash val="solid"/>
              <ns1:miter/>
            </ns1:ln>
          </ns0:spPr>
        </ns0:sp>
      </ns0:grpSp>
      <ns0:grpSp>
        <ns0:nvGrpSpPr>
          <ns0:cNvPr id="78" name="Group 78"/>
          <ns0:cNvGrpSpPr/>
          <ns0:nvPr/>
        </ns0:nvGrpSpPr>
        <ns0:grpSpPr>
          <ns1:xfrm>
            <ns1:off x="9875520" y="7936992"/>
            <ns1:ext cx="7589520" cy="1609344"/>
            <ns1:chOff x="0" y="0"/>
            <ns1:chExt cx="10119360" cy="2145792"/>
          </ns1:xfrm>
        </ns0:grpSpPr>
        <ns0:sp>
          <ns0:nvSpPr>
            <ns0:cNvPr id="79" name="Freeform 79"/>
            <ns0:cNvSpPr/>
            <ns0:nvPr/>
          </ns0:nvSpPr>
          <ns0:spPr>
            <ns1:xfrm>
              <ns1:off x="0" y="0"/>
              <ns1:ext cx="10119360" cy="2145792"/>
            </ns1:xfrm>
            <ns1:custGeom>
              <ns1:avLst/>
              <ns1:gdLst/>
              <ns1:ahLst/>
              <ns1:cxnLst/>
              <ns1:rect l="l" t="t" r="r" b="b"/>
              <ns1:pathLst>
                <ns1:path w="10119360" h="2145792">
                  <ns1:moveTo>
                    <ns1:pt x="0" y="0"/>
                  </ns1:moveTo>
                  <ns1:lnTo>
                    <ns1:pt x="10119360" y="0"/>
                  </ns1:lnTo>
                  <ns1:lnTo>
                    <ns1:pt x="10119360" y="2145792"/>
                  </ns1:lnTo>
                  <ns1:lnTo>
                    <ns1:pt x="0" y="2145792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41889" b="-41889"/>
              </ns1:stretch>
            </ns1:blipFill>
          </ns0:spPr>
        </ns0:sp>
        <ns0:sp>
          <ns0:nvSpPr>
            <ns0:cNvPr id="80" name="TextBox 80"/>
            <ns0:cNvSpPr txBox="1"/>
            <ns0:nvPr/>
          </ns0:nvSpPr>
          <ns0:spPr>
            <ns1:xfrm>
              <ns1:off x="0" y="-38100"/>
              <ns1:ext cx="10119360" cy="2183892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400"/>
                </ns1:lnSpc>
              </ns1:pPr>
              <ns1:r>
                <ns1:rPr lang="en-US" sz="2000" b="1">
                  <ns1:solidFill>
                    <ns1:srgbClr val="EA580C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10 fitur akhir berupa nilai mata pelajaran untuk perhitungan K-Means.</ns1:t>
              </ns1:r>
            </ns1:p>
          </ns0:txBody>
        </ns0:sp>
      </ns0:grpSp>
    </ns0:spTree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>
  <ns0:cSld>
    <ns0:bg>
      <ns0:bgPr>
        <ns1:solidFill>
          <ns1:srgbClr val="FFFBF5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id="2" name="Group 2"/>
          <ns0:cNvGrpSpPr/>
          <ns0:nvPr/>
        </ns0:nvGrpSpPr>
        <ns0:grpSpPr>
          <ns1:xfrm>
            <ns1:off x="-12697" y="-12697"/>
            <ns1:ext cx="18313403" cy="1945643"/>
            <ns1:chOff x="0" y="0"/>
            <ns1:chExt cx="24417871" cy="2594191"/>
          </ns1:xfrm>
        </ns0:grpSpPr>
        <ns0:sp>
          <ns0:nvSpPr>
            <ns0:cNvPr id="3" name="Freeform 3"/>
            <ns0:cNvSpPr/>
            <ns0:nvPr/>
          </ns0:nvSpPr>
          <ns0:spPr>
            <ns1:xfrm>
              <ns1:off x="0" y="0"/>
              <ns1:ext cx="24417910" cy="2594229"/>
            </ns1:xfrm>
            <ns1:custGeom>
              <ns1:avLst/>
              <ns1:gdLst/>
              <ns1:ahLst/>
              <ns1:cxnLst/>
              <ns1:rect l="l" t="t" r="r" b="b"/>
              <ns1:pathLst>
                <ns1:path w="24417910" h="2594229">
                  <ns1:moveTo>
                    <ns1:pt x="0" y="0"/>
                  </ns1:moveTo>
                  <ns1:lnTo>
                    <ns1:pt x="24417910" y="0"/>
                  </ns1:lnTo>
                  <ns1:lnTo>
                    <ns1:pt x="24417910" y="2594229"/>
                  </ns1:lnTo>
                  <ns1:lnTo>
                    <ns1:pt x="0" y="2594229"/>
                  </ns1:lnTo>
                  <ns1:close/>
                </ns1:path>
              </ns1:pathLst>
            </ns1:custGeom>
            <ns1:solidFill>
              <ns1:srgbClr val="EA580C"/>
            </ns1:solidFill>
            <ns1:ln w="25400" cap="sq">
              <ns1:solidFill>
                <ns1:srgbClr val="EA580C"/>
              </ns1:solidFill>
              <ns1:prstDash val="solid"/>
              <ns1:miter/>
            </ns1:ln>
          </ns0:spPr>
        </ns0:sp>
      </ns0:grpSp>
      <ns0:grpSp>
        <ns0:nvGrpSpPr>
          <ns0:cNvPr id="4" name="Group 4"/>
          <ns0:cNvGrpSpPr/>
          <ns0:nvPr/>
        </ns0:nvGrpSpPr>
        <ns0:grpSpPr>
          <ns1:xfrm>
            <ns1:off x="-12697" y="-12697"/>
            <ns1:ext cx="354587" cy="1945643"/>
            <ns1:chOff x="0" y="0"/>
            <ns1:chExt cx="472783" cy="2594191"/>
          </ns1:xfrm>
        </ns0:grpSpPr>
        <ns0:sp>
          <ns0:nvSpPr>
            <ns0:cNvPr id="5" name="Freeform 5"/>
            <ns0:cNvSpPr/>
            <ns0:nvPr/>
          </ns0:nvSpPr>
          <ns0:spPr>
            <ns1:xfrm>
              <ns1:off x="0" y="0"/>
              <ns1:ext cx="472821" cy="2594229"/>
            </ns1:xfrm>
            <ns1:custGeom>
              <ns1:avLst/>
              <ns1:gdLst/>
              <ns1:ahLst/>
              <ns1:cxnLst/>
              <ns1:rect l="l" t="t" r="r" b="b"/>
              <ns1:pathLst>
                <ns1:path w="472821" h="2594229">
                  <ns1:moveTo>
                    <ns1:pt x="0" y="0"/>
                  </ns1:moveTo>
                  <ns1:lnTo>
                    <ns1:pt x="472821" y="0"/>
                  </ns1:lnTo>
                  <ns1:lnTo>
                    <ns1:pt x="472821" y="2594229"/>
                  </ns1:lnTo>
                  <ns1:lnTo>
                    <ns1:pt x="0" y="2594229"/>
                  </ns1:lnTo>
                  <ns1:close/>
                </ns1:path>
              </ns1:pathLst>
            </ns1:custGeom>
            <ns1:solidFill>
              <ns1:srgbClr val="FBBF24"/>
            </ns1:solidFill>
            <ns1:ln w="25400" cap="sq">
              <ns1:solidFill>
                <ns1:srgbClr val="FBBF24"/>
              </ns1:solidFill>
              <ns1:prstDash val="solid"/>
              <ns1:miter/>
            </ns1:ln>
          </ns0:spPr>
        </ns0:sp>
      </ns0:grpSp>
      <ns0:grpSp>
        <ns0:nvGrpSpPr>
          <ns0:cNvPr id="6" name="Group 6"/>
          <ns0:cNvGrpSpPr/>
          <ns0:nvPr/>
        </ns0:nvGrpSpPr>
        <ns0:grpSpPr>
          <ns1:xfrm>
            <ns1:off x="694944" y="0"/>
            <ns1:ext cx="17007840" cy="1920240"/>
            <ns1:chOff x="0" y="0"/>
            <ns1:chExt cx="22677120" cy="2560320"/>
          </ns1:xfrm>
        </ns0:grpSpPr>
        <ns0:sp>
          <ns0:nvSpPr>
            <ns0:cNvPr id="7" name="Freeform 7"/>
            <ns0:cNvSpPr/>
            <ns0:nvPr/>
          </ns0:nvSpPr>
          <ns0:spPr>
            <ns1:xfrm>
              <ns1:off x="0" y="0"/>
              <ns1:ext cx="22677120" cy="2560320"/>
            </ns1:xfrm>
            <ns1:custGeom>
              <ns1:avLst/>
              <ns1:gdLst/>
              <ns1:ahLst/>
              <ns1:cxnLst/>
              <ns1:rect l="l" t="t" r="r" b="b"/>
              <ns1:pathLst>
                <ns1:path w="22677120" h="2560320">
                  <ns1:moveTo>
                    <ns1:pt x="0" y="0"/>
                  </ns1:moveTo>
                  <ns1:lnTo>
                    <ns1:pt x="22677120" y="0"/>
                  </ns1:lnTo>
                  <ns1:lnTo>
                    <ns1:pt x="22677120" y="2560320"/>
                  </ns1:lnTo>
                  <ns1:lnTo>
                    <ns1:pt x="0" y="256032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122581" b="-122581"/>
              </ns1:stretch>
            </ns1:blipFill>
          </ns0:spPr>
        </ns0:sp>
        <ns0:sp>
          <ns0:nvSpPr>
            <ns0:cNvPr id="8" name="TextBox 8"/>
            <ns0:cNvSpPr txBox="1"/>
            <ns0:nvPr/>
          </ns0:nvSpPr>
          <ns0:spPr>
            <ns1:xfrm>
              <ns1:off x="0" y="-76200"/>
              <ns1:ext cx="22677120" cy="2636520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5280"/>
                </ns1:lnSpc>
              </ns1:pPr>
              <ns1:r>
                <ns1:rPr lang="en-US" sz="4400" b="1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Data Preparation</ns1:t>
              </ns1:r>
            </ns1:p>
          </ns0:txBody>
        </ns0:sp>
      </ns0:grpSp>
      <ns0:grpSp>
        <ns0:nvGrpSpPr>
          <ns0:cNvPr id="9" name="Group 9"/>
          <ns0:cNvGrpSpPr/>
          <ns0:nvPr/>
        </ns0:nvGrpSpPr>
        <ns0:grpSpPr>
          <ns1:xfrm>
            <ns1:off x="535943" y="2218439"/>
            <ns1:ext cx="5603243" cy="7614923"/>
            <ns1:chOff x="0" y="0"/>
            <ns1:chExt cx="7470991" cy="10153231"/>
          </ns1:xfrm>
        </ns0:grpSpPr>
        <ns0:sp>
          <ns0:nvSpPr>
            <ns0:cNvPr id="10" name="Freeform 10"/>
            <ns0:cNvSpPr/>
            <ns0:nvPr/>
          </ns0:nvSpPr>
          <ns0:spPr>
            <ns1:xfrm>
              <ns1:off x="0" y="0"/>
              <ns1:ext cx="7470902" cy="10153142"/>
            </ns1:xfrm>
            <ns1:custGeom>
              <ns1:avLst/>
              <ns1:gdLst/>
              <ns1:ahLst/>
              <ns1:cxnLst/>
              <ns1:rect l="l" t="t" r="r" b="b"/>
              <ns1:pathLst>
                <ns1:path w="7470902" h="10153142">
                  <ns1:moveTo>
                    <ns1:pt x="0" y="293878"/>
                  </ns1:moveTo>
                  <ns1:cubicBezTo>
                    <ns1:pt x="0" y="131572"/>
                    <ns1:pt x="131572" y="0"/>
                    <ns1:pt x="293878" y="0"/>
                  </ns1:cubicBezTo>
                  <ns1:lnTo>
                    <ns1:pt x="7177024" y="0"/>
                  </ns1:lnTo>
                  <ns1:cubicBezTo>
                    <ns1:pt x="7339330" y="0"/>
                    <ns1:pt x="7470902" y="131572"/>
                    <ns1:pt x="7470902" y="293878"/>
                  </ns1:cubicBezTo>
                  <ns1:lnTo>
                    <ns1:pt x="7470902" y="9859264"/>
                  </ns1:lnTo>
                  <ns1:cubicBezTo>
                    <ns1:pt x="7470902" y="10021570"/>
                    <ns1:pt x="7339330" y="10153142"/>
                    <ns1:pt x="7177024" y="10153142"/>
                  </ns1:cubicBezTo>
                  <ns1:lnTo>
                    <ns1:pt x="293878" y="10153142"/>
                  </ns1:lnTo>
                  <ns1:cubicBezTo>
                    <ns1:pt x="131572" y="10153269"/>
                    <ns1:pt x="0" y="10021697"/>
                    <ns1:pt x="0" y="9859264"/>
                  </ns1:cubicBezTo>
                  <ns1:close/>
                </ns1:path>
              </ns1:pathLst>
            </ns1:custGeom>
            <ns1:solidFill>
              <ns1:srgbClr val="FFFFFF"/>
            </ns1:solidFill>
            <ns1:ln w="25400" cap="sq">
              <ns1:solidFill>
                <ns1:srgbClr val="FED7AA"/>
              </ns1:solidFill>
              <ns1:prstDash val="solid"/>
              <ns1:miter/>
            </ns1:ln>
          </ns0:spPr>
        </ns0:sp>
      </ns0:grpSp>
      <ns0:grpSp>
        <ns0:nvGrpSpPr>
          <ns0:cNvPr id="11" name="Group 11"/>
          <ns0:cNvGrpSpPr/>
          <ns0:nvPr/>
        </ns0:nvGrpSpPr>
        <ns0:grpSpPr>
          <ns1:xfrm>
            <ns1:off x="535943" y="2218439"/>
            <ns1:ext cx="5603243" cy="1397003"/>
            <ns1:chOff x="0" y="0"/>
            <ns1:chExt cx="7470991" cy="1862671"/>
          </ns1:xfrm>
        </ns0:grpSpPr>
        <ns0:sp>
          <ns0:nvSpPr>
            <ns0:cNvPr id="12" name="Freeform 12"/>
            <ns0:cNvSpPr/>
            <ns0:nvPr/>
          </ns0:nvSpPr>
          <ns0:spPr>
            <ns1:xfrm>
              <ns1:off x="0" y="0"/>
              <ns1:ext cx="7471028" cy="1862709"/>
            </ns1:xfrm>
            <ns1:custGeom>
              <ns1:avLst/>
              <ns1:gdLst/>
              <ns1:ahLst/>
              <ns1:cxnLst/>
              <ns1:rect l="l" t="t" r="r" b="b"/>
              <ns1:pathLst>
                <ns1:path w="7471028" h="1862709">
                  <ns1:moveTo>
                    <ns1:pt x="0" y="298069"/>
                  </ns1:moveTo>
                  <ns1:cubicBezTo>
                    <ns1:pt x="0" y="133477"/>
                    <ns1:pt x="133477" y="0"/>
                    <ns1:pt x="298069" y="0"/>
                  </ns1:cubicBezTo>
                  <ns1:lnTo>
                    <ns1:pt x="7172960" y="0"/>
                  </ns1:lnTo>
                  <ns1:cubicBezTo>
                    <ns1:pt x="7337552" y="0"/>
                    <ns1:pt x="7471028" y="133477"/>
                    <ns1:pt x="7471028" y="298069"/>
                  </ns1:cubicBezTo>
                  <ns1:lnTo>
                    <ns1:pt x="7471028" y="1564640"/>
                  </ns1:lnTo>
                  <ns1:cubicBezTo>
                    <ns1:pt x="7471028" y="1729232"/>
                    <ns1:pt x="7337552" y="1862709"/>
                    <ns1:pt x="7172960" y="1862709"/>
                  </ns1:cubicBezTo>
                  <ns1:lnTo>
                    <ns1:pt x="298069" y="1862709"/>
                  </ns1:lnTo>
                  <ns1:cubicBezTo>
                    <ns1:pt x="133477" y="1862709"/>
                    <ns1:pt x="0" y="1729232"/>
                    <ns1:pt x="0" y="1564640"/>
                  </ns1:cubicBezTo>
                  <ns1:close/>
                </ns1:path>
              </ns1:pathLst>
            </ns1:custGeom>
            <ns1:solidFill>
              <ns1:srgbClr val="F97316"/>
            </ns1:solidFill>
            <ns1:ln w="25400" cap="sq">
              <ns1:solidFill>
                <ns1:srgbClr val="F97316"/>
              </ns1:solidFill>
              <ns1:prstDash val="solid"/>
              <ns1:miter/>
            </ns1:ln>
          </ns0:spPr>
        </ns0:sp>
      </ns0:grpSp>
      <ns0:grpSp>
        <ns0:nvGrpSpPr>
          <ns0:cNvPr id="13" name="Group 13"/>
          <ns0:cNvGrpSpPr/>
          <ns0:nvPr/>
        </ns0:nvGrpSpPr>
        <ns0:grpSpPr>
          <ns1:xfrm>
            <ns1:off x="535943" y="3004823"/>
            <ns1:ext cx="5603243" cy="610619"/>
            <ns1:chOff x="0" y="0"/>
            <ns1:chExt cx="7470991" cy="814159"/>
          </ns1:xfrm>
        </ns0:grpSpPr>
        <ns0:sp>
          <ns0:nvSpPr>
            <ns0:cNvPr id="14" name="Freeform 14"/>
            <ns0:cNvSpPr/>
            <ns0:nvPr/>
          </ns0:nvSpPr>
          <ns0:spPr>
            <ns1:xfrm>
              <ns1:off x="0" y="0"/>
              <ns1:ext cx="7471029" cy="814197"/>
            </ns1:xfrm>
            <ns1:custGeom>
              <ns1:avLst/>
              <ns1:gdLst/>
              <ns1:ahLst/>
              <ns1:cxnLst/>
              <ns1:rect l="l" t="t" r="r" b="b"/>
              <ns1:pathLst>
                <ns1:path w="7471029" h="814197">
                  <ns1:moveTo>
                    <ns1:pt x="0" y="0"/>
                  </ns1:moveTo>
                  <ns1:lnTo>
                    <ns1:pt x="7471029" y="0"/>
                  </ns1:lnTo>
                  <ns1:lnTo>
                    <ns1:pt x="7471029" y="814197"/>
                  </ns1:lnTo>
                  <ns1:lnTo>
                    <ns1:pt x="0" y="814197"/>
                  </ns1:lnTo>
                  <ns1:close/>
                </ns1:path>
              </ns1:pathLst>
            </ns1:custGeom>
            <ns1:solidFill>
              <ns1:srgbClr val="F97316"/>
            </ns1:solidFill>
            <ns1:ln w="25400" cap="sq">
              <ns1:solidFill>
                <ns1:srgbClr val="F97316"/>
              </ns1:solidFill>
              <ns1:prstDash val="solid"/>
              <ns1:miter/>
            </ns1:ln>
          </ns0:spPr>
        </ns0:sp>
      </ns0:grpSp>
      <ns0:grpSp>
        <ns0:nvGrpSpPr>
          <ns0:cNvPr id="15" name="Group 15"/>
          <ns0:cNvGrpSpPr/>
          <ns0:nvPr/>
        </ns0:nvGrpSpPr>
        <ns0:grpSpPr>
          <ns1:xfrm>
            <ns1:off x="2776223" y="2328167"/>
            <ns1:ext cx="1122683" cy="1122683"/>
            <ns1:chOff x="0" y="0"/>
            <ns1:chExt cx="1496911" cy="1496911"/>
          </ns1:xfrm>
        </ns0:grpSpPr>
        <ns0:sp>
          <ns0:nvSpPr>
            <ns0:cNvPr id="16" name="Freeform 16"/>
            <ns0:cNvSpPr/>
            <ns0:nvPr/>
          </ns0:nvSpPr>
          <ns0:spPr>
            <ns1:xfrm>
              <ns1:off x="0" y="0"/>
              <ns1:ext cx="1496822" cy="1496822"/>
            </ns1:xfrm>
            <ns1:custGeom>
              <ns1:avLst/>
              <ns1:gdLst/>
              <ns1:ahLst/>
              <ns1:cxnLst/>
              <ns1:rect l="l" t="t" r="r" b="b"/>
              <ns1:pathLst>
                <ns1:path w="1496822" h="1496822">
                  <ns1:moveTo>
                    <ns1:pt x="0" y="748411"/>
                  </ns1:moveTo>
                  <ns1:cubicBezTo>
                    <ns1:pt x="0" y="335153"/>
                    <ns1:pt x="335153" y="0"/>
                    <ns1:pt x="748411" y="0"/>
                  </ns1:cubicBezTo>
                  <ns1:cubicBezTo>
                    <ns1:pt x="1161669" y="0"/>
                    <ns1:pt x="1496822" y="335153"/>
                    <ns1:pt x="1496822" y="748411"/>
                  </ns1:cubicBezTo>
                  <ns1:cubicBezTo>
                    <ns1:pt x="1496822" y="1161669"/>
                    <ns1:pt x="1161669" y="1496822"/>
                    <ns1:pt x="748411" y="1496822"/>
                  </ns1:cubicBezTo>
                  <ns1:cubicBezTo>
                    <ns1:pt x="335153" y="1496822"/>
                    <ns1:pt x="0" y="1161796"/>
                    <ns1:pt x="0" y="748411"/>
                  </ns1:cubicBezTo>
                  <ns1:close/>
                </ns1:path>
              </ns1:pathLst>
            </ns1:custGeom>
            <ns1:solidFill>
              <ns1:srgbClr val="FFFFFF">
                <ns1:alpha val="63922"/>
              </ns1:srgbClr>
            </ns1:solidFill>
            <ns1:ln w="25400" cap="sq">
              <ns1:solidFill>
                <ns1:srgbClr val="FFFFFF"/>
              </ns1:solidFill>
              <ns1:prstDash val="solid"/>
              <ns1:miter/>
            </ns1:ln>
          </ns0:spPr>
        </ns0:sp>
      </ns0:grpSp>
      <ns0:grpSp>
        <ns0:nvGrpSpPr>
          <ns0:cNvPr id="17" name="Group 17"/>
          <ns0:cNvGrpSpPr/>
          <ns0:nvPr/>
        </ns0:nvGrpSpPr>
        <ns0:grpSpPr>
          <ns1:xfrm>
            <ns1:off x="2788920" y="2340864"/>
            <ns1:ext cx="1097280" cy="1097280"/>
            <ns1:chOff x="0" y="0"/>
            <ns1:chExt cx="1463040" cy="1463040"/>
          </ns1:xfrm>
        </ns0:grpSpPr>
        <ns0:sp>
          <ns0:nvSpPr>
            <ns0:cNvPr id="18" name="Freeform 18"/>
            <ns0:cNvSpPr/>
            <ns0:nvPr/>
          </ns0:nvSpPr>
          <ns0:spPr>
            <ns1:xfrm>
              <ns1:off x="0" y="0"/>
              <ns1:ext cx="1463040" cy="1463040"/>
            </ns1:xfrm>
            <ns1:custGeom>
              <ns1:avLst/>
              <ns1:gdLst/>
              <ns1:ahLst/>
              <ns1:cxnLst/>
              <ns1:rect l="l" t="t" r="r" b="b"/>
              <ns1:pathLst>
                <ns1:path w="1463040" h="1463040">
                  <ns1:moveTo>
                    <ns1:pt x="0" y="0"/>
                  </ns1:moveTo>
                  <ns1:lnTo>
                    <ns1:pt x="1463040" y="0"/>
                  </ns1:lnTo>
                  <ns1:lnTo>
                    <ns1:pt x="1463040" y="1463040"/>
                  </ns1:lnTo>
                  <ns1:lnTo>
                    <ns1:pt x="0" y="146304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78303" r="-78303"/>
              </ns1:stretch>
            </ns1:blipFill>
          </ns0:spPr>
        </ns0:sp>
        <ns0:sp>
          <ns0:nvSpPr>
            <ns0:cNvPr id="19" name="TextBox 19"/>
            <ns0:cNvSpPr txBox="1"/>
            <ns0:nvPr/>
          </ns0:nvSpPr>
          <ns0:spPr>
            <ns1:xfrm>
              <ns1:off x="0" y="-76200"/>
              <ns1:ext cx="1463040" cy="1539240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ctr">
                <ns1:lnSpc>
                  <ns1:spcPts val="5280"/>
                </ns1:lnSpc>
              </ns1:pPr>
              <ns1:r>
                <ns1:rPr lang="en-US" sz="4400" b="1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1</ns1:t>
              </ns1:r>
            </ns1:p>
          </ns0:txBody>
        </ns0:sp>
      </ns0:grpSp>
      <ns0:grpSp>
        <ns0:nvGrpSpPr>
          <ns0:cNvPr id="20" name="Group 20"/>
          <ns0:cNvGrpSpPr/>
          <ns0:nvPr/>
        </ns0:nvGrpSpPr>
        <ns0:grpSpPr>
          <ns1:xfrm>
            <ns1:off x="731520" y="3749040"/>
            <ns1:ext cx="5212080" cy="658368"/>
            <ns1:chOff x="0" y="0"/>
            <ns1:chExt cx="6949440" cy="877824"/>
          </ns1:xfrm>
        </ns0:grpSpPr>
        <ns0:sp>
          <ns0:nvSpPr>
            <ns0:cNvPr id="21" name="Freeform 21"/>
            <ns0:cNvSpPr/>
            <ns0:nvPr/>
          </ns0:nvSpPr>
          <ns0:spPr>
            <ns1:xfrm>
              <ns1:off x="0" y="0"/>
              <ns1:ext cx="6949440" cy="877824"/>
            </ns1:xfrm>
            <ns1:custGeom>
              <ns1:avLst/>
              <ns1:gdLst/>
              <ns1:ahLst/>
              <ns1:cxnLst/>
              <ns1:rect l="l" t="t" r="r" b="b"/>
              <ns1:pathLst>
                <ns1:path w="6949440" h="877824">
                  <ns1:moveTo>
                    <ns1:pt x="0" y="0"/>
                  </ns1:moveTo>
                  <ns1:lnTo>
                    <ns1:pt x="6949440" y="0"/>
                  </ns1:lnTo>
                  <ns1:lnTo>
                    <ns1:pt x="6949440" y="877824"/>
                  </ns1:lnTo>
                  <ns1:lnTo>
                    <ns1:pt x="0" y="877824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104256" b="-104256"/>
              </ns1:stretch>
            </ns1:blipFill>
          </ns0:spPr>
        </ns0:sp>
        <ns0:sp>
          <ns0:nvSpPr>
            <ns0:cNvPr id="22" name="TextBox 22"/>
            <ns0:cNvSpPr txBox="1"/>
            <ns0:nvPr/>
          </ns0:nvSpPr>
          <ns0:spPr>
            <ns1:xfrm>
              <ns1:off x="0" y="-57150"/>
              <ns1:ext cx="6949440" cy="934974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ctr">
                <ns1:lnSpc>
                  <ns1:spcPts val="3120"/>
                </ns1:lnSpc>
              </ns1:pPr>
              <ns1:r>
                <ns1:rPr lang="en-US" sz="2600" b="1">
                  <ns1:solidFill>
                    <ns1:srgbClr val="F97316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Data Cleaning</ns1:t>
              </ns1:r>
            </ns1:p>
          </ns0:txBody>
        </ns0:sp>
      </ns0:grpSp>
      <ns0:grpSp>
        <ns0:nvGrpSpPr>
          <ns0:cNvPr id="23" name="Group 23"/>
          <ns0:cNvGrpSpPr/>
          <ns0:nvPr/>
        </ns0:nvGrpSpPr>
        <ns0:grpSpPr>
          <ns1:xfrm>
            <ns1:off x="791975" y="4559303"/>
            <ns1:ext cx="5091179" cy="1159259"/>
            <ns1:chOff x="0" y="0"/>
            <ns1:chExt cx="6788239" cy="1545679"/>
          </ns1:xfrm>
        </ns0:grpSpPr>
        <ns0:sp>
          <ns0:nvSpPr>
            <ns0:cNvPr id="24" name="Freeform 24"/>
            <ns0:cNvSpPr/>
            <ns0:nvPr/>
          </ns0:nvSpPr>
          <ns0:spPr>
            <ns1:xfrm>
              <ns1:off x="0" y="0"/>
              <ns1:ext cx="6788277" cy="1545717"/>
            </ns1:xfrm>
            <ns1:custGeom>
              <ns1:avLst/>
              <ns1:gdLst/>
              <ns1:ahLst/>
              <ns1:cxnLst/>
              <ns1:rect l="l" t="t" r="r" b="b"/>
              <ns1:pathLst>
                <ns1:path w="6788277" h="1545717">
                  <ns1:moveTo>
                    <ns1:pt x="0" y="149606"/>
                  </ns1:moveTo>
                  <ns1:cubicBezTo>
                    <ns1:pt x="0" y="66929"/>
                    <ns1:pt x="66929" y="0"/>
                    <ns1:pt x="149606" y="0"/>
                  </ns1:cubicBezTo>
                  <ns1:lnTo>
                    <ns1:pt x="6638671" y="0"/>
                  </ns1:lnTo>
                  <ns1:cubicBezTo>
                    <ns1:pt x="6721221" y="0"/>
                    <ns1:pt x="6788277" y="66929"/>
                    <ns1:pt x="6788277" y="149606"/>
                  </ns1:cubicBezTo>
                  <ns1:lnTo>
                    <ns1:pt x="6788277" y="1396111"/>
                  </ns1:lnTo>
                  <ns1:cubicBezTo>
                    <ns1:pt x="6788277" y="1478661"/>
                    <ns1:pt x="6721348" y="1545717"/>
                    <ns1:pt x="6638671" y="1545717"/>
                  </ns1:cubicBezTo>
                  <ns1:lnTo>
                    <ns1:pt x="149606" y="1545717"/>
                  </ns1:lnTo>
                  <ns1:cubicBezTo>
                    <ns1:pt x="66929" y="1545717"/>
                    <ns1:pt x="0" y="1478661"/>
                    <ns1:pt x="0" y="1396111"/>
                  </ns1:cubicBezTo>
                  <ns1:close/>
                </ns1:path>
              </ns1:pathLst>
            </ns1:custGeom>
            <ns1:solidFill>
              <ns1:srgbClr val="FFF7ED"/>
            </ns1:solidFill>
            <ns1:ln w="25400" cap="sq">
              <ns1:solidFill>
                <ns1:srgbClr val="FED7AA"/>
              </ns1:solidFill>
              <ns1:prstDash val="solid"/>
              <ns1:miter/>
            </ns1:ln>
          </ns0:spPr>
        </ns0:sp>
      </ns0:grpSp>
      <ns0:grpSp>
        <ns0:nvGrpSpPr>
          <ns0:cNvPr id="25" name="Group 25"/>
          <ns0:cNvGrpSpPr/>
          <ns0:nvPr/>
        </ns0:nvGrpSpPr>
        <ns0:grpSpPr>
          <ns1:xfrm>
            <ns1:off x="987552" y="4681728"/>
            <ns1:ext cx="4700016" cy="914400"/>
            <ns1:chOff x="0" y="0"/>
            <ns1:chExt cx="6266688" cy="1219200"/>
          </ns1:xfrm>
        </ns0:grpSpPr>
        <ns0:sp>
          <ns0:nvSpPr>
            <ns0:cNvPr id="26" name="Freeform 26"/>
            <ns0:cNvSpPr/>
            <ns0:nvPr/>
          </ns0:nvSpPr>
          <ns0:spPr>
            <ns1:xfrm>
              <ns1:off x="0" y="0"/>
              <ns1:ext cx="6266688" cy="1219200"/>
            </ns1:xfrm>
            <ns1:custGeom>
              <ns1:avLst/>
              <ns1:gdLst/>
              <ns1:ahLst/>
              <ns1:cxnLst/>
              <ns1:rect l="l" t="t" r="r" b="b"/>
              <ns1:pathLst>
                <ns1:path w="6266688" h="1219200">
                  <ns1:moveTo>
                    <ns1:pt x="0" y="0"/>
                  </ns1:moveTo>
                  <ns1:lnTo>
                    <ns1:pt x="6266688" y="0"/>
                  </ns1:lnTo>
                  <ns1:lnTo>
                    <ns1:pt x="6266688" y="1219200"/>
                  </ns1:lnTo>
                  <ns1:lnTo>
                    <ns1:pt x="0" y="121920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50153" b="-50153"/>
              </ns1:stretch>
            </ns1:blipFill>
          </ns0:spPr>
        </ns0:sp>
        <ns0:sp>
          <ns0:nvSpPr>
            <ns0:cNvPr id="27" name="TextBox 27"/>
            <ns0:cNvSpPr txBox="1"/>
            <ns0:nvPr/>
          </ns0:nvSpPr>
          <ns0:spPr>
            <ns1:xfrm>
              <ns1:off x="0" y="-38100"/>
              <ns1:ext cx="6266688" cy="1257300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280"/>
                </ns1:lnSpc>
              </ns1:pPr>
              <ns1:r>
                <ns1:rPr lang="en-US" sz="1900">
                  <ns1:solidFill>
                    <ns1:srgbClr val="44403C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Bersihkan spasi dan format data</ns1:t>
              </ns1:r>
            </ns1:p>
          </ns0:txBody>
        </ns0:sp>
      </ns0:grpSp>
      <ns0:grpSp>
        <ns0:nvGrpSpPr>
          <ns0:cNvPr id="28" name="Group 28"/>
          <ns0:cNvGrpSpPr/>
          <ns0:nvPr/>
        </ns0:nvGrpSpPr>
        <ns0:grpSpPr>
          <ns1:xfrm>
            <ns1:off x="791975" y="5839463"/>
            <ns1:ext cx="5091179" cy="1159259"/>
            <ns1:chOff x="0" y="0"/>
            <ns1:chExt cx="6788239" cy="1545679"/>
          </ns1:xfrm>
        </ns0:grpSpPr>
        <ns0:sp>
          <ns0:nvSpPr>
            <ns0:cNvPr id="29" name="Freeform 29"/>
            <ns0:cNvSpPr/>
            <ns0:nvPr/>
          </ns0:nvSpPr>
          <ns0:spPr>
            <ns1:xfrm>
              <ns1:off x="0" y="0"/>
              <ns1:ext cx="6788277" cy="1545717"/>
            </ns1:xfrm>
            <ns1:custGeom>
              <ns1:avLst/>
              <ns1:gdLst/>
              <ns1:ahLst/>
              <ns1:cxnLst/>
              <ns1:rect l="l" t="t" r="r" b="b"/>
              <ns1:pathLst>
                <ns1:path w="6788277" h="1545717">
                  <ns1:moveTo>
                    <ns1:pt x="0" y="149606"/>
                  </ns1:moveTo>
                  <ns1:cubicBezTo>
                    <ns1:pt x="0" y="66929"/>
                    <ns1:pt x="66929" y="0"/>
                    <ns1:pt x="149606" y="0"/>
                  </ns1:cubicBezTo>
                  <ns1:lnTo>
                    <ns1:pt x="6638671" y="0"/>
                  </ns1:lnTo>
                  <ns1:cubicBezTo>
                    <ns1:pt x="6721221" y="0"/>
                    <ns1:pt x="6788277" y="66929"/>
                    <ns1:pt x="6788277" y="149606"/>
                  </ns1:cubicBezTo>
                  <ns1:lnTo>
                    <ns1:pt x="6788277" y="1396111"/>
                  </ns1:lnTo>
                  <ns1:cubicBezTo>
                    <ns1:pt x="6788277" y="1478661"/>
                    <ns1:pt x="6721348" y="1545717"/>
                    <ns1:pt x="6638671" y="1545717"/>
                  </ns1:cubicBezTo>
                  <ns1:lnTo>
                    <ns1:pt x="149606" y="1545717"/>
                  </ns1:lnTo>
                  <ns1:cubicBezTo>
                    <ns1:pt x="66929" y="1545717"/>
                    <ns1:pt x="0" y="1478661"/>
                    <ns1:pt x="0" y="1396111"/>
                  </ns1:cubicBezTo>
                  <ns1:close/>
                </ns1:path>
              </ns1:pathLst>
            </ns1:custGeom>
            <ns1:solidFill>
              <ns1:srgbClr val="FFF7ED"/>
            </ns1:solidFill>
            <ns1:ln w="25400" cap="sq">
              <ns1:solidFill>
                <ns1:srgbClr val="FED7AA"/>
              </ns1:solidFill>
              <ns1:prstDash val="solid"/>
              <ns1:miter/>
            </ns1:ln>
          </ns0:spPr>
        </ns0:sp>
      </ns0:grpSp>
      <ns0:grpSp>
        <ns0:nvGrpSpPr>
          <ns0:cNvPr id="30" name="Group 30"/>
          <ns0:cNvGrpSpPr/>
          <ns0:nvPr/>
        </ns0:nvGrpSpPr>
        <ns0:grpSpPr>
          <ns1:xfrm>
            <ns1:off x="987552" y="5961888"/>
            <ns1:ext cx="4700016" cy="914400"/>
            <ns1:chOff x="0" y="0"/>
            <ns1:chExt cx="6266688" cy="1219200"/>
          </ns1:xfrm>
        </ns0:grpSpPr>
        <ns0:sp>
          <ns0:nvSpPr>
            <ns0:cNvPr id="31" name="Freeform 31"/>
            <ns0:cNvSpPr/>
            <ns0:nvPr/>
          </ns0:nvSpPr>
          <ns0:spPr>
            <ns1:xfrm>
              <ns1:off x="0" y="0"/>
              <ns1:ext cx="6266688" cy="1219200"/>
            </ns1:xfrm>
            <ns1:custGeom>
              <ns1:avLst/>
              <ns1:gdLst/>
              <ns1:ahLst/>
              <ns1:cxnLst/>
              <ns1:rect l="l" t="t" r="r" b="b"/>
              <ns1:pathLst>
                <ns1:path w="6266688" h="1219200">
                  <ns1:moveTo>
                    <ns1:pt x="0" y="0"/>
                  </ns1:moveTo>
                  <ns1:lnTo>
                    <ns1:pt x="6266688" y="0"/>
                  </ns1:lnTo>
                  <ns1:lnTo>
                    <ns1:pt x="6266688" y="1219200"/>
                  </ns1:lnTo>
                  <ns1:lnTo>
                    <ns1:pt x="0" y="121920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50153" b="-50153"/>
              </ns1:stretch>
            </ns1:blipFill>
          </ns0:spPr>
        </ns0:sp>
        <ns0:sp>
          <ns0:nvSpPr>
            <ns0:cNvPr id="32" name="TextBox 32"/>
            <ns0:cNvSpPr txBox="1"/>
            <ns0:nvPr/>
          </ns0:nvSpPr>
          <ns0:spPr>
            <ns1:xfrm>
              <ns1:off x="0" y="-38100"/>
              <ns1:ext cx="6266688" cy="1257300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280"/>
                </ns1:lnSpc>
              </ns1:pPr>
              <ns1:r>
                <ns1:rPr lang="en-US" sz="1900">
                  <ns1:solidFill>
                    <ns1:srgbClr val="44403C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Validasi NIS dan nama siswa</ns1:t>
              </ns1:r>
            </ns1:p>
          </ns0:txBody>
        </ns0:sp>
      </ns0:grpSp>
      <ns0:grpSp>
        <ns0:nvGrpSpPr>
          <ns0:cNvPr id="33" name="Group 33"/>
          <ns0:cNvGrpSpPr/>
          <ns0:nvPr/>
        </ns0:nvGrpSpPr>
        <ns0:grpSpPr>
          <ns1:xfrm>
            <ns1:off x="791975" y="7119623"/>
            <ns1:ext cx="5091179" cy="1159259"/>
            <ns1:chOff x="0" y="0"/>
            <ns1:chExt cx="6788239" cy="1545679"/>
          </ns1:xfrm>
        </ns0:grpSpPr>
        <ns0:sp>
          <ns0:nvSpPr>
            <ns0:cNvPr id="34" name="Freeform 34"/>
            <ns0:cNvSpPr/>
            <ns0:nvPr/>
          </ns0:nvSpPr>
          <ns0:spPr>
            <ns1:xfrm>
              <ns1:off x="0" y="0"/>
              <ns1:ext cx="6788277" cy="1545717"/>
            </ns1:xfrm>
            <ns1:custGeom>
              <ns1:avLst/>
              <ns1:gdLst/>
              <ns1:ahLst/>
              <ns1:cxnLst/>
              <ns1:rect l="l" t="t" r="r" b="b"/>
              <ns1:pathLst>
                <ns1:path w="6788277" h="1545717">
                  <ns1:moveTo>
                    <ns1:pt x="0" y="149606"/>
                  </ns1:moveTo>
                  <ns1:cubicBezTo>
                    <ns1:pt x="0" y="66929"/>
                    <ns1:pt x="66929" y="0"/>
                    <ns1:pt x="149606" y="0"/>
                  </ns1:cubicBezTo>
                  <ns1:lnTo>
                    <ns1:pt x="6638671" y="0"/>
                  </ns1:lnTo>
                  <ns1:cubicBezTo>
                    <ns1:pt x="6721221" y="0"/>
                    <ns1:pt x="6788277" y="66929"/>
                    <ns1:pt x="6788277" y="149606"/>
                  </ns1:cubicBezTo>
                  <ns1:lnTo>
                    <ns1:pt x="6788277" y="1396111"/>
                  </ns1:lnTo>
                  <ns1:cubicBezTo>
                    <ns1:pt x="6788277" y="1478661"/>
                    <ns1:pt x="6721348" y="1545717"/>
                    <ns1:pt x="6638671" y="1545717"/>
                  </ns1:cubicBezTo>
                  <ns1:lnTo>
                    <ns1:pt x="149606" y="1545717"/>
                  </ns1:lnTo>
                  <ns1:cubicBezTo>
                    <ns1:pt x="66929" y="1545717"/>
                    <ns1:pt x="0" y="1478661"/>
                    <ns1:pt x="0" y="1396111"/>
                  </ns1:cubicBezTo>
                  <ns1:close/>
                </ns1:path>
              </ns1:pathLst>
            </ns1:custGeom>
            <ns1:solidFill>
              <ns1:srgbClr val="FFF7ED"/>
            </ns1:solidFill>
            <ns1:ln w="25400" cap="sq">
              <ns1:solidFill>
                <ns1:srgbClr val="FED7AA"/>
              </ns1:solidFill>
              <ns1:prstDash val="solid"/>
              <ns1:miter/>
            </ns1:ln>
          </ns0:spPr>
        </ns0:sp>
      </ns0:grpSp>
      <ns0:grpSp>
        <ns0:nvGrpSpPr>
          <ns0:cNvPr id="35" name="Group 35"/>
          <ns0:cNvGrpSpPr/>
          <ns0:nvPr/>
        </ns0:nvGrpSpPr>
        <ns0:grpSpPr>
          <ns1:xfrm>
            <ns1:off x="987552" y="7242048"/>
            <ns1:ext cx="4700016" cy="914400"/>
            <ns1:chOff x="0" y="0"/>
            <ns1:chExt cx="6266688" cy="1219200"/>
          </ns1:xfrm>
        </ns0:grpSpPr>
        <ns0:sp>
          <ns0:nvSpPr>
            <ns0:cNvPr id="36" name="Freeform 36"/>
            <ns0:cNvSpPr/>
            <ns0:nvPr/>
          </ns0:nvSpPr>
          <ns0:spPr>
            <ns1:xfrm>
              <ns1:off x="0" y="0"/>
              <ns1:ext cx="6266688" cy="1219200"/>
            </ns1:xfrm>
            <ns1:custGeom>
              <ns1:avLst/>
              <ns1:gdLst/>
              <ns1:ahLst/>
              <ns1:cxnLst/>
              <ns1:rect l="l" t="t" r="r" b="b"/>
              <ns1:pathLst>
                <ns1:path w="6266688" h="1219200">
                  <ns1:moveTo>
                    <ns1:pt x="0" y="0"/>
                  </ns1:moveTo>
                  <ns1:lnTo>
                    <ns1:pt x="6266688" y="0"/>
                  </ns1:lnTo>
                  <ns1:lnTo>
                    <ns1:pt x="6266688" y="1219200"/>
                  </ns1:lnTo>
                  <ns1:lnTo>
                    <ns1:pt x="0" y="121920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50153" b="-50153"/>
              </ns1:stretch>
            </ns1:blipFill>
          </ns0:spPr>
        </ns0:sp>
        <ns0:sp>
          <ns0:nvSpPr>
            <ns0:cNvPr id="37" name="TextBox 37"/>
            <ns0:cNvSpPr txBox="1"/>
            <ns0:nvPr/>
          </ns0:nvSpPr>
          <ns0:spPr>
            <ns1:xfrm>
              <ns1:off x="0" y="-38100"/>
              <ns1:ext cx="6266688" cy="1257300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280"/>
                </ns1:lnSpc>
              </ns1:pPr>
              <ns1:r>
                <ns1:rPr lang="en-US" sz="1900">
                  <ns1:solidFill>
                    <ns1:srgbClr val="44403C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Validasi nilai 0-100</ns1:t>
              </ns1:r>
            </ns1:p>
          </ns0:txBody>
        </ns0:sp>
      </ns0:grpSp>
      <ns0:grpSp>
        <ns0:nvGrpSpPr>
          <ns0:cNvPr id="38" name="Group 38"/>
          <ns0:cNvGrpSpPr/>
          <ns0:nvPr/>
        </ns0:nvGrpSpPr>
        <ns0:grpSpPr>
          <ns1:xfrm>
            <ns1:off x="791975" y="8399783"/>
            <ns1:ext cx="5091179" cy="1159259"/>
            <ns1:chOff x="0" y="0"/>
            <ns1:chExt cx="6788239" cy="1545679"/>
          </ns1:xfrm>
        </ns0:grpSpPr>
        <ns0:sp>
          <ns0:nvSpPr>
            <ns0:cNvPr id="39" name="Freeform 39"/>
            <ns0:cNvSpPr/>
            <ns0:nvPr/>
          </ns0:nvSpPr>
          <ns0:spPr>
            <ns1:xfrm>
              <ns1:off x="0" y="0"/>
              <ns1:ext cx="6788277" cy="1545717"/>
            </ns1:xfrm>
            <ns1:custGeom>
              <ns1:avLst/>
              <ns1:gdLst/>
              <ns1:ahLst/>
              <ns1:cxnLst/>
              <ns1:rect l="l" t="t" r="r" b="b"/>
              <ns1:pathLst>
                <ns1:path w="6788277" h="1545717">
                  <ns1:moveTo>
                    <ns1:pt x="0" y="149606"/>
                  </ns1:moveTo>
                  <ns1:cubicBezTo>
                    <ns1:pt x="0" y="66929"/>
                    <ns1:pt x="66929" y="0"/>
                    <ns1:pt x="149606" y="0"/>
                  </ns1:cubicBezTo>
                  <ns1:lnTo>
                    <ns1:pt x="6638671" y="0"/>
                  </ns1:lnTo>
                  <ns1:cubicBezTo>
                    <ns1:pt x="6721221" y="0"/>
                    <ns1:pt x="6788277" y="66929"/>
                    <ns1:pt x="6788277" y="149606"/>
                  </ns1:cubicBezTo>
                  <ns1:lnTo>
                    <ns1:pt x="6788277" y="1396111"/>
                  </ns1:lnTo>
                  <ns1:cubicBezTo>
                    <ns1:pt x="6788277" y="1478661"/>
                    <ns1:pt x="6721348" y="1545717"/>
                    <ns1:pt x="6638671" y="1545717"/>
                  </ns1:cubicBezTo>
                  <ns1:lnTo>
                    <ns1:pt x="149606" y="1545717"/>
                  </ns1:lnTo>
                  <ns1:cubicBezTo>
                    <ns1:pt x="66929" y="1545717"/>
                    <ns1:pt x="0" y="1478661"/>
                    <ns1:pt x="0" y="1396111"/>
                  </ns1:cubicBezTo>
                  <ns1:close/>
                </ns1:path>
              </ns1:pathLst>
            </ns1:custGeom>
            <ns1:solidFill>
              <ns1:srgbClr val="FFF7ED"/>
            </ns1:solidFill>
            <ns1:ln w="25400" cap="sq">
              <ns1:solidFill>
                <ns1:srgbClr val="FED7AA"/>
              </ns1:solidFill>
              <ns1:prstDash val="solid"/>
              <ns1:miter/>
            </ns1:ln>
          </ns0:spPr>
        </ns0:sp>
      </ns0:grpSp>
      <ns0:grpSp>
        <ns0:nvGrpSpPr>
          <ns0:cNvPr id="40" name="Group 40"/>
          <ns0:cNvGrpSpPr/>
          <ns0:nvPr/>
        </ns0:nvGrpSpPr>
        <ns0:grpSpPr>
          <ns1:xfrm>
            <ns1:off x="987552" y="8522208"/>
            <ns1:ext cx="4700016" cy="914400"/>
            <ns1:chOff x="0" y="0"/>
            <ns1:chExt cx="6266688" cy="1219200"/>
          </ns1:xfrm>
        </ns0:grpSpPr>
        <ns0:sp>
          <ns0:nvSpPr>
            <ns0:cNvPr id="41" name="Freeform 41"/>
            <ns0:cNvSpPr/>
            <ns0:nvPr/>
          </ns0:nvSpPr>
          <ns0:spPr>
            <ns1:xfrm>
              <ns1:off x="0" y="0"/>
              <ns1:ext cx="6266688" cy="1219200"/>
            </ns1:xfrm>
            <ns1:custGeom>
              <ns1:avLst/>
              <ns1:gdLst/>
              <ns1:ahLst/>
              <ns1:cxnLst/>
              <ns1:rect l="l" t="t" r="r" b="b"/>
              <ns1:pathLst>
                <ns1:path w="6266688" h="1219200">
                  <ns1:moveTo>
                    <ns1:pt x="0" y="0"/>
                  </ns1:moveTo>
                  <ns1:lnTo>
                    <ns1:pt x="6266688" y="0"/>
                  </ns1:lnTo>
                  <ns1:lnTo>
                    <ns1:pt x="6266688" y="1219200"/>
                  </ns1:lnTo>
                  <ns1:lnTo>
                    <ns1:pt x="0" y="121920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50153" b="-50153"/>
              </ns1:stretch>
            </ns1:blipFill>
          </ns0:spPr>
        </ns0:sp>
        <ns0:sp>
          <ns0:nvSpPr>
            <ns0:cNvPr id="42" name="TextBox 42"/>
            <ns0:cNvSpPr txBox="1"/>
            <ns0:nvPr/>
          </ns0:nvSpPr>
          <ns0:spPr>
            <ns1:xfrm>
              <ns1:off x="0" y="-38100"/>
              <ns1:ext cx="6266688" cy="1257300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280"/>
                </ns1:lnSpc>
              </ns1:pPr>
              <ns1:r>
                <ns1:rPr lang="en-US" sz="1900">
                  <ns1:solidFill>
                    <ns1:srgbClr val="44403C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Cegah data duplikat</ns1:t>
              </ns1:r>
            </ns1:p>
          </ns0:txBody>
        </ns0:sp>
      </ns0:grpSp>
      <ns0:grpSp>
        <ns0:nvGrpSpPr>
          <ns0:cNvPr id="43" name="Group 43"/>
          <ns0:cNvGrpSpPr/>
          <ns0:nvPr/>
        </ns0:nvGrpSpPr>
        <ns0:grpSpPr>
          <ns1:xfrm>
            <ns1:off x="6388103" y="2218439"/>
            <ns1:ext cx="5603243" cy="7614923"/>
            <ns1:chOff x="0" y="0"/>
            <ns1:chExt cx="7470991" cy="10153231"/>
          </ns1:xfrm>
        </ns0:grpSpPr>
        <ns0:sp>
          <ns0:nvSpPr>
            <ns0:cNvPr id="44" name="Freeform 44"/>
            <ns0:cNvSpPr/>
            <ns0:nvPr/>
          </ns0:nvSpPr>
          <ns0:spPr>
            <ns1:xfrm>
              <ns1:off x="0" y="0"/>
              <ns1:ext cx="7470902" cy="10153142"/>
            </ns1:xfrm>
            <ns1:custGeom>
              <ns1:avLst/>
              <ns1:gdLst/>
              <ns1:ahLst/>
              <ns1:cxnLst/>
              <ns1:rect l="l" t="t" r="r" b="b"/>
              <ns1:pathLst>
                <ns1:path w="7470902" h="10153142">
                  <ns1:moveTo>
                    <ns1:pt x="0" y="293878"/>
                  </ns1:moveTo>
                  <ns1:cubicBezTo>
                    <ns1:pt x="0" y="131572"/>
                    <ns1:pt x="131572" y="0"/>
                    <ns1:pt x="293878" y="0"/>
                  </ns1:cubicBezTo>
                  <ns1:lnTo>
                    <ns1:pt x="7177024" y="0"/>
                  </ns1:lnTo>
                  <ns1:cubicBezTo>
                    <ns1:pt x="7339330" y="0"/>
                    <ns1:pt x="7470902" y="131572"/>
                    <ns1:pt x="7470902" y="293878"/>
                  </ns1:cubicBezTo>
                  <ns1:lnTo>
                    <ns1:pt x="7470902" y="9859264"/>
                  </ns1:lnTo>
                  <ns1:cubicBezTo>
                    <ns1:pt x="7470902" y="10021570"/>
                    <ns1:pt x="7339330" y="10153142"/>
                    <ns1:pt x="7177024" y="10153142"/>
                  </ns1:cubicBezTo>
                  <ns1:lnTo>
                    <ns1:pt x="293878" y="10153142"/>
                  </ns1:lnTo>
                  <ns1:cubicBezTo>
                    <ns1:pt x="131572" y="10153269"/>
                    <ns1:pt x="0" y="10021697"/>
                    <ns1:pt x="0" y="9859264"/>
                  </ns1:cubicBezTo>
                  <ns1:close/>
                </ns1:path>
              </ns1:pathLst>
            </ns1:custGeom>
            <ns1:solidFill>
              <ns1:srgbClr val="FFFFFF"/>
            </ns1:solidFill>
            <ns1:ln w="25400" cap="sq">
              <ns1:solidFill>
                <ns1:srgbClr val="FED7AA"/>
              </ns1:solidFill>
              <ns1:prstDash val="solid"/>
              <ns1:miter/>
            </ns1:ln>
          </ns0:spPr>
        </ns0:sp>
      </ns0:grpSp>
      <ns0:grpSp>
        <ns0:nvGrpSpPr>
          <ns0:cNvPr id="45" name="Group 45"/>
          <ns0:cNvGrpSpPr/>
          <ns0:nvPr/>
        </ns0:nvGrpSpPr>
        <ns0:grpSpPr>
          <ns1:xfrm>
            <ns1:off x="6388103" y="2218439"/>
            <ns1:ext cx="5603243" cy="1397003"/>
            <ns1:chOff x="0" y="0"/>
            <ns1:chExt cx="7470991" cy="1862671"/>
          </ns1:xfrm>
        </ns0:grpSpPr>
        <ns0:sp>
          <ns0:nvSpPr>
            <ns0:cNvPr id="46" name="Freeform 46"/>
            <ns0:cNvSpPr/>
            <ns0:nvPr/>
          </ns0:nvSpPr>
          <ns0:spPr>
            <ns1:xfrm>
              <ns1:off x="0" y="0"/>
              <ns1:ext cx="7471028" cy="1862709"/>
            </ns1:xfrm>
            <ns1:custGeom>
              <ns1:avLst/>
              <ns1:gdLst/>
              <ns1:ahLst/>
              <ns1:cxnLst/>
              <ns1:rect l="l" t="t" r="r" b="b"/>
              <ns1:pathLst>
                <ns1:path w="7471028" h="1862709">
                  <ns1:moveTo>
                    <ns1:pt x="0" y="298069"/>
                  </ns1:moveTo>
                  <ns1:cubicBezTo>
                    <ns1:pt x="0" y="133477"/>
                    <ns1:pt x="133477" y="0"/>
                    <ns1:pt x="298069" y="0"/>
                  </ns1:cubicBezTo>
                  <ns1:lnTo>
                    <ns1:pt x="7172960" y="0"/>
                  </ns1:lnTo>
                  <ns1:cubicBezTo>
                    <ns1:pt x="7337552" y="0"/>
                    <ns1:pt x="7471028" y="133477"/>
                    <ns1:pt x="7471028" y="298069"/>
                  </ns1:cubicBezTo>
                  <ns1:lnTo>
                    <ns1:pt x="7471028" y="1564640"/>
                  </ns1:lnTo>
                  <ns1:cubicBezTo>
                    <ns1:pt x="7471028" y="1729232"/>
                    <ns1:pt x="7337552" y="1862709"/>
                    <ns1:pt x="7172960" y="1862709"/>
                  </ns1:cubicBezTo>
                  <ns1:lnTo>
                    <ns1:pt x="298069" y="1862709"/>
                  </ns1:lnTo>
                  <ns1:cubicBezTo>
                    <ns1:pt x="133477" y="1862709"/>
                    <ns1:pt x="0" y="1729232"/>
                    <ns1:pt x="0" y="1564640"/>
                  </ns1:cubicBezTo>
                  <ns1:close/>
                </ns1:path>
              </ns1:pathLst>
            </ns1:custGeom>
            <ns1:solidFill>
              <ns1:srgbClr val="F59E0B"/>
            </ns1:solidFill>
            <ns1:ln w="25400" cap="sq">
              <ns1:solidFill>
                <ns1:srgbClr val="F59E0B"/>
              </ns1:solidFill>
              <ns1:prstDash val="solid"/>
              <ns1:miter/>
            </ns1:ln>
          </ns0:spPr>
        </ns0:sp>
      </ns0:grpSp>
      <ns0:grpSp>
        <ns0:nvGrpSpPr>
          <ns0:cNvPr id="47" name="Group 47"/>
          <ns0:cNvGrpSpPr/>
          <ns0:nvPr/>
        </ns0:nvGrpSpPr>
        <ns0:grpSpPr>
          <ns1:xfrm>
            <ns1:off x="6388103" y="3004823"/>
            <ns1:ext cx="5603243" cy="610619"/>
            <ns1:chOff x="0" y="0"/>
            <ns1:chExt cx="7470991" cy="814159"/>
          </ns1:xfrm>
        </ns0:grpSpPr>
        <ns0:sp>
          <ns0:nvSpPr>
            <ns0:cNvPr id="48" name="Freeform 48"/>
            <ns0:cNvSpPr/>
            <ns0:nvPr/>
          </ns0:nvSpPr>
          <ns0:spPr>
            <ns1:xfrm>
              <ns1:off x="0" y="0"/>
              <ns1:ext cx="7471029" cy="814197"/>
            </ns1:xfrm>
            <ns1:custGeom>
              <ns1:avLst/>
              <ns1:gdLst/>
              <ns1:ahLst/>
              <ns1:cxnLst/>
              <ns1:rect l="l" t="t" r="r" b="b"/>
              <ns1:pathLst>
                <ns1:path w="7471029" h="814197">
                  <ns1:moveTo>
                    <ns1:pt x="0" y="0"/>
                  </ns1:moveTo>
                  <ns1:lnTo>
                    <ns1:pt x="7471029" y="0"/>
                  </ns1:lnTo>
                  <ns1:lnTo>
                    <ns1:pt x="7471029" y="814197"/>
                  </ns1:lnTo>
                  <ns1:lnTo>
                    <ns1:pt x="0" y="814197"/>
                  </ns1:lnTo>
                  <ns1:close/>
                </ns1:path>
              </ns1:pathLst>
            </ns1:custGeom>
            <ns1:solidFill>
              <ns1:srgbClr val="F59E0B"/>
            </ns1:solidFill>
            <ns1:ln w="25400" cap="sq">
              <ns1:solidFill>
                <ns1:srgbClr val="F59E0B"/>
              </ns1:solidFill>
              <ns1:prstDash val="solid"/>
              <ns1:miter/>
            </ns1:ln>
          </ns0:spPr>
        </ns0:sp>
      </ns0:grpSp>
      <ns0:grpSp>
        <ns0:nvGrpSpPr>
          <ns0:cNvPr id="49" name="Group 49"/>
          <ns0:cNvGrpSpPr/>
          <ns0:nvPr/>
        </ns0:nvGrpSpPr>
        <ns0:grpSpPr>
          <ns1:xfrm>
            <ns1:off x="8628383" y="2328167"/>
            <ns1:ext cx="1122683" cy="1122683"/>
            <ns1:chOff x="0" y="0"/>
            <ns1:chExt cx="1496911" cy="1496911"/>
          </ns1:xfrm>
        </ns0:grpSpPr>
        <ns0:sp>
          <ns0:nvSpPr>
            <ns0:cNvPr id="50" name="Freeform 50"/>
            <ns0:cNvSpPr/>
            <ns0:nvPr/>
          </ns0:nvSpPr>
          <ns0:spPr>
            <ns1:xfrm>
              <ns1:off x="0" y="0"/>
              <ns1:ext cx="1496822" cy="1496822"/>
            </ns1:xfrm>
            <ns1:custGeom>
              <ns1:avLst/>
              <ns1:gdLst/>
              <ns1:ahLst/>
              <ns1:cxnLst/>
              <ns1:rect l="l" t="t" r="r" b="b"/>
              <ns1:pathLst>
                <ns1:path w="1496822" h="1496822">
                  <ns1:moveTo>
                    <ns1:pt x="0" y="748411"/>
                  </ns1:moveTo>
                  <ns1:cubicBezTo>
                    <ns1:pt x="0" y="335153"/>
                    <ns1:pt x="335153" y="0"/>
                    <ns1:pt x="748411" y="0"/>
                  </ns1:cubicBezTo>
                  <ns1:cubicBezTo>
                    <ns1:pt x="1161669" y="0"/>
                    <ns1:pt x="1496822" y="335153"/>
                    <ns1:pt x="1496822" y="748411"/>
                  </ns1:cubicBezTo>
                  <ns1:cubicBezTo>
                    <ns1:pt x="1496822" y="1161669"/>
                    <ns1:pt x="1161669" y="1496822"/>
                    <ns1:pt x="748411" y="1496822"/>
                  </ns1:cubicBezTo>
                  <ns1:cubicBezTo>
                    <ns1:pt x="335153" y="1496822"/>
                    <ns1:pt x="0" y="1161796"/>
                    <ns1:pt x="0" y="748411"/>
                  </ns1:cubicBezTo>
                  <ns1:close/>
                </ns1:path>
              </ns1:pathLst>
            </ns1:custGeom>
            <ns1:solidFill>
              <ns1:srgbClr val="FFFFFF">
                <ns1:alpha val="63922"/>
              </ns1:srgbClr>
            </ns1:solidFill>
            <ns1:ln w="25400" cap="sq">
              <ns1:solidFill>
                <ns1:srgbClr val="FFFFFF"/>
              </ns1:solidFill>
              <ns1:prstDash val="solid"/>
              <ns1:miter/>
            </ns1:ln>
          </ns0:spPr>
        </ns0:sp>
      </ns0:grpSp>
      <ns0:grpSp>
        <ns0:nvGrpSpPr>
          <ns0:cNvPr id="51" name="Group 51"/>
          <ns0:cNvGrpSpPr/>
          <ns0:nvPr/>
        </ns0:nvGrpSpPr>
        <ns0:grpSpPr>
          <ns1:xfrm>
            <ns1:off x="8641080" y="2340864"/>
            <ns1:ext cx="1097280" cy="1097280"/>
            <ns1:chOff x="0" y="0"/>
            <ns1:chExt cx="1463040" cy="1463040"/>
          </ns1:xfrm>
        </ns0:grpSpPr>
        <ns0:sp>
          <ns0:nvSpPr>
            <ns0:cNvPr id="52" name="Freeform 52"/>
            <ns0:cNvSpPr/>
            <ns0:nvPr/>
          </ns0:nvSpPr>
          <ns0:spPr>
            <ns1:xfrm>
              <ns1:off x="0" y="0"/>
              <ns1:ext cx="1463040" cy="1463040"/>
            </ns1:xfrm>
            <ns1:custGeom>
              <ns1:avLst/>
              <ns1:gdLst/>
              <ns1:ahLst/>
              <ns1:cxnLst/>
              <ns1:rect l="l" t="t" r="r" b="b"/>
              <ns1:pathLst>
                <ns1:path w="1463040" h="1463040">
                  <ns1:moveTo>
                    <ns1:pt x="0" y="0"/>
                  </ns1:moveTo>
                  <ns1:lnTo>
                    <ns1:pt x="1463040" y="0"/>
                  </ns1:lnTo>
                  <ns1:lnTo>
                    <ns1:pt x="1463040" y="1463040"/>
                  </ns1:lnTo>
                  <ns1:lnTo>
                    <ns1:pt x="0" y="146304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78303" r="-78303"/>
              </ns1:stretch>
            </ns1:blipFill>
          </ns0:spPr>
        </ns0:sp>
        <ns0:sp>
          <ns0:nvSpPr>
            <ns0:cNvPr id="53" name="TextBox 53"/>
            <ns0:cNvSpPr txBox="1"/>
            <ns0:nvPr/>
          </ns0:nvSpPr>
          <ns0:spPr>
            <ns1:xfrm>
              <ns1:off x="0" y="-76200"/>
              <ns1:ext cx="1463040" cy="1539240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ctr">
                <ns1:lnSpc>
                  <ns1:spcPts val="5280"/>
                </ns1:lnSpc>
              </ns1:pPr>
              <ns1:r>
                <ns1:rPr lang="en-US" sz="4400" b="1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2</ns1:t>
              </ns1:r>
            </ns1:p>
          </ns0:txBody>
        </ns0:sp>
      </ns0:grpSp>
      <ns0:grpSp>
        <ns0:nvGrpSpPr>
          <ns0:cNvPr id="54" name="Group 54"/>
          <ns0:cNvGrpSpPr/>
          <ns0:nvPr/>
        </ns0:nvGrpSpPr>
        <ns0:grpSpPr>
          <ns1:xfrm>
            <ns1:off x="6583680" y="3749040"/>
            <ns1:ext cx="5212080" cy="658368"/>
            <ns1:chOff x="0" y="0"/>
            <ns1:chExt cx="6949440" cy="877824"/>
          </ns1:xfrm>
        </ns0:grpSpPr>
        <ns0:sp>
          <ns0:nvSpPr>
            <ns0:cNvPr id="55" name="Freeform 55"/>
            <ns0:cNvSpPr/>
            <ns0:nvPr/>
          </ns0:nvSpPr>
          <ns0:spPr>
            <ns1:xfrm>
              <ns1:off x="0" y="0"/>
              <ns1:ext cx="6949440" cy="877824"/>
            </ns1:xfrm>
            <ns1:custGeom>
              <ns1:avLst/>
              <ns1:gdLst/>
              <ns1:ahLst/>
              <ns1:cxnLst/>
              <ns1:rect l="l" t="t" r="r" b="b"/>
              <ns1:pathLst>
                <ns1:path w="6949440" h="877824">
                  <ns1:moveTo>
                    <ns1:pt x="0" y="0"/>
                  </ns1:moveTo>
                  <ns1:lnTo>
                    <ns1:pt x="6949440" y="0"/>
                  </ns1:lnTo>
                  <ns1:lnTo>
                    <ns1:pt x="6949440" y="877824"/>
                  </ns1:lnTo>
                  <ns1:lnTo>
                    <ns1:pt x="0" y="877824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104256" b="-104256"/>
              </ns1:stretch>
            </ns1:blipFill>
          </ns0:spPr>
        </ns0:sp>
        <ns0:sp>
          <ns0:nvSpPr>
            <ns0:cNvPr id="56" name="TextBox 56"/>
            <ns0:cNvSpPr txBox="1"/>
            <ns0:nvPr/>
          </ns0:nvSpPr>
          <ns0:spPr>
            <ns1:xfrm>
              <ns1:off x="0" y="-57150"/>
              <ns1:ext cx="6949440" cy="934974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ctr">
                <ns1:lnSpc>
                  <ns1:spcPts val="3120"/>
                </ns1:lnSpc>
              </ns1:pPr>
              <ns1:r>
                <ns1:rPr lang="en-US" sz="2600" b="1">
                  <ns1:solidFill>
                    <ns1:srgbClr val="F59E0B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Pivot &amp; Seleksi Fitur</ns1:t>
              </ns1:r>
            </ns1:p>
          </ns0:txBody>
        </ns0:sp>
      </ns0:grpSp>
      <ns0:grpSp>
        <ns0:nvGrpSpPr>
          <ns0:cNvPr id="57" name="Group 57"/>
          <ns0:cNvGrpSpPr/>
          <ns0:nvPr/>
        </ns0:nvGrpSpPr>
        <ns0:grpSpPr>
          <ns1:xfrm>
            <ns1:off x="6644135" y="4559303"/>
            <ns1:ext cx="5091179" cy="1159259"/>
            <ns1:chOff x="0" y="0"/>
            <ns1:chExt cx="6788239" cy="1545679"/>
          </ns1:xfrm>
        </ns0:grpSpPr>
        <ns0:sp>
          <ns0:nvSpPr>
            <ns0:cNvPr id="58" name="Freeform 58"/>
            <ns0:cNvSpPr/>
            <ns0:nvPr/>
          </ns0:nvSpPr>
          <ns0:spPr>
            <ns1:xfrm>
              <ns1:off x="0" y="0"/>
              <ns1:ext cx="6788277" cy="1545717"/>
            </ns1:xfrm>
            <ns1:custGeom>
              <ns1:avLst/>
              <ns1:gdLst/>
              <ns1:ahLst/>
              <ns1:cxnLst/>
              <ns1:rect l="l" t="t" r="r" b="b"/>
              <ns1:pathLst>
                <ns1:path w="6788277" h="1545717">
                  <ns1:moveTo>
                    <ns1:pt x="0" y="149606"/>
                  </ns1:moveTo>
                  <ns1:cubicBezTo>
                    <ns1:pt x="0" y="66929"/>
                    <ns1:pt x="66929" y="0"/>
                    <ns1:pt x="149606" y="0"/>
                  </ns1:cubicBezTo>
                  <ns1:lnTo>
                    <ns1:pt x="6638671" y="0"/>
                  </ns1:lnTo>
                  <ns1:cubicBezTo>
                    <ns1:pt x="6721221" y="0"/>
                    <ns1:pt x="6788277" y="66929"/>
                    <ns1:pt x="6788277" y="149606"/>
                  </ns1:cubicBezTo>
                  <ns1:lnTo>
                    <ns1:pt x="6788277" y="1396111"/>
                  </ns1:lnTo>
                  <ns1:cubicBezTo>
                    <ns1:pt x="6788277" y="1478661"/>
                    <ns1:pt x="6721348" y="1545717"/>
                    <ns1:pt x="6638671" y="1545717"/>
                  </ns1:cubicBezTo>
                  <ns1:lnTo>
                    <ns1:pt x="149606" y="1545717"/>
                  </ns1:lnTo>
                  <ns1:cubicBezTo>
                    <ns1:pt x="66929" y="1545717"/>
                    <ns1:pt x="0" y="1478661"/>
                    <ns1:pt x="0" y="1396111"/>
                  </ns1:cubicBezTo>
                  <ns1:close/>
                </ns1:path>
              </ns1:pathLst>
            </ns1:custGeom>
            <ns1:solidFill>
              <ns1:srgbClr val="FFF7ED"/>
            </ns1:solidFill>
            <ns1:ln w="25400" cap="sq">
              <ns1:solidFill>
                <ns1:srgbClr val="FED7AA"/>
              </ns1:solidFill>
              <ns1:prstDash val="solid"/>
              <ns1:miter/>
            </ns1:ln>
          </ns0:spPr>
        </ns0:sp>
      </ns0:grpSp>
      <ns0:grpSp>
        <ns0:nvGrpSpPr>
          <ns0:cNvPr id="59" name="Group 59"/>
          <ns0:cNvGrpSpPr/>
          <ns0:nvPr/>
        </ns0:nvGrpSpPr>
        <ns0:grpSpPr>
          <ns1:xfrm>
            <ns1:off x="6839712" y="4681728"/>
            <ns1:ext cx="4700016" cy="914400"/>
            <ns1:chOff x="0" y="0"/>
            <ns1:chExt cx="6266688" cy="1219200"/>
          </ns1:xfrm>
        </ns0:grpSpPr>
        <ns0:sp>
          <ns0:nvSpPr>
            <ns0:cNvPr id="60" name="Freeform 60"/>
            <ns0:cNvSpPr/>
            <ns0:nvPr/>
          </ns0:nvSpPr>
          <ns0:spPr>
            <ns1:xfrm>
              <ns1:off x="0" y="0"/>
              <ns1:ext cx="6266688" cy="1219200"/>
            </ns1:xfrm>
            <ns1:custGeom>
              <ns1:avLst/>
              <ns1:gdLst/>
              <ns1:ahLst/>
              <ns1:cxnLst/>
              <ns1:rect l="l" t="t" r="r" b="b"/>
              <ns1:pathLst>
                <ns1:path w="6266688" h="1219200">
                  <ns1:moveTo>
                    <ns1:pt x="0" y="0"/>
                  </ns1:moveTo>
                  <ns1:lnTo>
                    <ns1:pt x="6266688" y="0"/>
                  </ns1:lnTo>
                  <ns1:lnTo>
                    <ns1:pt x="6266688" y="1219200"/>
                  </ns1:lnTo>
                  <ns1:lnTo>
                    <ns1:pt x="0" y="121920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50153" b="-50153"/>
              </ns1:stretch>
            </ns1:blipFill>
          </ns0:spPr>
        </ns0:sp>
        <ns0:sp>
          <ns0:nvSpPr>
            <ns0:cNvPr id="61" name="TextBox 61"/>
            <ns0:cNvSpPr txBox="1"/>
            <ns0:nvPr/>
          </ns0:nvSpPr>
          <ns0:spPr>
            <ns1:xfrm>
              <ns1:off x="0" y="-38100"/>
              <ns1:ext cx="6266688" cy="1257300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280"/>
                </ns1:lnSpc>
              </ns1:pPr>
              <ns1:r>
                <ns1:rPr lang="en-US" sz="1900">
                  <ns1:solidFill>
                    <ns1:srgbClr val="44403C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Mapel diubah menjadi kolom fitur</ns1:t>
              </ns1:r>
            </ns1:p>
          </ns0:txBody>
        </ns0:sp>
      </ns0:grpSp>
      <ns0:grpSp>
        <ns0:nvGrpSpPr>
          <ns0:cNvPr id="62" name="Group 62"/>
          <ns0:cNvGrpSpPr/>
          <ns0:nvPr/>
        </ns0:nvGrpSpPr>
        <ns0:grpSpPr>
          <ns1:xfrm>
            <ns1:off x="6644135" y="5839463"/>
            <ns1:ext cx="5091179" cy="1159259"/>
            <ns1:chOff x="0" y="0"/>
            <ns1:chExt cx="6788239" cy="1545679"/>
          </ns1:xfrm>
        </ns0:grpSpPr>
        <ns0:sp>
          <ns0:nvSpPr>
            <ns0:cNvPr id="63" name="Freeform 63"/>
            <ns0:cNvSpPr/>
            <ns0:nvPr/>
          </ns0:nvSpPr>
          <ns0:spPr>
            <ns1:xfrm>
              <ns1:off x="0" y="0"/>
              <ns1:ext cx="6788277" cy="1545717"/>
            </ns1:xfrm>
            <ns1:custGeom>
              <ns1:avLst/>
              <ns1:gdLst/>
              <ns1:ahLst/>
              <ns1:cxnLst/>
              <ns1:rect l="l" t="t" r="r" b="b"/>
              <ns1:pathLst>
                <ns1:path w="6788277" h="1545717">
                  <ns1:moveTo>
                    <ns1:pt x="0" y="149606"/>
                  </ns1:moveTo>
                  <ns1:cubicBezTo>
                    <ns1:pt x="0" y="66929"/>
                    <ns1:pt x="66929" y="0"/>
                    <ns1:pt x="149606" y="0"/>
                  </ns1:cubicBezTo>
                  <ns1:lnTo>
                    <ns1:pt x="6638671" y="0"/>
                  </ns1:lnTo>
                  <ns1:cubicBezTo>
                    <ns1:pt x="6721221" y="0"/>
                    <ns1:pt x="6788277" y="66929"/>
                    <ns1:pt x="6788277" y="149606"/>
                  </ns1:cubicBezTo>
                  <ns1:lnTo>
                    <ns1:pt x="6788277" y="1396111"/>
                  </ns1:lnTo>
                  <ns1:cubicBezTo>
                    <ns1:pt x="6788277" y="1478661"/>
                    <ns1:pt x="6721348" y="1545717"/>
                    <ns1:pt x="6638671" y="1545717"/>
                  </ns1:cubicBezTo>
                  <ns1:lnTo>
                    <ns1:pt x="149606" y="1545717"/>
                  </ns1:lnTo>
                  <ns1:cubicBezTo>
                    <ns1:pt x="66929" y="1545717"/>
                    <ns1:pt x="0" y="1478661"/>
                    <ns1:pt x="0" y="1396111"/>
                  </ns1:cubicBezTo>
                  <ns1:close/>
                </ns1:path>
              </ns1:pathLst>
            </ns1:custGeom>
            <ns1:solidFill>
              <ns1:srgbClr val="FFF7ED"/>
            </ns1:solidFill>
            <ns1:ln w="25400" cap="sq">
              <ns1:solidFill>
                <ns1:srgbClr val="FED7AA"/>
              </ns1:solidFill>
              <ns1:prstDash val="solid"/>
              <ns1:miter/>
            </ns1:ln>
          </ns0:spPr>
        </ns0:sp>
      </ns0:grpSp>
      <ns0:grpSp>
        <ns0:nvGrpSpPr>
          <ns0:cNvPr id="64" name="Group 64"/>
          <ns0:cNvGrpSpPr/>
          <ns0:nvPr/>
        </ns0:nvGrpSpPr>
        <ns0:grpSpPr>
          <ns1:xfrm>
            <ns1:off x="6839712" y="5961888"/>
            <ns1:ext cx="4700016" cy="914400"/>
            <ns1:chOff x="0" y="0"/>
            <ns1:chExt cx="6266688" cy="1219200"/>
          </ns1:xfrm>
        </ns0:grpSpPr>
        <ns0:sp>
          <ns0:nvSpPr>
            <ns0:cNvPr id="65" name="Freeform 65"/>
            <ns0:cNvSpPr/>
            <ns0:nvPr/>
          </ns0:nvSpPr>
          <ns0:spPr>
            <ns1:xfrm>
              <ns1:off x="0" y="0"/>
              <ns1:ext cx="6266688" cy="1219200"/>
            </ns1:xfrm>
            <ns1:custGeom>
              <ns1:avLst/>
              <ns1:gdLst/>
              <ns1:ahLst/>
              <ns1:cxnLst/>
              <ns1:rect l="l" t="t" r="r" b="b"/>
              <ns1:pathLst>
                <ns1:path w="6266688" h="1219200">
                  <ns1:moveTo>
                    <ns1:pt x="0" y="0"/>
                  </ns1:moveTo>
                  <ns1:lnTo>
                    <ns1:pt x="6266688" y="0"/>
                  </ns1:lnTo>
                  <ns1:lnTo>
                    <ns1:pt x="6266688" y="1219200"/>
                  </ns1:lnTo>
                  <ns1:lnTo>
                    <ns1:pt x="0" y="121920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50153" b="-50153"/>
              </ns1:stretch>
            </ns1:blipFill>
          </ns0:spPr>
        </ns0:sp>
        <ns0:sp>
          <ns0:nvSpPr>
            <ns0:cNvPr id="66" name="TextBox 66"/>
            <ns0:cNvSpPr txBox="1"/>
            <ns0:nvPr/>
          </ns0:nvSpPr>
          <ns0:spPr>
            <ns1:xfrm>
              <ns1:off x="0" y="-38100"/>
              <ns1:ext cx="6266688" cy="1257300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280"/>
                </ns1:lnSpc>
              </ns1:pPr>
              <ns1:r>
                <ns1:rPr lang="en-US" sz="1900">
                  <ns1:solidFill>
                    <ns1:srgbClr val="44403C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Nilai agama digabung</ns1:t>
              </ns1:r>
            </ns1:p>
          </ns0:txBody>
        </ns0:sp>
      </ns0:grpSp>
      <ns0:grpSp>
        <ns0:nvGrpSpPr>
          <ns0:cNvPr id="67" name="Group 67"/>
          <ns0:cNvGrpSpPr/>
          <ns0:nvPr/>
        </ns0:nvGrpSpPr>
        <ns0:grpSpPr>
          <ns1:xfrm>
            <ns1:off x="6644135" y="7119623"/>
            <ns1:ext cx="5091179" cy="1159259"/>
            <ns1:chOff x="0" y="0"/>
            <ns1:chExt cx="6788239" cy="1545679"/>
          </ns1:xfrm>
        </ns0:grpSpPr>
        <ns0:sp>
          <ns0:nvSpPr>
            <ns0:cNvPr id="68" name="Freeform 68"/>
            <ns0:cNvSpPr/>
            <ns0:nvPr/>
          </ns0:nvSpPr>
          <ns0:spPr>
            <ns1:xfrm>
              <ns1:off x="0" y="0"/>
              <ns1:ext cx="6788277" cy="1545717"/>
            </ns1:xfrm>
            <ns1:custGeom>
              <ns1:avLst/>
              <ns1:gdLst/>
              <ns1:ahLst/>
              <ns1:cxnLst/>
              <ns1:rect l="l" t="t" r="r" b="b"/>
              <ns1:pathLst>
                <ns1:path w="6788277" h="1545717">
                  <ns1:moveTo>
                    <ns1:pt x="0" y="149606"/>
                  </ns1:moveTo>
                  <ns1:cubicBezTo>
                    <ns1:pt x="0" y="66929"/>
                    <ns1:pt x="66929" y="0"/>
                    <ns1:pt x="149606" y="0"/>
                  </ns1:cubicBezTo>
                  <ns1:lnTo>
                    <ns1:pt x="6638671" y="0"/>
                  </ns1:lnTo>
                  <ns1:cubicBezTo>
                    <ns1:pt x="6721221" y="0"/>
                    <ns1:pt x="6788277" y="66929"/>
                    <ns1:pt x="6788277" y="149606"/>
                  </ns1:cubicBezTo>
                  <ns1:lnTo>
                    <ns1:pt x="6788277" y="1396111"/>
                  </ns1:lnTo>
                  <ns1:cubicBezTo>
                    <ns1:pt x="6788277" y="1478661"/>
                    <ns1:pt x="6721348" y="1545717"/>
                    <ns1:pt x="6638671" y="1545717"/>
                  </ns1:cubicBezTo>
                  <ns1:lnTo>
                    <ns1:pt x="149606" y="1545717"/>
                  </ns1:lnTo>
                  <ns1:cubicBezTo>
                    <ns1:pt x="66929" y="1545717"/>
                    <ns1:pt x="0" y="1478661"/>
                    <ns1:pt x="0" y="1396111"/>
                  </ns1:cubicBezTo>
                  <ns1:close/>
                </ns1:path>
              </ns1:pathLst>
            </ns1:custGeom>
            <ns1:solidFill>
              <ns1:srgbClr val="FFF7ED"/>
            </ns1:solidFill>
            <ns1:ln w="25400" cap="sq">
              <ns1:solidFill>
                <ns1:srgbClr val="FED7AA"/>
              </ns1:solidFill>
              <ns1:prstDash val="solid"/>
              <ns1:miter/>
            </ns1:ln>
          </ns0:spPr>
        </ns0:sp>
      </ns0:grpSp>
      <ns0:grpSp>
        <ns0:nvGrpSpPr>
          <ns0:cNvPr id="69" name="Group 69"/>
          <ns0:cNvGrpSpPr/>
          <ns0:nvPr/>
        </ns0:nvGrpSpPr>
        <ns0:grpSpPr>
          <ns1:xfrm>
            <ns1:off x="6839712" y="7242048"/>
            <ns1:ext cx="4700016" cy="914400"/>
            <ns1:chOff x="0" y="0"/>
            <ns1:chExt cx="6266688" cy="1219200"/>
          </ns1:xfrm>
        </ns0:grpSpPr>
        <ns0:sp>
          <ns0:nvSpPr>
            <ns0:cNvPr id="70" name="Freeform 70"/>
            <ns0:cNvSpPr/>
            <ns0:nvPr/>
          </ns0:nvSpPr>
          <ns0:spPr>
            <ns1:xfrm>
              <ns1:off x="0" y="0"/>
              <ns1:ext cx="6266688" cy="1219200"/>
            </ns1:xfrm>
            <ns1:custGeom>
              <ns1:avLst/>
              <ns1:gdLst/>
              <ns1:ahLst/>
              <ns1:cxnLst/>
              <ns1:rect l="l" t="t" r="r" b="b"/>
              <ns1:pathLst>
                <ns1:path w="6266688" h="1219200">
                  <ns1:moveTo>
                    <ns1:pt x="0" y="0"/>
                  </ns1:moveTo>
                  <ns1:lnTo>
                    <ns1:pt x="6266688" y="0"/>
                  </ns1:lnTo>
                  <ns1:lnTo>
                    <ns1:pt x="6266688" y="1219200"/>
                  </ns1:lnTo>
                  <ns1:lnTo>
                    <ns1:pt x="0" y="121920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50153" b="-50153"/>
              </ns1:stretch>
            </ns1:blipFill>
          </ns0:spPr>
        </ns0:sp>
        <ns0:sp>
          <ns0:nvSpPr>
            <ns0:cNvPr id="71" name="TextBox 71"/>
            <ns0:cNvSpPr txBox="1"/>
            <ns0:nvPr/>
          </ns0:nvSpPr>
          <ns0:spPr>
            <ns1:xfrm>
              <ns1:off x="0" y="-38100"/>
              <ns1:ext cx="6266688" cy="1257300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280"/>
                </ns1:lnSpc>
              </ns1:pPr>
              <ns1:r>
                <ns1:rPr lang="en-US" sz="1900">
                  <ns1:solidFill>
                    <ns1:srgbClr val="44403C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ID dan nama dikeluarkan</ns1:t>
              </ns1:r>
            </ns1:p>
          </ns0:txBody>
        </ns0:sp>
      </ns0:grpSp>
      <ns0:grpSp>
        <ns0:nvGrpSpPr>
          <ns0:cNvPr id="72" name="Group 72"/>
          <ns0:cNvGrpSpPr/>
          <ns0:nvPr/>
        </ns0:nvGrpSpPr>
        <ns0:grpSpPr>
          <ns1:xfrm>
            <ns1:off x="6644135" y="8399783"/>
            <ns1:ext cx="5091179" cy="1159259"/>
            <ns1:chOff x="0" y="0"/>
            <ns1:chExt cx="6788239" cy="1545679"/>
          </ns1:xfrm>
        </ns0:grpSpPr>
        <ns0:sp>
          <ns0:nvSpPr>
            <ns0:cNvPr id="73" name="Freeform 73"/>
            <ns0:cNvSpPr/>
            <ns0:nvPr/>
          </ns0:nvSpPr>
          <ns0:spPr>
            <ns1:xfrm>
              <ns1:off x="0" y="0"/>
              <ns1:ext cx="6788277" cy="1545717"/>
            </ns1:xfrm>
            <ns1:custGeom>
              <ns1:avLst/>
              <ns1:gdLst/>
              <ns1:ahLst/>
              <ns1:cxnLst/>
              <ns1:rect l="l" t="t" r="r" b="b"/>
              <ns1:pathLst>
                <ns1:path w="6788277" h="1545717">
                  <ns1:moveTo>
                    <ns1:pt x="0" y="149606"/>
                  </ns1:moveTo>
                  <ns1:cubicBezTo>
                    <ns1:pt x="0" y="66929"/>
                    <ns1:pt x="66929" y="0"/>
                    <ns1:pt x="149606" y="0"/>
                  </ns1:cubicBezTo>
                  <ns1:lnTo>
                    <ns1:pt x="6638671" y="0"/>
                  </ns1:lnTo>
                  <ns1:cubicBezTo>
                    <ns1:pt x="6721221" y="0"/>
                    <ns1:pt x="6788277" y="66929"/>
                    <ns1:pt x="6788277" y="149606"/>
                  </ns1:cubicBezTo>
                  <ns1:lnTo>
                    <ns1:pt x="6788277" y="1396111"/>
                  </ns1:lnTo>
                  <ns1:cubicBezTo>
                    <ns1:pt x="6788277" y="1478661"/>
                    <ns1:pt x="6721348" y="1545717"/>
                    <ns1:pt x="6638671" y="1545717"/>
                  </ns1:cubicBezTo>
                  <ns1:lnTo>
                    <ns1:pt x="149606" y="1545717"/>
                  </ns1:lnTo>
                  <ns1:cubicBezTo>
                    <ns1:pt x="66929" y="1545717"/>
                    <ns1:pt x="0" y="1478661"/>
                    <ns1:pt x="0" y="1396111"/>
                  </ns1:cubicBezTo>
                  <ns1:close/>
                </ns1:path>
              </ns1:pathLst>
            </ns1:custGeom>
            <ns1:solidFill>
              <ns1:srgbClr val="FFF7ED"/>
            </ns1:solidFill>
            <ns1:ln w="25400" cap="sq">
              <ns1:solidFill>
                <ns1:srgbClr val="FED7AA"/>
              </ns1:solidFill>
              <ns1:prstDash val="solid"/>
              <ns1:miter/>
            </ns1:ln>
          </ns0:spPr>
        </ns0:sp>
      </ns0:grpSp>
      <ns0:grpSp>
        <ns0:nvGrpSpPr>
          <ns0:cNvPr id="74" name="Group 74"/>
          <ns0:cNvGrpSpPr/>
          <ns0:nvPr/>
        </ns0:nvGrpSpPr>
        <ns0:grpSpPr>
          <ns1:xfrm>
            <ns1:off x="6839712" y="8522208"/>
            <ns1:ext cx="4700016" cy="914400"/>
            <ns1:chOff x="0" y="0"/>
            <ns1:chExt cx="6266688" cy="1219200"/>
          </ns1:xfrm>
        </ns0:grpSpPr>
        <ns0:sp>
          <ns0:nvSpPr>
            <ns0:cNvPr id="75" name="Freeform 75"/>
            <ns0:cNvSpPr/>
            <ns0:nvPr/>
          </ns0:nvSpPr>
          <ns0:spPr>
            <ns1:xfrm>
              <ns1:off x="0" y="0"/>
              <ns1:ext cx="6266688" cy="1219200"/>
            </ns1:xfrm>
            <ns1:custGeom>
              <ns1:avLst/>
              <ns1:gdLst/>
              <ns1:ahLst/>
              <ns1:cxnLst/>
              <ns1:rect l="l" t="t" r="r" b="b"/>
              <ns1:pathLst>
                <ns1:path w="6266688" h="1219200">
                  <ns1:moveTo>
                    <ns1:pt x="0" y="0"/>
                  </ns1:moveTo>
                  <ns1:lnTo>
                    <ns1:pt x="6266688" y="0"/>
                  </ns1:lnTo>
                  <ns1:lnTo>
                    <ns1:pt x="6266688" y="1219200"/>
                  </ns1:lnTo>
                  <ns1:lnTo>
                    <ns1:pt x="0" y="121920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50153" b="-50153"/>
              </ns1:stretch>
            </ns1:blipFill>
          </ns0:spPr>
        </ns0:sp>
        <ns0:sp>
          <ns0:nvSpPr>
            <ns0:cNvPr id="76" name="TextBox 76"/>
            <ns0:cNvSpPr txBox="1"/>
            <ns0:nvPr/>
          </ns0:nvSpPr>
          <ns0:spPr>
            <ns1:xfrm>
              <ns1:off x="0" y="-38100"/>
              <ns1:ext cx="6266688" cy="1257300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280"/>
                </ns1:lnSpc>
              </ns1:pPr>
              <ns1:r>
                <ns1:rPr lang="en-US" sz="1900">
                  <ns1:solidFill>
                    <ns1:srgbClr val="44403C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10 fitur nilai digunakan</ns1:t>
              </ns1:r>
            </ns1:p>
          </ns0:txBody>
        </ns0:sp>
      </ns0:grpSp>
      <ns0:grpSp>
        <ns0:nvGrpSpPr>
          <ns0:cNvPr id="77" name="Group 77"/>
          <ns0:cNvGrpSpPr/>
          <ns0:nvPr/>
        </ns0:nvGrpSpPr>
        <ns0:grpSpPr>
          <ns1:xfrm>
            <ns1:off x="12240263" y="2218439"/>
            <ns1:ext cx="5603243" cy="7614923"/>
            <ns1:chOff x="0" y="0"/>
            <ns1:chExt cx="7470991" cy="10153231"/>
          </ns1:xfrm>
        </ns0:grpSpPr>
        <ns0:sp>
          <ns0:nvSpPr>
            <ns0:cNvPr id="78" name="Freeform 78"/>
            <ns0:cNvSpPr/>
            <ns0:nvPr/>
          </ns0:nvSpPr>
          <ns0:spPr>
            <ns1:xfrm>
              <ns1:off x="0" y="0"/>
              <ns1:ext cx="7470902" cy="10153142"/>
            </ns1:xfrm>
            <ns1:custGeom>
              <ns1:avLst/>
              <ns1:gdLst/>
              <ns1:ahLst/>
              <ns1:cxnLst/>
              <ns1:rect l="l" t="t" r="r" b="b"/>
              <ns1:pathLst>
                <ns1:path w="7470902" h="10153142">
                  <ns1:moveTo>
                    <ns1:pt x="0" y="293878"/>
                  </ns1:moveTo>
                  <ns1:cubicBezTo>
                    <ns1:pt x="0" y="131572"/>
                    <ns1:pt x="131572" y="0"/>
                    <ns1:pt x="293878" y="0"/>
                  </ns1:cubicBezTo>
                  <ns1:lnTo>
                    <ns1:pt x="7177024" y="0"/>
                  </ns1:lnTo>
                  <ns1:cubicBezTo>
                    <ns1:pt x="7339330" y="0"/>
                    <ns1:pt x="7470902" y="131572"/>
                    <ns1:pt x="7470902" y="293878"/>
                  </ns1:cubicBezTo>
                  <ns1:lnTo>
                    <ns1:pt x="7470902" y="9859264"/>
                  </ns1:lnTo>
                  <ns1:cubicBezTo>
                    <ns1:pt x="7470902" y="10021570"/>
                    <ns1:pt x="7339330" y="10153142"/>
                    <ns1:pt x="7177024" y="10153142"/>
                  </ns1:cubicBezTo>
                  <ns1:lnTo>
                    <ns1:pt x="293878" y="10153142"/>
                  </ns1:lnTo>
                  <ns1:cubicBezTo>
                    <ns1:pt x="131572" y="10153269"/>
                    <ns1:pt x="0" y="10021697"/>
                    <ns1:pt x="0" y="9859264"/>
                  </ns1:cubicBezTo>
                  <ns1:close/>
                </ns1:path>
              </ns1:pathLst>
            </ns1:custGeom>
            <ns1:solidFill>
              <ns1:srgbClr val="FFFFFF"/>
            </ns1:solidFill>
            <ns1:ln w="25400" cap="sq">
              <ns1:solidFill>
                <ns1:srgbClr val="FED7AA"/>
              </ns1:solidFill>
              <ns1:prstDash val="solid"/>
              <ns1:miter/>
            </ns1:ln>
          </ns0:spPr>
        </ns0:sp>
      </ns0:grpSp>
      <ns0:grpSp>
        <ns0:nvGrpSpPr>
          <ns0:cNvPr id="79" name="Group 79"/>
          <ns0:cNvGrpSpPr/>
          <ns0:nvPr/>
        </ns0:nvGrpSpPr>
        <ns0:grpSpPr>
          <ns1:xfrm>
            <ns1:off x="12240263" y="2218439"/>
            <ns1:ext cx="5603243" cy="1397003"/>
            <ns1:chOff x="0" y="0"/>
            <ns1:chExt cx="7470991" cy="1862671"/>
          </ns1:xfrm>
        </ns0:grpSpPr>
        <ns0:sp>
          <ns0:nvSpPr>
            <ns0:cNvPr id="80" name="Freeform 80"/>
            <ns0:cNvSpPr/>
            <ns0:nvPr/>
          </ns0:nvSpPr>
          <ns0:spPr>
            <ns1:xfrm>
              <ns1:off x="0" y="0"/>
              <ns1:ext cx="7471028" cy="1862709"/>
            </ns1:xfrm>
            <ns1:custGeom>
              <ns1:avLst/>
              <ns1:gdLst/>
              <ns1:ahLst/>
              <ns1:cxnLst/>
              <ns1:rect l="l" t="t" r="r" b="b"/>
              <ns1:pathLst>
                <ns1:path w="7471028" h="1862709">
                  <ns1:moveTo>
                    <ns1:pt x="0" y="298069"/>
                  </ns1:moveTo>
                  <ns1:cubicBezTo>
                    <ns1:pt x="0" y="133477"/>
                    <ns1:pt x="133477" y="0"/>
                    <ns1:pt x="298069" y="0"/>
                  </ns1:cubicBezTo>
                  <ns1:lnTo>
                    <ns1:pt x="7172960" y="0"/>
                  </ns1:lnTo>
                  <ns1:cubicBezTo>
                    <ns1:pt x="7337552" y="0"/>
                    <ns1:pt x="7471028" y="133477"/>
                    <ns1:pt x="7471028" y="298069"/>
                  </ns1:cubicBezTo>
                  <ns1:lnTo>
                    <ns1:pt x="7471028" y="1564640"/>
                  </ns1:lnTo>
                  <ns1:cubicBezTo>
                    <ns1:pt x="7471028" y="1729232"/>
                    <ns1:pt x="7337552" y="1862709"/>
                    <ns1:pt x="7172960" y="1862709"/>
                  </ns1:cubicBezTo>
                  <ns1:lnTo>
                    <ns1:pt x="298069" y="1862709"/>
                  </ns1:lnTo>
                  <ns1:cubicBezTo>
                    <ns1:pt x="133477" y="1862709"/>
                    <ns1:pt x="0" y="1729232"/>
                    <ns1:pt x="0" y="1564640"/>
                  </ns1:cubicBezTo>
                  <ns1:close/>
                </ns1:path>
              </ns1:pathLst>
            </ns1:custGeom>
            <ns1:solidFill>
              <ns1:srgbClr val="0D9488"/>
            </ns1:solidFill>
            <ns1:ln w="25400" cap="sq">
              <ns1:solidFill>
                <ns1:srgbClr val="0D9488"/>
              </ns1:solidFill>
              <ns1:prstDash val="solid"/>
              <ns1:miter/>
            </ns1:ln>
          </ns0:spPr>
        </ns0:sp>
      </ns0:grpSp>
      <ns0:grpSp>
        <ns0:nvGrpSpPr>
          <ns0:cNvPr id="81" name="Group 81"/>
          <ns0:cNvGrpSpPr/>
          <ns0:nvPr/>
        </ns0:nvGrpSpPr>
        <ns0:grpSpPr>
          <ns1:xfrm>
            <ns1:off x="12240263" y="3004823"/>
            <ns1:ext cx="5603243" cy="610619"/>
            <ns1:chOff x="0" y="0"/>
            <ns1:chExt cx="7470991" cy="814159"/>
          </ns1:xfrm>
        </ns0:grpSpPr>
        <ns0:sp>
          <ns0:nvSpPr>
            <ns0:cNvPr id="82" name="Freeform 82"/>
            <ns0:cNvSpPr/>
            <ns0:nvPr/>
          </ns0:nvSpPr>
          <ns0:spPr>
            <ns1:xfrm>
              <ns1:off x="0" y="0"/>
              <ns1:ext cx="7471029" cy="814197"/>
            </ns1:xfrm>
            <ns1:custGeom>
              <ns1:avLst/>
              <ns1:gdLst/>
              <ns1:ahLst/>
              <ns1:cxnLst/>
              <ns1:rect l="l" t="t" r="r" b="b"/>
              <ns1:pathLst>
                <ns1:path w="7471029" h="814197">
                  <ns1:moveTo>
                    <ns1:pt x="0" y="0"/>
                  </ns1:moveTo>
                  <ns1:lnTo>
                    <ns1:pt x="7471029" y="0"/>
                  </ns1:lnTo>
                  <ns1:lnTo>
                    <ns1:pt x="7471029" y="814197"/>
                  </ns1:lnTo>
                  <ns1:lnTo>
                    <ns1:pt x="0" y="814197"/>
                  </ns1:lnTo>
                  <ns1:close/>
                </ns1:path>
              </ns1:pathLst>
            </ns1:custGeom>
            <ns1:solidFill>
              <ns1:srgbClr val="0D9488"/>
            </ns1:solidFill>
            <ns1:ln w="25400" cap="sq">
              <ns1:solidFill>
                <ns1:srgbClr val="0D9488"/>
              </ns1:solidFill>
              <ns1:prstDash val="solid"/>
              <ns1:miter/>
            </ns1:ln>
          </ns0:spPr>
        </ns0:sp>
      </ns0:grpSp>
      <ns0:grpSp>
        <ns0:nvGrpSpPr>
          <ns0:cNvPr id="83" name="Group 83"/>
          <ns0:cNvGrpSpPr/>
          <ns0:nvPr/>
        </ns0:nvGrpSpPr>
        <ns0:grpSpPr>
          <ns1:xfrm>
            <ns1:off x="14480543" y="2328167"/>
            <ns1:ext cx="1122683" cy="1122683"/>
            <ns1:chOff x="0" y="0"/>
            <ns1:chExt cx="1496911" cy="1496911"/>
          </ns1:xfrm>
        </ns0:grpSpPr>
        <ns0:sp>
          <ns0:nvSpPr>
            <ns0:cNvPr id="84" name="Freeform 84"/>
            <ns0:cNvSpPr/>
            <ns0:nvPr/>
          </ns0:nvSpPr>
          <ns0:spPr>
            <ns1:xfrm>
              <ns1:off x="0" y="0"/>
              <ns1:ext cx="1496822" cy="1496822"/>
            </ns1:xfrm>
            <ns1:custGeom>
              <ns1:avLst/>
              <ns1:gdLst/>
              <ns1:ahLst/>
              <ns1:cxnLst/>
              <ns1:rect l="l" t="t" r="r" b="b"/>
              <ns1:pathLst>
                <ns1:path w="1496822" h="1496822">
                  <ns1:moveTo>
                    <ns1:pt x="0" y="748411"/>
                  </ns1:moveTo>
                  <ns1:cubicBezTo>
                    <ns1:pt x="0" y="335153"/>
                    <ns1:pt x="335153" y="0"/>
                    <ns1:pt x="748411" y="0"/>
                  </ns1:cubicBezTo>
                  <ns1:cubicBezTo>
                    <ns1:pt x="1161669" y="0"/>
                    <ns1:pt x="1496822" y="335153"/>
                    <ns1:pt x="1496822" y="748411"/>
                  </ns1:cubicBezTo>
                  <ns1:cubicBezTo>
                    <ns1:pt x="1496822" y="1161669"/>
                    <ns1:pt x="1161669" y="1496822"/>
                    <ns1:pt x="748411" y="1496822"/>
                  </ns1:cubicBezTo>
                  <ns1:cubicBezTo>
                    <ns1:pt x="335153" y="1496822"/>
                    <ns1:pt x="0" y="1161796"/>
                    <ns1:pt x="0" y="748411"/>
                  </ns1:cubicBezTo>
                  <ns1:close/>
                </ns1:path>
              </ns1:pathLst>
            </ns1:custGeom>
            <ns1:solidFill>
              <ns1:srgbClr val="FFFFFF">
                <ns1:alpha val="63922"/>
              </ns1:srgbClr>
            </ns1:solidFill>
            <ns1:ln w="25400" cap="sq">
              <ns1:solidFill>
                <ns1:srgbClr val="FFFFFF"/>
              </ns1:solidFill>
              <ns1:prstDash val="solid"/>
              <ns1:miter/>
            </ns1:ln>
          </ns0:spPr>
        </ns0:sp>
      </ns0:grpSp>
      <ns0:grpSp>
        <ns0:nvGrpSpPr>
          <ns0:cNvPr id="85" name="Group 85"/>
          <ns0:cNvGrpSpPr/>
          <ns0:nvPr/>
        </ns0:nvGrpSpPr>
        <ns0:grpSpPr>
          <ns1:xfrm>
            <ns1:off x="14493240" y="2340864"/>
            <ns1:ext cx="1097280" cy="1097280"/>
            <ns1:chOff x="0" y="0"/>
            <ns1:chExt cx="1463040" cy="1463040"/>
          </ns1:xfrm>
        </ns0:grpSpPr>
        <ns0:sp>
          <ns0:nvSpPr>
            <ns0:cNvPr id="86" name="Freeform 86"/>
            <ns0:cNvSpPr/>
            <ns0:nvPr/>
          </ns0:nvSpPr>
          <ns0:spPr>
            <ns1:xfrm>
              <ns1:off x="0" y="0"/>
              <ns1:ext cx="1463040" cy="1463040"/>
            </ns1:xfrm>
            <ns1:custGeom>
              <ns1:avLst/>
              <ns1:gdLst/>
              <ns1:ahLst/>
              <ns1:cxnLst/>
              <ns1:rect l="l" t="t" r="r" b="b"/>
              <ns1:pathLst>
                <ns1:path w="1463040" h="1463040">
                  <ns1:moveTo>
                    <ns1:pt x="0" y="0"/>
                  </ns1:moveTo>
                  <ns1:lnTo>
                    <ns1:pt x="1463040" y="0"/>
                  </ns1:lnTo>
                  <ns1:lnTo>
                    <ns1:pt x="1463040" y="1463040"/>
                  </ns1:lnTo>
                  <ns1:lnTo>
                    <ns1:pt x="0" y="146304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78303" r="-78303"/>
              </ns1:stretch>
            </ns1:blipFill>
          </ns0:spPr>
        </ns0:sp>
        <ns0:sp>
          <ns0:nvSpPr>
            <ns0:cNvPr id="87" name="TextBox 87"/>
            <ns0:cNvSpPr txBox="1"/>
            <ns0:nvPr/>
          </ns0:nvSpPr>
          <ns0:spPr>
            <ns1:xfrm>
              <ns1:off x="0" y="-76200"/>
              <ns1:ext cx="1463040" cy="1539240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ctr">
                <ns1:lnSpc>
                  <ns1:spcPts val="5280"/>
                </ns1:lnSpc>
              </ns1:pPr>
              <ns1:r>
                <ns1:rPr lang="en-US" sz="4400" b="1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3</ns1:t>
              </ns1:r>
            </ns1:p>
          </ns0:txBody>
        </ns0:sp>
      </ns0:grpSp>
      <ns0:grpSp>
        <ns0:nvGrpSpPr>
          <ns0:cNvPr id="88" name="Group 88"/>
          <ns0:cNvGrpSpPr/>
          <ns0:nvPr/>
        </ns0:nvGrpSpPr>
        <ns0:grpSpPr>
          <ns1:xfrm>
            <ns1:off x="12435840" y="3749040"/>
            <ns1:ext cx="5212080" cy="658368"/>
            <ns1:chOff x="0" y="0"/>
            <ns1:chExt cx="6949440" cy="877824"/>
          </ns1:xfrm>
        </ns0:grpSpPr>
        <ns0:sp>
          <ns0:nvSpPr>
            <ns0:cNvPr id="89" name="Freeform 89"/>
            <ns0:cNvSpPr/>
            <ns0:nvPr/>
          </ns0:nvSpPr>
          <ns0:spPr>
            <ns1:xfrm>
              <ns1:off x="0" y="0"/>
              <ns1:ext cx="6949440" cy="877824"/>
            </ns1:xfrm>
            <ns1:custGeom>
              <ns1:avLst/>
              <ns1:gdLst/>
              <ns1:ahLst/>
              <ns1:cxnLst/>
              <ns1:rect l="l" t="t" r="r" b="b"/>
              <ns1:pathLst>
                <ns1:path w="6949440" h="877824">
                  <ns1:moveTo>
                    <ns1:pt x="0" y="0"/>
                  </ns1:moveTo>
                  <ns1:lnTo>
                    <ns1:pt x="6949440" y="0"/>
                  </ns1:lnTo>
                  <ns1:lnTo>
                    <ns1:pt x="6949440" y="877824"/>
                  </ns1:lnTo>
                  <ns1:lnTo>
                    <ns1:pt x="0" y="877824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104256" b="-104256"/>
              </ns1:stretch>
            </ns1:blipFill>
          </ns0:spPr>
        </ns0:sp>
        <ns0:sp>
          <ns0:nvSpPr>
            <ns0:cNvPr id="90" name="TextBox 90"/>
            <ns0:cNvSpPr txBox="1"/>
            <ns0:nvPr/>
          </ns0:nvSpPr>
          <ns0:spPr>
            <ns1:xfrm>
              <ns1:off x="0" y="-57150"/>
              <ns1:ext cx="6949440" cy="934974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ctr">
                <ns1:lnSpc>
                  <ns1:spcPts val="3120"/>
                </ns1:lnSpc>
              </ns1:pPr>
              <ns1:r>
                <ns1:rPr lang="en-US" sz="2600" b="1">
                  <ns1:solidFill>
                    <ns1:srgbClr val="0D9488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Normalisasi Min-Max</ns1:t>
              </ns1:r>
            </ns1:p>
          </ns0:txBody>
        </ns0:sp>
      </ns0:grpSp>
      <ns0:grpSp>
        <ns0:nvGrpSpPr>
          <ns0:cNvPr id="91" name="Group 91"/>
          <ns0:cNvGrpSpPr/>
          <ns0:nvPr/>
        </ns0:nvGrpSpPr>
        <ns0:grpSpPr>
          <ns1:xfrm>
            <ns1:off x="12496295" y="4559303"/>
            <ns1:ext cx="5091179" cy="1159259"/>
            <ns1:chOff x="0" y="0"/>
            <ns1:chExt cx="6788239" cy="1545679"/>
          </ns1:xfrm>
        </ns0:grpSpPr>
        <ns0:sp>
          <ns0:nvSpPr>
            <ns0:cNvPr id="92" name="Freeform 92"/>
            <ns0:cNvSpPr/>
            <ns0:nvPr/>
          </ns0:nvSpPr>
          <ns0:spPr>
            <ns1:xfrm>
              <ns1:off x="0" y="0"/>
              <ns1:ext cx="6788277" cy="1545717"/>
            </ns1:xfrm>
            <ns1:custGeom>
              <ns1:avLst/>
              <ns1:gdLst/>
              <ns1:ahLst/>
              <ns1:cxnLst/>
              <ns1:rect l="l" t="t" r="r" b="b"/>
              <ns1:pathLst>
                <ns1:path w="6788277" h="1545717">
                  <ns1:moveTo>
                    <ns1:pt x="0" y="149606"/>
                  </ns1:moveTo>
                  <ns1:cubicBezTo>
                    <ns1:pt x="0" y="66929"/>
                    <ns1:pt x="66929" y="0"/>
                    <ns1:pt x="149606" y="0"/>
                  </ns1:cubicBezTo>
                  <ns1:lnTo>
                    <ns1:pt x="6638671" y="0"/>
                  </ns1:lnTo>
                  <ns1:cubicBezTo>
                    <ns1:pt x="6721221" y="0"/>
                    <ns1:pt x="6788277" y="66929"/>
                    <ns1:pt x="6788277" y="149606"/>
                  </ns1:cubicBezTo>
                  <ns1:lnTo>
                    <ns1:pt x="6788277" y="1396111"/>
                  </ns1:lnTo>
                  <ns1:cubicBezTo>
                    <ns1:pt x="6788277" y="1478661"/>
                    <ns1:pt x="6721348" y="1545717"/>
                    <ns1:pt x="6638671" y="1545717"/>
                  </ns1:cubicBezTo>
                  <ns1:lnTo>
                    <ns1:pt x="149606" y="1545717"/>
                  </ns1:lnTo>
                  <ns1:cubicBezTo>
                    <ns1:pt x="66929" y="1545717"/>
                    <ns1:pt x="0" y="1478661"/>
                    <ns1:pt x="0" y="1396111"/>
                  </ns1:cubicBezTo>
                  <ns1:close/>
                </ns1:path>
              </ns1:pathLst>
            </ns1:custGeom>
            <ns1:solidFill>
              <ns1:srgbClr val="FFF7ED"/>
            </ns1:solidFill>
            <ns1:ln w="25400" cap="sq">
              <ns1:solidFill>
                <ns1:srgbClr val="FED7AA"/>
              </ns1:solidFill>
              <ns1:prstDash val="solid"/>
              <ns1:miter/>
            </ns1:ln>
          </ns0:spPr>
        </ns0:sp>
      </ns0:grpSp>
      <ns0:grpSp>
        <ns0:nvGrpSpPr>
          <ns0:cNvPr id="93" name="Group 93"/>
          <ns0:cNvGrpSpPr/>
          <ns0:nvPr/>
        </ns0:nvGrpSpPr>
        <ns0:grpSpPr>
          <ns1:xfrm>
            <ns1:off x="12691872" y="4681728"/>
            <ns1:ext cx="4700016" cy="914400"/>
            <ns1:chOff x="0" y="0"/>
            <ns1:chExt cx="6266688" cy="1219200"/>
          </ns1:xfrm>
        </ns0:grpSpPr>
        <ns0:sp>
          <ns0:nvSpPr>
            <ns0:cNvPr id="94" name="Freeform 94"/>
            <ns0:cNvSpPr/>
            <ns0:nvPr/>
          </ns0:nvSpPr>
          <ns0:spPr>
            <ns1:xfrm>
              <ns1:off x="0" y="0"/>
              <ns1:ext cx="6266688" cy="1219200"/>
            </ns1:xfrm>
            <ns1:custGeom>
              <ns1:avLst/>
              <ns1:gdLst/>
              <ns1:ahLst/>
              <ns1:cxnLst/>
              <ns1:rect l="l" t="t" r="r" b="b"/>
              <ns1:pathLst>
                <ns1:path w="6266688" h="1219200">
                  <ns1:moveTo>
                    <ns1:pt x="0" y="0"/>
                  </ns1:moveTo>
                  <ns1:lnTo>
                    <ns1:pt x="6266688" y="0"/>
                  </ns1:lnTo>
                  <ns1:lnTo>
                    <ns1:pt x="6266688" y="1219200"/>
                  </ns1:lnTo>
                  <ns1:lnTo>
                    <ns1:pt x="0" y="121920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50153" b="-50153"/>
              </ns1:stretch>
            </ns1:blipFill>
          </ns0:spPr>
        </ns0:sp>
        <ns0:sp>
          <ns0:nvSpPr>
            <ns0:cNvPr id="95" name="TextBox 95"/>
            <ns0:cNvSpPr txBox="1"/>
            <ns0:nvPr/>
          </ns0:nvSpPr>
          <ns0:spPr>
            <ns1:xfrm>
              <ns1:off x="0" y="-38100"/>
              <ns1:ext cx="6266688" cy="1257300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280"/>
                </ns1:lnSpc>
              </ns1:pPr>
              <ns1:r>
                <ns1:rPr lang="en-US" sz="1900">
                  <ns1:solidFill>
                    <ns1:srgbClr val="44403C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Setiap fitur diubah ke rentang 0 sampai 1</ns1:t>
              </ns1:r>
            </ns1:p>
          </ns0:txBody>
        </ns0:sp>
      </ns0:grpSp>
      <ns0:grpSp>
        <ns0:nvGrpSpPr>
          <ns0:cNvPr id="96" name="Group 96"/>
          <ns0:cNvGrpSpPr/>
          <ns0:nvPr/>
        </ns0:nvGrpSpPr>
        <ns0:grpSpPr>
          <ns1:xfrm>
            <ns1:off x="12496295" y="5839463"/>
            <ns1:ext cx="5091179" cy="1159259"/>
            <ns1:chOff x="0" y="0"/>
            <ns1:chExt cx="6788239" cy="1545679"/>
          </ns1:xfrm>
        </ns0:grpSpPr>
        <ns0:sp>
          <ns0:nvSpPr>
            <ns0:cNvPr id="97" name="Freeform 97"/>
            <ns0:cNvSpPr/>
            <ns0:nvPr/>
          </ns0:nvSpPr>
          <ns0:spPr>
            <ns1:xfrm>
              <ns1:off x="0" y="0"/>
              <ns1:ext cx="6788277" cy="1545717"/>
            </ns1:xfrm>
            <ns1:custGeom>
              <ns1:avLst/>
              <ns1:gdLst/>
              <ns1:ahLst/>
              <ns1:cxnLst/>
              <ns1:rect l="l" t="t" r="r" b="b"/>
              <ns1:pathLst>
                <ns1:path w="6788277" h="1545717">
                  <ns1:moveTo>
                    <ns1:pt x="0" y="149606"/>
                  </ns1:moveTo>
                  <ns1:cubicBezTo>
                    <ns1:pt x="0" y="66929"/>
                    <ns1:pt x="66929" y="0"/>
                    <ns1:pt x="149606" y="0"/>
                  </ns1:cubicBezTo>
                  <ns1:lnTo>
                    <ns1:pt x="6638671" y="0"/>
                  </ns1:lnTo>
                  <ns1:cubicBezTo>
                    <ns1:pt x="6721221" y="0"/>
                    <ns1:pt x="6788277" y="66929"/>
                    <ns1:pt x="6788277" y="149606"/>
                  </ns1:cubicBezTo>
                  <ns1:lnTo>
                    <ns1:pt x="6788277" y="1396111"/>
                  </ns1:lnTo>
                  <ns1:cubicBezTo>
                    <ns1:pt x="6788277" y="1478661"/>
                    <ns1:pt x="6721348" y="1545717"/>
                    <ns1:pt x="6638671" y="1545717"/>
                  </ns1:cubicBezTo>
                  <ns1:lnTo>
                    <ns1:pt x="149606" y="1545717"/>
                  </ns1:lnTo>
                  <ns1:cubicBezTo>
                    <ns1:pt x="66929" y="1545717"/>
                    <ns1:pt x="0" y="1478661"/>
                    <ns1:pt x="0" y="1396111"/>
                  </ns1:cubicBezTo>
                  <ns1:close/>
                </ns1:path>
              </ns1:pathLst>
            </ns1:custGeom>
            <ns1:solidFill>
              <ns1:srgbClr val="FFF7ED"/>
            </ns1:solidFill>
            <ns1:ln w="25400" cap="sq">
              <ns1:solidFill>
                <ns1:srgbClr val="FED7AA"/>
              </ns1:solidFill>
              <ns1:prstDash val="solid"/>
              <ns1:miter/>
            </ns1:ln>
          </ns0:spPr>
        </ns0:sp>
      </ns0:grpSp>
      <ns0:grpSp>
        <ns0:nvGrpSpPr>
          <ns0:cNvPr id="98" name="Group 98"/>
          <ns0:cNvGrpSpPr/>
          <ns0:nvPr/>
        </ns0:nvGrpSpPr>
        <ns0:grpSpPr>
          <ns1:xfrm>
            <ns1:off x="12691872" y="5961888"/>
            <ns1:ext cx="4700016" cy="914400"/>
            <ns1:chOff x="0" y="0"/>
            <ns1:chExt cx="6266688" cy="1219200"/>
          </ns1:xfrm>
        </ns0:grpSpPr>
        <ns0:sp>
          <ns0:nvSpPr>
            <ns0:cNvPr id="99" name="Freeform 99"/>
            <ns0:cNvSpPr/>
            <ns0:nvPr/>
          </ns0:nvSpPr>
          <ns0:spPr>
            <ns1:xfrm>
              <ns1:off x="0" y="0"/>
              <ns1:ext cx="6266688" cy="1219200"/>
            </ns1:xfrm>
            <ns1:custGeom>
              <ns1:avLst/>
              <ns1:gdLst/>
              <ns1:ahLst/>
              <ns1:cxnLst/>
              <ns1:rect l="l" t="t" r="r" b="b"/>
              <ns1:pathLst>
                <ns1:path w="6266688" h="1219200">
                  <ns1:moveTo>
                    <ns1:pt x="0" y="0"/>
                  </ns1:moveTo>
                  <ns1:lnTo>
                    <ns1:pt x="6266688" y="0"/>
                  </ns1:lnTo>
                  <ns1:lnTo>
                    <ns1:pt x="6266688" y="1219200"/>
                  </ns1:lnTo>
                  <ns1:lnTo>
                    <ns1:pt x="0" y="121920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50153" b="-50153"/>
              </ns1:stretch>
            </ns1:blipFill>
          </ns0:spPr>
        </ns0:sp>
        <ns0:sp>
          <ns0:nvSpPr>
            <ns0:cNvPr id="100" name="TextBox 100"/>
            <ns0:cNvSpPr txBox="1"/>
            <ns0:nvPr/>
          </ns0:nvSpPr>
          <ns0:spPr>
            <ns1:xfrm>
              <ns1:off x="0" y="-38100"/>
              <ns1:ext cx="6266688" cy="1257300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280"/>
                </ns1:lnSpc>
              </ns1:pPr>
              <ns1:r>
                <ns1:rPr lang="en-US" sz="1900">
                  <ns1:solidFill>
                    <ns1:srgbClr val="44403C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Menyetarakan skala antarmata pelajaran</ns1:t>
              </ns1:r>
            </ns1:p>
          </ns0:txBody>
        </ns0:sp>
      </ns0:grpSp>
      <ns0:grpSp>
        <ns0:nvGrpSpPr>
          <ns0:cNvPr id="101" name="Group 101"/>
          <ns0:cNvGrpSpPr/>
          <ns0:nvPr/>
        </ns0:nvGrpSpPr>
        <ns0:grpSpPr>
          <ns1:xfrm>
            <ns1:off x="12496295" y="7119623"/>
            <ns1:ext cx="5091179" cy="1159259"/>
            <ns1:chOff x="0" y="0"/>
            <ns1:chExt cx="6788239" cy="1545679"/>
          </ns1:xfrm>
        </ns0:grpSpPr>
        <ns0:sp>
          <ns0:nvSpPr>
            <ns0:cNvPr id="102" name="Freeform 102"/>
            <ns0:cNvSpPr/>
            <ns0:nvPr/>
          </ns0:nvSpPr>
          <ns0:spPr>
            <ns1:xfrm>
              <ns1:off x="0" y="0"/>
              <ns1:ext cx="6788277" cy="1545717"/>
            </ns1:xfrm>
            <ns1:custGeom>
              <ns1:avLst/>
              <ns1:gdLst/>
              <ns1:ahLst/>
              <ns1:cxnLst/>
              <ns1:rect l="l" t="t" r="r" b="b"/>
              <ns1:pathLst>
                <ns1:path w="6788277" h="1545717">
                  <ns1:moveTo>
                    <ns1:pt x="0" y="149606"/>
                  </ns1:moveTo>
                  <ns1:cubicBezTo>
                    <ns1:pt x="0" y="66929"/>
                    <ns1:pt x="66929" y="0"/>
                    <ns1:pt x="149606" y="0"/>
                  </ns1:cubicBezTo>
                  <ns1:lnTo>
                    <ns1:pt x="6638671" y="0"/>
                  </ns1:lnTo>
                  <ns1:cubicBezTo>
                    <ns1:pt x="6721221" y="0"/>
                    <ns1:pt x="6788277" y="66929"/>
                    <ns1:pt x="6788277" y="149606"/>
                  </ns1:cubicBezTo>
                  <ns1:lnTo>
                    <ns1:pt x="6788277" y="1396111"/>
                  </ns1:lnTo>
                  <ns1:cubicBezTo>
                    <ns1:pt x="6788277" y="1478661"/>
                    <ns1:pt x="6721348" y="1545717"/>
                    <ns1:pt x="6638671" y="1545717"/>
                  </ns1:cubicBezTo>
                  <ns1:lnTo>
                    <ns1:pt x="149606" y="1545717"/>
                  </ns1:lnTo>
                  <ns1:cubicBezTo>
                    <ns1:pt x="66929" y="1545717"/>
                    <ns1:pt x="0" y="1478661"/>
                    <ns1:pt x="0" y="1396111"/>
                  </ns1:cubicBezTo>
                  <ns1:close/>
                </ns1:path>
              </ns1:pathLst>
            </ns1:custGeom>
            <ns1:solidFill>
              <ns1:srgbClr val="FFF7ED"/>
            </ns1:solidFill>
            <ns1:ln w="25400" cap="sq">
              <ns1:solidFill>
                <ns1:srgbClr val="FED7AA"/>
              </ns1:solidFill>
              <ns1:prstDash val="solid"/>
              <ns1:miter/>
            </ns1:ln>
          </ns0:spPr>
        </ns0:sp>
      </ns0:grpSp>
      <ns0:grpSp>
        <ns0:nvGrpSpPr>
          <ns0:cNvPr id="103" name="Group 103"/>
          <ns0:cNvGrpSpPr/>
          <ns0:nvPr/>
        </ns0:nvGrpSpPr>
        <ns0:grpSpPr>
          <ns1:xfrm>
            <ns1:off x="12691872" y="7242048"/>
            <ns1:ext cx="4700016" cy="914400"/>
            <ns1:chOff x="0" y="0"/>
            <ns1:chExt cx="6266688" cy="1219200"/>
          </ns1:xfrm>
        </ns0:grpSpPr>
        <ns0:sp>
          <ns0:nvSpPr>
            <ns0:cNvPr id="104" name="Freeform 104"/>
            <ns0:cNvSpPr/>
            <ns0:nvPr/>
          </ns0:nvSpPr>
          <ns0:spPr>
            <ns1:xfrm>
              <ns1:off x="0" y="0"/>
              <ns1:ext cx="6266688" cy="1219200"/>
            </ns1:xfrm>
            <ns1:custGeom>
              <ns1:avLst/>
              <ns1:gdLst/>
              <ns1:ahLst/>
              <ns1:cxnLst/>
              <ns1:rect l="l" t="t" r="r" b="b"/>
              <ns1:pathLst>
                <ns1:path w="6266688" h="1219200">
                  <ns1:moveTo>
                    <ns1:pt x="0" y="0"/>
                  </ns1:moveTo>
                  <ns1:lnTo>
                    <ns1:pt x="6266688" y="0"/>
                  </ns1:lnTo>
                  <ns1:lnTo>
                    <ns1:pt x="6266688" y="1219200"/>
                  </ns1:lnTo>
                  <ns1:lnTo>
                    <ns1:pt x="0" y="121920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50153" b="-50153"/>
              </ns1:stretch>
            </ns1:blipFill>
          </ns0:spPr>
        </ns0:sp>
        <ns0:sp>
          <ns0:nvSpPr>
            <ns0:cNvPr id="105" name="TextBox 105"/>
            <ns0:cNvSpPr txBox="1"/>
            <ns0:nvPr/>
          </ns0:nvSpPr>
          <ns0:spPr>
            <ns1:xfrm>
              <ns1:off x="0" y="-38100"/>
              <ns1:ext cx="6266688" cy="1257300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280"/>
                </ns1:lnSpc>
              </ns1:pPr>
              <ns1:r>
                <ns1:rPr lang="en-US" sz="1900">
                  <ns1:solidFill>
                    <ns1:srgbClr val="44403C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Digunakan untuk Euclidean Distance</ns1:t>
              </ns1:r>
            </ns1:p>
          </ns0:txBody>
        </ns0:sp>
      </ns0:grpSp>
      <ns0:grpSp>
        <ns0:nvGrpSpPr>
          <ns0:cNvPr id="106" name="Group 106"/>
          <ns0:cNvGrpSpPr/>
          <ns0:nvPr/>
        </ns0:nvGrpSpPr>
        <ns0:grpSpPr>
          <ns1:xfrm>
            <ns1:off x="12496295" y="8399783"/>
            <ns1:ext cx="5091179" cy="1159259"/>
            <ns1:chOff x="0" y="0"/>
            <ns1:chExt cx="6788239" cy="1545679"/>
          </ns1:xfrm>
        </ns0:grpSpPr>
        <ns0:sp>
          <ns0:nvSpPr>
            <ns0:cNvPr id="107" name="Freeform 107"/>
            <ns0:cNvSpPr/>
            <ns0:nvPr/>
          </ns0:nvSpPr>
          <ns0:spPr>
            <ns1:xfrm>
              <ns1:off x="0" y="0"/>
              <ns1:ext cx="6788277" cy="1545717"/>
            </ns1:xfrm>
            <ns1:custGeom>
              <ns1:avLst/>
              <ns1:gdLst/>
              <ns1:ahLst/>
              <ns1:cxnLst/>
              <ns1:rect l="l" t="t" r="r" b="b"/>
              <ns1:pathLst>
                <ns1:path w="6788277" h="1545717">
                  <ns1:moveTo>
                    <ns1:pt x="0" y="149606"/>
                  </ns1:moveTo>
                  <ns1:cubicBezTo>
                    <ns1:pt x="0" y="66929"/>
                    <ns1:pt x="66929" y="0"/>
                    <ns1:pt x="149606" y="0"/>
                  </ns1:cubicBezTo>
                  <ns1:lnTo>
                    <ns1:pt x="6638671" y="0"/>
                  </ns1:lnTo>
                  <ns1:cubicBezTo>
                    <ns1:pt x="6721221" y="0"/>
                    <ns1:pt x="6788277" y="66929"/>
                    <ns1:pt x="6788277" y="149606"/>
                  </ns1:cubicBezTo>
                  <ns1:lnTo>
                    <ns1:pt x="6788277" y="1396111"/>
                  </ns1:lnTo>
                  <ns1:cubicBezTo>
                    <ns1:pt x="6788277" y="1478661"/>
                    <ns1:pt x="6721348" y="1545717"/>
                    <ns1:pt x="6638671" y="1545717"/>
                  </ns1:cubicBezTo>
                  <ns1:lnTo>
                    <ns1:pt x="149606" y="1545717"/>
                  </ns1:lnTo>
                  <ns1:cubicBezTo>
                    <ns1:pt x="66929" y="1545717"/>
                    <ns1:pt x="0" y="1478661"/>
                    <ns1:pt x="0" y="1396111"/>
                  </ns1:cubicBezTo>
                  <ns1:close/>
                </ns1:path>
              </ns1:pathLst>
            </ns1:custGeom>
            <ns1:solidFill>
              <ns1:srgbClr val="FFF7ED"/>
            </ns1:solidFill>
            <ns1:ln w="25400" cap="sq">
              <ns1:solidFill>
                <ns1:srgbClr val="FED7AA"/>
              </ns1:solidFill>
              <ns1:prstDash val="solid"/>
              <ns1:miter/>
            </ns1:ln>
          </ns0:spPr>
        </ns0:sp>
      </ns0:grpSp>
      <ns0:grpSp>
        <ns0:nvGrpSpPr>
          <ns0:cNvPr id="108" name="Group 108"/>
          <ns0:cNvGrpSpPr/>
          <ns0:nvPr/>
        </ns0:nvGrpSpPr>
        <ns0:grpSpPr>
          <ns1:xfrm>
            <ns1:off x="12691872" y="8522208"/>
            <ns1:ext cx="4700016" cy="914400"/>
            <ns1:chOff x="0" y="0"/>
            <ns1:chExt cx="6266688" cy="1219200"/>
          </ns1:xfrm>
        </ns0:grpSpPr>
        <ns0:sp>
          <ns0:nvSpPr>
            <ns0:cNvPr id="109" name="Freeform 109"/>
            <ns0:cNvSpPr/>
            <ns0:nvPr/>
          </ns0:nvSpPr>
          <ns0:spPr>
            <ns1:xfrm>
              <ns1:off x="0" y="0"/>
              <ns1:ext cx="6266688" cy="1219200"/>
            </ns1:xfrm>
            <ns1:custGeom>
              <ns1:avLst/>
              <ns1:gdLst/>
              <ns1:ahLst/>
              <ns1:cxnLst/>
              <ns1:rect l="l" t="t" r="r" b="b"/>
              <ns1:pathLst>
                <ns1:path w="6266688" h="1219200">
                  <ns1:moveTo>
                    <ns1:pt x="0" y="0"/>
                  </ns1:moveTo>
                  <ns1:lnTo>
                    <ns1:pt x="6266688" y="0"/>
                  </ns1:lnTo>
                  <ns1:lnTo>
                    <ns1:pt x="6266688" y="1219200"/>
                  </ns1:lnTo>
                  <ns1:lnTo>
                    <ns1:pt x="0" y="121920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50153" b="-50153"/>
              </ns1:stretch>
            </ns1:blipFill>
          </ns0:spPr>
        </ns0:sp>
        <ns0:sp>
          <ns0:nvSpPr>
            <ns0:cNvPr id="110" name="TextBox 110"/>
            <ns0:cNvSpPr txBox="1"/>
            <ns0:nvPr/>
          </ns0:nvSpPr>
          <ns0:spPr>
            <ns1:xfrm>
              <ns1:off x="0" y="-38100"/>
              <ns1:ext cx="6266688" cy="1257300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280"/>
                </ns1:lnSpc>
              </ns1:pPr>
              <ns1:r>
                <ns1:rPr lang="en-US" sz="1900">
                  <ns1:solidFill>
                    <ns1:srgbClr val="44403C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MinMaxScaler (Scikit-learn)</ns1:t>
              </ns1:r>
            </ns1:p>
          </ns0:txBody>
        </ns0:sp>
      </ns0:grpSp>
      <ns0:sp>
        <ns0:nvSpPr>
          <ns0:cNvPr id="111" name="TextBox 110">
            <ns1:extLst>
              <ns1:ext uri="{FF2B5EF4-FFF2-40B4-BE49-F238E27FC236}">
                <ns3:creationId id="{5D36168D-2C89-4CFB-8054-9EA350916BD3}"/>
              </ns1:ext>
            </ns1:extLst>
          </ns0:cNvPr>
          <ns0:cNvSpPr txBox="1"/>
          <ns0:nvPr/>
        </ns0:nvSpPr>
        <ns0:spPr>
          <ns1:xfrm>
            <ns1:off x="7747000" y="1219200"/>
            <ns1:ext cx="9779000" cy="338554"/>
          </ns1:xfrm>
          <ns1:prstGeom prst="rect">
            <ns1:avLst/>
          </ns1:prstGeom>
          <ns1:noFill/>
        </ns0:spPr>
        <ns0:txBody>
          <ns1:bodyPr vert="horz" lIns="127000" rIns="127000" rtlCol="0" anchor="ctr">
            <ns1:spAutoFit/>
          </ns1:bodyPr>
          <ns1:lstStyle/>
          <ns1:p>
            <ns1:pPr algn="ctr"/>
            <ns1:r>
              <ns1:rPr lang="en-ID" sz="1600" b="1">
                <ns1:solidFill>
                  <ns1:srgbClr val="FFFFFF"/>
                </ns1:solidFill>
                <ns1:latin typeface="Poppins"/>
              </ns1:rPr>
              <ns1:t>Cleaning  &gt;  Pivot  &gt;  Agama  &gt;  Seleksi Fitur  &gt;  Min-Max</ns1:t>
            </ns1:r>
          </ns1:p>
        </ns0:txBody>
      </ns0:sp>
    </ns0:spTree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 xmlns:ns4="http://schemas.microsoft.com/office/drawing/2010/main" xmlns:ns5="http://schemas.microsoft.com/office/drawing/2016/SVG/main">
  <ns0:cSld>
    <ns0:bg>
      <ns0:bgPr>
        <ns1:solidFill>
          <ns1:srgbClr val="FFFBF5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id="2" name="Group 2"/>
          <ns0:cNvGrpSpPr/>
          <ns0:nvPr/>
        </ns0:nvGrpSpPr>
        <ns0:grpSpPr>
          <ns1:xfrm>
            <ns1:off x="-12697" y="-12697"/>
            <ns1:ext cx="18313403" cy="1945643"/>
            <ns1:chOff x="0" y="0"/>
            <ns1:chExt cx="24417871" cy="2594191"/>
          </ns1:xfrm>
        </ns0:grpSpPr>
        <ns0:sp>
          <ns0:nvSpPr>
            <ns0:cNvPr id="3" name="Freeform 3"/>
            <ns0:cNvSpPr/>
            <ns0:nvPr/>
          </ns0:nvSpPr>
          <ns0:spPr>
            <ns1:xfrm>
              <ns1:off x="0" y="0"/>
              <ns1:ext cx="24417910" cy="2594229"/>
            </ns1:xfrm>
            <ns1:custGeom>
              <ns1:avLst/>
              <ns1:gdLst/>
              <ns1:ahLst/>
              <ns1:cxnLst/>
              <ns1:rect l="l" t="t" r="r" b="b"/>
              <ns1:pathLst>
                <ns1:path w="24417910" h="2594229">
                  <ns1:moveTo>
                    <ns1:pt x="0" y="0"/>
                  </ns1:moveTo>
                  <ns1:lnTo>
                    <ns1:pt x="24417910" y="0"/>
                  </ns1:lnTo>
                  <ns1:lnTo>
                    <ns1:pt x="24417910" y="2594229"/>
                  </ns1:lnTo>
                  <ns1:lnTo>
                    <ns1:pt x="0" y="2594229"/>
                  </ns1:lnTo>
                  <ns1:close/>
                </ns1:path>
              </ns1:pathLst>
            </ns1:custGeom>
            <ns1:solidFill>
              <ns1:srgbClr val="EA580C"/>
            </ns1:solidFill>
            <ns1:ln w="25400" cap="sq">
              <ns1:solidFill>
                <ns1:srgbClr val="EA580C"/>
              </ns1:solidFill>
              <ns1:prstDash val="solid"/>
              <ns1:miter/>
            </ns1:ln>
          </ns0:spPr>
        </ns0:sp>
      </ns0:grpSp>
      <ns0:grpSp>
        <ns0:nvGrpSpPr>
          <ns0:cNvPr id="4" name="Group 4"/>
          <ns0:cNvGrpSpPr/>
          <ns0:nvPr/>
        </ns0:nvGrpSpPr>
        <ns0:grpSpPr>
          <ns1:xfrm>
            <ns1:off x="-12697" y="-12697"/>
            <ns1:ext cx="354587" cy="1945643"/>
            <ns1:chOff x="0" y="0"/>
            <ns1:chExt cx="472783" cy="2594191"/>
          </ns1:xfrm>
        </ns0:grpSpPr>
        <ns0:sp>
          <ns0:nvSpPr>
            <ns0:cNvPr id="5" name="Freeform 5"/>
            <ns0:cNvSpPr/>
            <ns0:nvPr/>
          </ns0:nvSpPr>
          <ns0:spPr>
            <ns1:xfrm>
              <ns1:off x="0" y="0"/>
              <ns1:ext cx="472821" cy="2594229"/>
            </ns1:xfrm>
            <ns1:custGeom>
              <ns1:avLst/>
              <ns1:gdLst/>
              <ns1:ahLst/>
              <ns1:cxnLst/>
              <ns1:rect l="l" t="t" r="r" b="b"/>
              <ns1:pathLst>
                <ns1:path w="472821" h="2594229">
                  <ns1:moveTo>
                    <ns1:pt x="0" y="0"/>
                  </ns1:moveTo>
                  <ns1:lnTo>
                    <ns1:pt x="472821" y="0"/>
                  </ns1:lnTo>
                  <ns1:lnTo>
                    <ns1:pt x="472821" y="2594229"/>
                  </ns1:lnTo>
                  <ns1:lnTo>
                    <ns1:pt x="0" y="2594229"/>
                  </ns1:lnTo>
                  <ns1:close/>
                </ns1:path>
              </ns1:pathLst>
            </ns1:custGeom>
            <ns1:solidFill>
              <ns1:srgbClr val="FBBF24"/>
            </ns1:solidFill>
            <ns1:ln w="25400" cap="sq">
              <ns1:solidFill>
                <ns1:srgbClr val="FBBF24"/>
              </ns1:solidFill>
              <ns1:prstDash val="solid"/>
              <ns1:miter/>
            </ns1:ln>
          </ns0:spPr>
        </ns0:sp>
      </ns0:grpSp>
      <ns0:grpSp>
        <ns0:nvGrpSpPr>
          <ns0:cNvPr id="6" name="Group 6"/>
          <ns0:cNvGrpSpPr/>
          <ns0:nvPr/>
        </ns0:nvGrpSpPr>
        <ns0:grpSpPr>
          <ns1:xfrm>
            <ns1:off x="694944" y="0"/>
            <ns1:ext cx="17007840" cy="1920240"/>
            <ns1:chOff x="0" y="0"/>
            <ns1:chExt cx="22677120" cy="2560320"/>
          </ns1:xfrm>
        </ns0:grpSpPr>
        <ns0:sp>
          <ns0:nvSpPr>
            <ns0:cNvPr id="7" name="Freeform 7"/>
            <ns0:cNvSpPr/>
            <ns0:nvPr/>
          </ns0:nvSpPr>
          <ns0:spPr>
            <ns1:xfrm>
              <ns1:off x="0" y="0"/>
              <ns1:ext cx="22677120" cy="2560320"/>
            </ns1:xfrm>
            <ns1:custGeom>
              <ns1:avLst/>
              <ns1:gdLst/>
              <ns1:ahLst/>
              <ns1:cxnLst/>
              <ns1:rect l="l" t="t" r="r" b="b"/>
              <ns1:pathLst>
                <ns1:path w="22677120" h="2560320">
                  <ns1:moveTo>
                    <ns1:pt x="0" y="0"/>
                  </ns1:moveTo>
                  <ns1:lnTo>
                    <ns1:pt x="22677120" y="0"/>
                  </ns1:lnTo>
                  <ns1:lnTo>
                    <ns1:pt x="22677120" y="2560320"/>
                  </ns1:lnTo>
                  <ns1:lnTo>
                    <ns1:pt x="0" y="256032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122581" b="-122581"/>
              </ns1:stretch>
            </ns1:blipFill>
          </ns0:spPr>
        </ns0:sp>
        <ns0:sp>
          <ns0:nvSpPr>
            <ns0:cNvPr id="8" name="TextBox 8"/>
            <ns0:cNvSpPr txBox="1"/>
            <ns0:nvPr/>
          </ns0:nvSpPr>
          <ns0:spPr>
            <ns1:xfrm>
              <ns1:off x="0" y="-76200"/>
              <ns1:ext cx="22677120" cy="2636520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5280"/>
                </ns1:lnSpc>
              </ns1:pPr>
              <ns1:r>
                <ns1:rPr lang="en-US" sz="4400" b="1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Modelling &amp; Penentuan Jumlah Cluster</ns1:t>
              </ns1:r>
            </ns1:p>
          </ns0:txBody>
        </ns0:sp>
      </ns0:grpSp>
      <ns0:grpSp>
        <ns0:nvGrpSpPr>
          <ns0:cNvPr id="9" name="Group 9"/>
          <ns0:cNvGrpSpPr/>
          <ns0:nvPr/>
        </ns0:nvGrpSpPr>
        <ns0:grpSpPr>
          <ns1:xfrm>
            <ns1:off x="535943" y="2035559"/>
            <ns1:ext cx="8346443" cy="7938202"/>
            <ns1:chOff x="0" y="0"/>
            <ns1:chExt cx="11128591" cy="10584269"/>
          </ns1:xfrm>
        </ns0:grpSpPr>
        <ns0:sp>
          <ns0:nvSpPr>
            <ns0:cNvPr id="10" name="Freeform 10"/>
            <ns0:cNvSpPr/>
            <ns0:nvPr/>
          </ns0:nvSpPr>
          <ns0:spPr>
            <ns1:xfrm>
              <ns1:off x="0" y="0"/>
              <ns1:ext cx="11128502" cy="10584180"/>
            </ns1:xfrm>
            <ns1:custGeom>
              <ns1:avLst/>
              <ns1:gdLst/>
              <ns1:ahLst/>
              <ns1:cxnLst/>
              <ns1:rect l="l" t="t" r="r" b="b"/>
              <ns1:pathLst>
                <ns1:path w="11128502" h="10584180">
                  <ns1:moveTo>
                    <ns1:pt x="0" y="251968"/>
                  </ns1:moveTo>
                  <ns1:cubicBezTo>
                    <ns1:pt x="0" y="112776"/>
                    <ns1:pt x="112776" y="0"/>
                    <ns1:pt x="251968" y="0"/>
                  </ns1:cubicBezTo>
                  <ns1:lnTo>
                    <ns1:pt x="10876534" y="0"/>
                  </ns1:lnTo>
                  <ns1:cubicBezTo>
                    <ns1:pt x="11015726" y="0"/>
                    <ns1:pt x="11128502" y="112776"/>
                    <ns1:pt x="11128502" y="251968"/>
                  </ns1:cubicBezTo>
                  <ns1:lnTo>
                    <ns1:pt x="11128502" y="10332212"/>
                  </ns1:lnTo>
                  <ns1:cubicBezTo>
                    <ns1:pt x="11128502" y="10471404"/>
                    <ns1:pt x="11015726" y="10584180"/>
                    <ns1:pt x="10876534" y="10584180"/>
                  </ns1:cubicBezTo>
                  <ns1:lnTo>
                    <ns1:pt x="251968" y="10584180"/>
                  </ns1:lnTo>
                  <ns1:cubicBezTo>
                    <ns1:pt x="112776" y="10584307"/>
                    <ns1:pt x="0" y="10471404"/>
                    <ns1:pt x="0" y="10332212"/>
                  </ns1:cubicBezTo>
                  <ns1:close/>
                </ns1:path>
              </ns1:pathLst>
            </ns1:custGeom>
            <ns1:solidFill>
              <ns1:srgbClr val="FFFFFF"/>
            </ns1:solidFill>
            <ns1:ln w="25400" cap="sq">
              <ns1:solidFill>
                <ns1:srgbClr val="FED7AA"/>
              </ns1:solidFill>
              <ns1:prstDash val="solid"/>
              <ns1:miter/>
            </ns1:ln>
          </ns0:spPr>
        </ns0:sp>
      </ns0:grpSp>
      <ns0:grpSp>
        <ns0:nvGrpSpPr>
          <ns0:cNvPr id="11" name="Group 11"/>
          <ns0:cNvGrpSpPr/>
          <ns0:nvPr/>
        </ns0:nvGrpSpPr>
        <ns0:grpSpPr>
          <ns1:xfrm>
            <ns1:off x="535943" y="2035559"/>
            <ns1:ext cx="8346443" cy="756923"/>
            <ns1:chOff x="0" y="0"/>
            <ns1:chExt cx="11128591" cy="1009231"/>
          </ns1:xfrm>
        </ns0:grpSpPr>
        <ns0:sp>
          <ns0:nvSpPr>
            <ns0:cNvPr id="12" name="Freeform 12"/>
            <ns0:cNvSpPr/>
            <ns0:nvPr/>
          </ns0:nvSpPr>
          <ns0:spPr>
            <ns1:xfrm>
              <ns1:off x="0" y="0"/>
              <ns1:ext cx="11128628" cy="1009269"/>
            </ns1:xfrm>
            <ns1:custGeom>
              <ns1:avLst/>
              <ns1:gdLst/>
              <ns1:ahLst/>
              <ns1:cxnLst/>
              <ns1:rect l="l" t="t" r="r" b="b"/>
              <ns1:pathLst>
                <ns1:path w="11128628" h="1009269">
                  <ns1:moveTo>
                    <ns1:pt x="0" y="240284"/>
                  </ns1:moveTo>
                  <ns1:cubicBezTo>
                    <ns1:pt x="0" y="107569"/>
                    <ns1:pt x="107569" y="0"/>
                    <ns1:pt x="240284" y="0"/>
                  </ns1:cubicBezTo>
                  <ns1:lnTo>
                    <ns1:pt x="10888345" y="0"/>
                  </ns1:lnTo>
                  <ns1:cubicBezTo>
                    <ns1:pt x="11021060" y="0"/>
                    <ns1:pt x="11128628" y="107569"/>
                    <ns1:pt x="11128628" y="240284"/>
                  </ns1:cubicBezTo>
                  <ns1:lnTo>
                    <ns1:pt x="11128628" y="768985"/>
                  </ns1:lnTo>
                  <ns1:cubicBezTo>
                    <ns1:pt x="11128628" y="901700"/>
                    <ns1:pt x="11021060" y="1009269"/>
                    <ns1:pt x="10888345" y="1009269"/>
                  </ns1:cubicBezTo>
                  <ns1:lnTo>
                    <ns1:pt x="240284" y="1009269"/>
                  </ns1:lnTo>
                  <ns1:cubicBezTo>
                    <ns1:pt x="107569" y="1009269"/>
                    <ns1:pt x="0" y="901700"/>
                    <ns1:pt x="0" y="768985"/>
                  </ns1:cubicBezTo>
                  <ns1:close/>
                </ns1:path>
              </ns1:pathLst>
            </ns1:custGeom>
            <ns1:solidFill>
              <ns1:srgbClr val="F97316"/>
            </ns1:solidFill>
            <ns1:ln w="25400" cap="sq">
              <ns1:solidFill>
                <ns1:srgbClr val="F97316"/>
              </ns1:solidFill>
              <ns1:prstDash val="solid"/>
              <ns1:miter/>
            </ns1:ln>
          </ns0:spPr>
        </ns0:sp>
      </ns0:grpSp>
      <ns0:grpSp>
        <ns0:nvGrpSpPr>
          <ns0:cNvPr id="13" name="Group 13"/>
          <ns0:cNvGrpSpPr/>
          <ns0:nvPr/>
        </ns0:nvGrpSpPr>
        <ns0:grpSpPr>
          <ns1:xfrm>
            <ns1:off x="535943" y="2546280"/>
            <ns1:ext cx="8346443" cy="244859"/>
            <ns1:chOff x="0" y="0"/>
            <ns1:chExt cx="11128591" cy="326479"/>
          </ns1:xfrm>
        </ns0:grpSpPr>
        <ns0:sp>
          <ns0:nvSpPr>
            <ns0:cNvPr id="14" name="Freeform 14"/>
            <ns0:cNvSpPr/>
            <ns0:nvPr/>
          </ns0:nvSpPr>
          <ns0:spPr>
            <ns1:xfrm>
              <ns1:off x="0" y="0"/>
              <ns1:ext cx="11128629" cy="326517"/>
            </ns1:xfrm>
            <ns1:custGeom>
              <ns1:avLst/>
              <ns1:gdLst/>
              <ns1:ahLst/>
              <ns1:cxnLst/>
              <ns1:rect l="l" t="t" r="r" b="b"/>
              <ns1:pathLst>
                <ns1:path w="11128629" h="326517">
                  <ns1:moveTo>
                    <ns1:pt x="0" y="0"/>
                  </ns1:moveTo>
                  <ns1:lnTo>
                    <ns1:pt x="11128629" y="0"/>
                  </ns1:lnTo>
                  <ns1:lnTo>
                    <ns1:pt x="11128629" y="326517"/>
                  </ns1:lnTo>
                  <ns1:lnTo>
                    <ns1:pt x="0" y="326517"/>
                  </ns1:lnTo>
                  <ns1:close/>
                </ns1:path>
              </ns1:pathLst>
            </ns1:custGeom>
            <ns1:solidFill>
              <ns1:srgbClr val="F97316"/>
            </ns1:solidFill>
            <ns1:ln w="25400" cap="sq">
              <ns1:solidFill>
                <ns1:srgbClr val="F97316"/>
              </ns1:solidFill>
              <ns1:prstDash val="solid"/>
              <ns1:miter/>
            </ns1:ln>
          </ns0:spPr>
        </ns0:sp>
      </ns0:grpSp>
      <ns0:grpSp>
        <ns0:nvGrpSpPr>
          <ns0:cNvPr id="15" name="Group 15"/>
          <ns0:cNvGrpSpPr/>
          <ns0:nvPr/>
        </ns0:nvGrpSpPr>
        <ns0:grpSpPr>
          <ns1:xfrm>
            <ns1:off x="822960" y="2084832"/>
            <ns1:ext cx="7861678" cy="658368"/>
            <ns1:chOff x="0" y="0"/>
            <ns1:chExt cx="10482237" cy="877824"/>
          </ns1:xfrm>
        </ns0:grpSpPr>
        <ns0:sp>
          <ns0:nvSpPr>
            <ns0:cNvPr id="16" name="Freeform 16"/>
            <ns0:cNvSpPr/>
            <ns0:nvPr/>
          </ns0:nvSpPr>
          <ns0:spPr>
            <ns1:xfrm>
              <ns1:off x="0" y="0"/>
              <ns1:ext cx="10482240" cy="877824"/>
            </ns1:xfrm>
            <ns1:custGeom>
              <ns1:avLst/>
              <ns1:gdLst/>
              <ns1:ahLst/>
              <ns1:cxnLst/>
              <ns1:rect l="l" t="t" r="r" b="b"/>
              <ns1:pathLst>
                <ns1:path w="10482240" h="877824">
                  <ns1:moveTo>
                    <ns1:pt x="0" y="0"/>
                  </ns1:moveTo>
                  <ns1:lnTo>
                    <ns1:pt x="10482240" y="0"/>
                  </ns1:lnTo>
                  <ns1:lnTo>
                    <ns1:pt x="10482240" y="877824"/>
                  </ns1:lnTo>
                  <ns1:lnTo>
                    <ns1:pt x="0" y="877824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182673" b="-182673"/>
              </ns1:stretch>
            </ns1:blipFill>
          </ns0:spPr>
        </ns0:sp>
        <ns0:sp>
          <ns0:nvSpPr>
            <ns0:cNvPr id="17" name="TextBox 17"/>
            <ns0:cNvSpPr txBox="1"/>
            <ns0:nvPr/>
          </ns0:nvSpPr>
          <ns0:spPr>
            <ns1:xfrm>
              <ns1:off x="0" y="-47625"/>
              <ns1:ext cx="10482237" cy="925449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640"/>
                </ns1:lnSpc>
              </ns1:pPr>
              <ns1:r>
                <ns1:rPr lang="en-US" sz="2200" b="1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Pengujian K dan Kandidat Terbaik</ns1:t>
              </ns1:r>
            </ns1:p>
          </ns0:txBody>
        </ns0:sp>
      </ns0:grpSp>
      <ns0:sp>
        <ns0:nvSpPr>
          <ns0:cNvPr id="18" name="TextBox 18"/>
          <ns0:cNvSpPr txBox="1"/>
          <ns0:nvPr/>
        </ns0:nvSpPr>
        <ns0:spPr>
          <ns1:xfrm>
            <ns1:off x="914400" y="2787396"/>
            <ns1:ext cx="7678798" cy="1484576"/>
          </ns1:xfrm>
          <ns1:prstGeom prst="rect">
            <ns1:avLst/>
          </ns1:prstGeom>
        </ns0:spPr>
        <ns0:txBody>
          <ns1:bodyPr lIns="0" tIns="0" rIns="0" bIns="0" rtlCol="0" anchor="t">
            <ns1:spAutoFit/>
          </ns1:bodyPr>
          <ns1:lstStyle/>
          <ns1:p>
            <ns1:pPr algn="l">
              <ns1:lnSpc>
                <ns1:spcPts val="2112"/>
              </ns1:lnSpc>
            </ns1:pPr>
            <ns1:r>
              <ns1:rPr lang="en-US" sz="1760">
                <ns1:solidFill>
                  <ns1:srgbClr val="44403C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- K diuji dari 2 sampai 17</ns1:t>
            </ns1:r>
          </ns1:p>
          <ns1:p>
            <ns1:pPr algn="l">
              <ns1:lnSpc>
                <ns1:spcPts val="2112"/>
              </ns1:lnSpc>
            </ns1:pPr>
            <ns1:r>
              <ns1:rPr lang="en-US" sz="1760">
                <ns1:solidFill>
                  <ns1:srgbClr val="44403C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- Kandidat K: 3, 4, 5, dan 6</ns1:t>
            </ns1:r>
          </ns1:p>
          <ns1:p>
            <ns1:pPr algn="l">
              <ns1:lnSpc>
                <ns1:spcPts val="2112"/>
              </ns1:lnSpc>
            </ns1:pPr>
            <ns1:r>
              <ns1:rPr lang="en-US" sz="1760">
                <ns1:solidFill>
                  <ns1:srgbClr val="44403C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- K=5 memiliki Silhouette tertinggi</ns1:t>
            </ns1:r>
          </ns1:p>
          <ns1:p>
            <ns1:pPr algn="l">
              <ns1:lnSpc>
                <ns1:spcPts val="2112"/>
              </ns1:lnSpc>
            </ns1:pPr>
            <ns1:r>
              <ns1:rPr lang="en-US" sz="1760">
                <ns1:solidFill>
                  <ns1:srgbClr val="44403C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- Silhouette Score = 0,199861</ns1:t>
            </ns1:r>
          </ns1:p>
        </ns0:txBody>
      </ns0:sp>
      <ns0:grpSp>
        <ns0:nvGrpSpPr>
          <ns0:cNvPr id="30" name="Group 30"/>
          <ns0:cNvGrpSpPr/>
          <ns0:nvPr/>
        </ns0:nvGrpSpPr>
        <ns0:grpSpPr>
          <ns1:xfrm>
            <ns1:off x="9405623" y="2035559"/>
            <ns1:ext cx="8346443" cy="7938202"/>
            <ns1:chOff x="0" y="0"/>
            <ns1:chExt cx="11128591" cy="10584269"/>
          </ns1:xfrm>
        </ns0:grpSpPr>
        <ns0:sp>
          <ns0:nvSpPr>
            <ns0:cNvPr id="31" name="Freeform 31"/>
            <ns0:cNvSpPr/>
            <ns0:nvPr/>
          </ns0:nvSpPr>
          <ns0:spPr>
            <ns1:xfrm>
              <ns1:off x="0" y="0"/>
              <ns1:ext cx="11128502" cy="10584180"/>
            </ns1:xfrm>
            <ns1:custGeom>
              <ns1:avLst/>
              <ns1:gdLst/>
              <ns1:ahLst/>
              <ns1:cxnLst/>
              <ns1:rect l="l" t="t" r="r" b="b"/>
              <ns1:pathLst>
                <ns1:path w="11128502" h="10584180">
                  <ns1:moveTo>
                    <ns1:pt x="0" y="251968"/>
                  </ns1:moveTo>
                  <ns1:cubicBezTo>
                    <ns1:pt x="0" y="112776"/>
                    <ns1:pt x="112776" y="0"/>
                    <ns1:pt x="251968" y="0"/>
                  </ns1:cubicBezTo>
                  <ns1:lnTo>
                    <ns1:pt x="10876534" y="0"/>
                  </ns1:lnTo>
                  <ns1:cubicBezTo>
                    <ns1:pt x="11015726" y="0"/>
                    <ns1:pt x="11128502" y="112776"/>
                    <ns1:pt x="11128502" y="251968"/>
                  </ns1:cubicBezTo>
                  <ns1:lnTo>
                    <ns1:pt x="11128502" y="10332212"/>
                  </ns1:lnTo>
                  <ns1:cubicBezTo>
                    <ns1:pt x="11128502" y="10471404"/>
                    <ns1:pt x="11015726" y="10584180"/>
                    <ns1:pt x="10876534" y="10584180"/>
                  </ns1:cubicBezTo>
                  <ns1:lnTo>
                    <ns1:pt x="251968" y="10584180"/>
                  </ns1:lnTo>
                  <ns1:cubicBezTo>
                    <ns1:pt x="112776" y="10584307"/>
                    <ns1:pt x="0" y="10471404"/>
                    <ns1:pt x="0" y="10332212"/>
                  </ns1:cubicBezTo>
                  <ns1:close/>
                </ns1:path>
              </ns1:pathLst>
            </ns1:custGeom>
            <ns1:solidFill>
              <ns1:srgbClr val="FFFFFF"/>
            </ns1:solidFill>
            <ns1:ln w="25400" cap="sq">
              <ns1:solidFill>
                <ns1:srgbClr val="CCFBF1"/>
              </ns1:solidFill>
              <ns1:prstDash val="solid"/>
              <ns1:miter/>
            </ns1:ln>
          </ns0:spPr>
        </ns0:sp>
      </ns0:grpSp>
      <ns0:grpSp>
        <ns0:nvGrpSpPr>
          <ns0:cNvPr id="32" name="Group 32"/>
          <ns0:cNvGrpSpPr/>
          <ns0:nvPr/>
        </ns0:nvGrpSpPr>
        <ns0:grpSpPr>
          <ns1:xfrm>
            <ns1:off x="9405623" y="2035559"/>
            <ns1:ext cx="8346443" cy="756923"/>
            <ns1:chOff x="0" y="0"/>
            <ns1:chExt cx="11128591" cy="1009231"/>
          </ns1:xfrm>
        </ns0:grpSpPr>
        <ns0:sp>
          <ns0:nvSpPr>
            <ns0:cNvPr id="33" name="Freeform 33"/>
            <ns0:cNvSpPr/>
            <ns0:nvPr/>
          </ns0:nvSpPr>
          <ns0:spPr>
            <ns1:xfrm>
              <ns1:off x="0" y="0"/>
              <ns1:ext cx="11128628" cy="1009269"/>
            </ns1:xfrm>
            <ns1:custGeom>
              <ns1:avLst/>
              <ns1:gdLst/>
              <ns1:ahLst/>
              <ns1:cxnLst/>
              <ns1:rect l="l" t="t" r="r" b="b"/>
              <ns1:pathLst>
                <ns1:path w="11128628" h="1009269">
                  <ns1:moveTo>
                    <ns1:pt x="0" y="240284"/>
                  </ns1:moveTo>
                  <ns1:cubicBezTo>
                    <ns1:pt x="0" y="107569"/>
                    <ns1:pt x="107569" y="0"/>
                    <ns1:pt x="240284" y="0"/>
                  </ns1:cubicBezTo>
                  <ns1:lnTo>
                    <ns1:pt x="10888345" y="0"/>
                  </ns1:lnTo>
                  <ns1:cubicBezTo>
                    <ns1:pt x="11021060" y="0"/>
                    <ns1:pt x="11128628" y="107569"/>
                    <ns1:pt x="11128628" y="240284"/>
                  </ns1:cubicBezTo>
                  <ns1:lnTo>
                    <ns1:pt x="11128628" y="768985"/>
                  </ns1:lnTo>
                  <ns1:cubicBezTo>
                    <ns1:pt x="11128628" y="901700"/>
                    <ns1:pt x="11021060" y="1009269"/>
                    <ns1:pt x="10888345" y="1009269"/>
                  </ns1:cubicBezTo>
                  <ns1:lnTo>
                    <ns1:pt x="240284" y="1009269"/>
                  </ns1:lnTo>
                  <ns1:cubicBezTo>
                    <ns1:pt x="107569" y="1009269"/>
                    <ns1:pt x="0" y="901700"/>
                    <ns1:pt x="0" y="768985"/>
                  </ns1:cubicBezTo>
                  <ns1:close/>
                </ns1:path>
              </ns1:pathLst>
            </ns1:custGeom>
            <ns1:solidFill>
              <ns1:srgbClr val="0D9488"/>
            </ns1:solidFill>
            <ns1:ln w="25400" cap="sq">
              <ns1:solidFill>
                <ns1:srgbClr val="0D9488"/>
              </ns1:solidFill>
              <ns1:prstDash val="solid"/>
              <ns1:miter/>
            </ns1:ln>
          </ns0:spPr>
        </ns0:sp>
      </ns0:grpSp>
      <ns0:grpSp>
        <ns0:nvGrpSpPr>
          <ns0:cNvPr id="34" name="Group 34"/>
          <ns0:cNvGrpSpPr/>
          <ns0:nvPr/>
        </ns0:nvGrpSpPr>
        <ns0:grpSpPr>
          <ns1:xfrm>
            <ns1:off x="9405623" y="2546280"/>
            <ns1:ext cx="8346443" cy="244859"/>
            <ns1:chOff x="0" y="0"/>
            <ns1:chExt cx="11128591" cy="326479"/>
          </ns1:xfrm>
        </ns0:grpSpPr>
        <ns0:sp>
          <ns0:nvSpPr>
            <ns0:cNvPr id="35" name="Freeform 35"/>
            <ns0:cNvSpPr/>
            <ns0:nvPr/>
          </ns0:nvSpPr>
          <ns0:spPr>
            <ns1:xfrm>
              <ns1:off x="0" y="0"/>
              <ns1:ext cx="11128629" cy="326517"/>
            </ns1:xfrm>
            <ns1:custGeom>
              <ns1:avLst/>
              <ns1:gdLst/>
              <ns1:ahLst/>
              <ns1:cxnLst/>
              <ns1:rect l="l" t="t" r="r" b="b"/>
              <ns1:pathLst>
                <ns1:path w="11128629" h="326517">
                  <ns1:moveTo>
                    <ns1:pt x="0" y="0"/>
                  </ns1:moveTo>
                  <ns1:lnTo>
                    <ns1:pt x="11128629" y="0"/>
                  </ns1:lnTo>
                  <ns1:lnTo>
                    <ns1:pt x="11128629" y="326517"/>
                  </ns1:lnTo>
                  <ns1:lnTo>
                    <ns1:pt x="0" y="326517"/>
                  </ns1:lnTo>
                  <ns1:close/>
                </ns1:path>
              </ns1:pathLst>
            </ns1:custGeom>
            <ns1:solidFill>
              <ns1:srgbClr val="0D9488"/>
            </ns1:solidFill>
            <ns1:ln w="25400" cap="sq">
              <ns1:solidFill>
                <ns1:srgbClr val="0D9488"/>
              </ns1:solidFill>
              <ns1:prstDash val="solid"/>
              <ns1:miter/>
            </ns1:ln>
          </ns0:spPr>
        </ns0:sp>
      </ns0:grpSp>
      <ns0:grpSp>
        <ns0:nvGrpSpPr>
          <ns0:cNvPr id="36" name="Group 36"/>
          <ns0:cNvGrpSpPr/>
          <ns0:nvPr/>
        </ns0:nvGrpSpPr>
        <ns0:grpSpPr>
          <ns1:xfrm>
            <ns1:off x="9692640" y="2084832"/>
            <ns1:ext cx="7861678" cy="658368"/>
            <ns1:chOff x="0" y="0"/>
            <ns1:chExt cx="10482237" cy="877824"/>
          </ns1:xfrm>
        </ns0:grpSpPr>
        <ns0:sp>
          <ns0:nvSpPr>
            <ns0:cNvPr id="37" name="Freeform 37"/>
            <ns0:cNvSpPr/>
            <ns0:nvPr/>
          </ns0:nvSpPr>
          <ns0:spPr>
            <ns1:xfrm>
              <ns1:off x="0" y="0"/>
              <ns1:ext cx="10482240" cy="877824"/>
            </ns1:xfrm>
            <ns1:custGeom>
              <ns1:avLst/>
              <ns1:gdLst/>
              <ns1:ahLst/>
              <ns1:cxnLst/>
              <ns1:rect l="l" t="t" r="r" b="b"/>
              <ns1:pathLst>
                <ns1:path w="10482240" h="877824">
                  <ns1:moveTo>
                    <ns1:pt x="0" y="0"/>
                  </ns1:moveTo>
                  <ns1:lnTo>
                    <ns1:pt x="10482240" y="0"/>
                  </ns1:lnTo>
                  <ns1:lnTo>
                    <ns1:pt x="10482240" y="877824"/>
                  </ns1:lnTo>
                  <ns1:lnTo>
                    <ns1:pt x="0" y="877824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182673" b="-182673"/>
              </ns1:stretch>
            </ns1:blipFill>
          </ns0:spPr>
        </ns0:sp>
        <ns0:sp>
          <ns0:nvSpPr>
            <ns0:cNvPr id="38" name="TextBox 38"/>
            <ns0:cNvSpPr txBox="1"/>
            <ns0:nvPr/>
          </ns0:nvSpPr>
          <ns0:spPr>
            <ns1:xfrm>
              <ns1:off x="0" y="-47625"/>
              <ns1:ext cx="10482237" cy="925449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640"/>
                </ns1:lnSpc>
              </ns1:pPr>
              <ns1:r>
                <ns1:rPr lang="en-US" sz="2200" b="1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Proses K-Means</ns1:t>
              </ns1:r>
            </ns1:p>
          </ns0:txBody>
        </ns0:sp>
      </ns0:grpSp>
      <ns0:sp>
        <ns0:nvSpPr>
          <ns0:cNvPr id="39" name="TextBox 39"/>
          <ns0:cNvSpPr txBox="1"/>
          <ns0:nvPr/>
        </ns0:nvSpPr>
        <ns0:spPr>
          <ns1:xfrm>
            <ns1:off x="9784080" y="2823400"/>
            <ns1:ext cx="7678798" cy="1484576"/>
          </ns1:xfrm>
          <ns1:prstGeom prst="rect">
            <ns1:avLst/>
          </ns1:prstGeom>
        </ns0:spPr>
        <ns0:txBody>
          <ns1:bodyPr lIns="0" tIns="0" rIns="0" bIns="0" rtlCol="0" anchor="t">
            <ns1:spAutoFit/>
          </ns1:bodyPr>
          <ns1:lstStyle/>
          <ns1:p>
            <ns1:pPr algn="l">
              <ns1:lnSpc>
                <ns1:spcPts val="2112"/>
              </ns1:lnSpc>
            </ns1:pPr>
            <ns1:r>
              <ns1:rPr lang="en-US" sz="1760">
                <ns1:solidFill>
                  <ns1:srgbClr val="44403C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1. Parameter: random_state=42, n_init=10</ns1:t>
            </ns1:r>
          </ns1:p>
          <ns1:p>
            <ns1:pPr algn="l">
              <ns1:lnSpc>
                <ns1:spcPts val="2112"/>
              </ns1:lnSpc>
            </ns1:pPr>
            <ns1:r>
              <ns1:rPr lang="en-US" sz="1760">
                <ns1:solidFill>
                  <ns1:srgbClr val="44403C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2. Hitung jarak ke centroid</ns1:t>
            </ns1:r>
          </ns1:p>
          <ns1:p>
            <ns1:pPr algn="l">
              <ns1:lnSpc>
                <ns1:spcPts val="2112"/>
              </ns1:lnSpc>
            </ns1:pPr>
            <ns1:r>
              <ns1:rPr lang="en-US" sz="1760">
                <ns1:solidFill>
                  <ns1:srgbClr val="44403C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3. Tempatkan siswa ke cluster terdekat</ns1:t>
            </ns1:r>
          </ns1:p>
          <ns1:p>
            <ns1:pPr algn="l">
              <ns1:lnSpc>
                <ns1:spcPts val="2112"/>
              </ns1:lnSpc>
            </ns1:pPr>
            <ns1:r>
              <ns1:rPr lang="en-US" sz="1760">
                <ns1:solidFill>
                  <ns1:srgbClr val="44403C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4. Perbarui centroid kelompok</ns1:t>
            </ns1:r>
          </ns1:p>
          <ns1:p>
            <ns1:pPr algn="l">
              <ns1:lnSpc>
                <ns1:spcPts val="2112"/>
              </ns1:lnSpc>
            </ns1:pPr>
            <ns1:r>
              <ns1:rPr lang="en-US" sz="1760">
                <ns1:solidFill>
                  <ns1:srgbClr val="44403C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5. Konvergen dalam 5 iterasi</ns1:t>
            </ns1:r>
          </ns1:p>
        </ns0:txBody>
      </ns0:sp>
      <ns0:grpSp>
        <ns0:nvGrpSpPr>
          <ns0:cNvPr id="40" name="Group 40"/>
          <ns0:cNvGrpSpPr/>
          <ns0:nvPr/>
        </ns0:nvGrpSpPr>
        <ns0:grpSpPr>
          <ns1:xfrm>
            <ns1:off x="9692640" y="4389120"/>
            <ns1:ext cx="7861678" cy="36576"/>
            <ns1:chOff x="0" y="0"/>
            <ns1:chExt cx="10482237" cy="48768"/>
          </ns1:xfrm>
        </ns0:grpSpPr>
        <ns0:sp>
          <ns0:nvSpPr>
            <ns0:cNvPr id="41" name="Freeform 41"/>
            <ns0:cNvSpPr/>
            <ns0:nvPr/>
          </ns0:nvSpPr>
          <ns0:spPr>
            <ns1:xfrm>
              <ns1:off x="0" y="0"/>
              <ns1:ext cx="10482199" cy="48768"/>
            </ns1:xfrm>
            <ns1:custGeom>
              <ns1:avLst/>
              <ns1:gdLst/>
              <ns1:ahLst/>
              <ns1:cxnLst/>
              <ns1:rect l="l" t="t" r="r" b="b"/>
              <ns1:pathLst>
                <ns1:path w="10482199" h="48768">
                  <ns1:moveTo>
                    <ns1:pt x="0" y="0"/>
                  </ns1:moveTo>
                  <ns1:lnTo>
                    <ns1:pt x="10482199" y="0"/>
                  </ns1:lnTo>
                  <ns1:lnTo>
                    <ns1:pt x="10482199" y="48768"/>
                  </ns1:lnTo>
                  <ns1:lnTo>
                    <ns1:pt x="0" y="48768"/>
                  </ns1:lnTo>
                  <ns1:close/>
                </ns1:path>
              </ns1:pathLst>
            </ns1:custGeom>
            <ns1:solidFill>
              <ns1:srgbClr val="CCFBF1"/>
            </ns1:solidFill>
          </ns0:spPr>
        </ns0:sp>
      </ns0:grpSp>
      <ns0:grpSp>
        <ns0:nvGrpSpPr>
          <ns0:cNvPr id="42" name="Group 42"/>
          <ns0:cNvGrpSpPr/>
          <ns0:nvPr/>
        </ns0:nvGrpSpPr>
        <ns0:grpSpPr>
          <ns1:xfrm>
            <ns1:off x="9692640" y="4461700"/>
            <ns1:ext cx="7861678" cy="512064"/>
            <ns1:chOff x="0" y="0"/>
            <ns1:chExt cx="10482237" cy="682752"/>
          </ns1:xfrm>
        </ns0:grpSpPr>
        <ns0:sp>
          <ns0:nvSpPr>
            <ns0:cNvPr id="43" name="Freeform 43"/>
            <ns0:cNvSpPr/>
            <ns0:nvPr/>
          </ns0:nvSpPr>
          <ns0:spPr>
            <ns1:xfrm>
              <ns1:off x="0" y="0"/>
              <ns1:ext cx="10482240" cy="682752"/>
            </ns1:xfrm>
            <ns1:custGeom>
              <ns1:avLst/>
              <ns1:gdLst/>
              <ns1:ahLst/>
              <ns1:cxnLst/>
              <ns1:rect l="l" t="t" r="r" b="b"/>
              <ns1:pathLst>
                <ns1:path w="10482240" h="682752">
                  <ns1:moveTo>
                    <ns1:pt x="0" y="0"/>
                  </ns1:moveTo>
                  <ns1:lnTo>
                    <ns1:pt x="10482240" y="0"/>
                  </ns1:lnTo>
                  <ns1:lnTo>
                    <ns1:pt x="10482240" y="682752"/>
                  </ns1:lnTo>
                  <ns1:lnTo>
                    <ns1:pt x="0" y="682752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249152" b="-249152"/>
              </ns1:stretch>
            </ns1:blipFill>
          </ns0:spPr>
        </ns0:sp>
        <ns0:sp>
          <ns0:nvSpPr>
            <ns0:cNvPr id="44" name="TextBox 44"/>
            <ns0:cNvSpPr txBox="1"/>
            <ns0:nvPr/>
          </ns0:nvSpPr>
          <ns0:spPr>
            <ns1:xfrm>
              <ns1:off x="0" y="-38100"/>
              <ns1:ext cx="10482237" cy="720852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400"/>
                </ns1:lnSpc>
              </ns1:pPr>
              <ns1:r>
                <ns1:rPr lang="en-US" sz="2000" b="1">
                  <ns1:solidFill>
                    <ns1:srgbClr val="0D9488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Hasil Modelling</ns1:t>
              </ns1:r>
            </ns1:p>
          </ns0:txBody>
        </ns0:sp>
      </ns0:grpSp>
      <ns0:sp>
        <ns0:nvSpPr>
          <ns0:cNvPr id="45" name="TextBox 45"/>
          <ns0:cNvSpPr txBox="1"/>
          <ns0:nvPr/>
        </ns0:nvSpPr>
        <ns0:spPr>
          <ns1:xfrm>
            <ns1:off x="9784080" y="5017475"/>
            <ns1:ext cx="7678798" cy="787908"/>
          </ns1:xfrm>
          <ns1:prstGeom prst="rect">
            <ns1:avLst/>
          </ns1:prstGeom>
        </ns0:spPr>
        <ns0:txBody>
          <ns1:bodyPr lIns="0" tIns="0" rIns="0" bIns="0" rtlCol="0" anchor="t">
            <ns1:spAutoFit/>
          </ns1:bodyPr>
          <ns1:lstStyle/>
          <ns1:p>
            <ns1:pPr algn="l">
              <ns1:lnSpc>
                <ns1:spcPts val="2112"/>
              </ns1:lnSpc>
            </ns1:pPr>
            <ns1:r>
              <ns1:rPr lang="en-US" sz="1760">
                <ns1:solidFill>
                  <ns1:srgbClr val="44403C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34 siswa XI Perhotelan terbentuk menjadi 5 cluster.</ns1:t>
            </ns1:r>
          </ns1:p>
        </ns0:txBody>
      </ns0:sp>
      <ns0:grpSp>
        <ns0:nvGrpSpPr>
          <ns0:cNvPr id="46" name="Group 46"/>
          <ns0:cNvGrpSpPr/>
          <ns0:nvPr/>
        </ns0:nvGrpSpPr>
        <ns0:grpSpPr>
          <ns1:xfrm>
            <ns1:off x="9350759" y="9131303"/>
            <ns1:ext cx="8436435" cy="647195"/>
            <ns1:chOff x="0" y="0"/>
            <ns1:chExt cx="11248580" cy="862927"/>
          </ns1:xfrm>
        </ns0:grpSpPr>
        <ns0:sp>
          <ns0:nvSpPr>
            <ns0:cNvPr id="47" name="Freeform 47"/>
            <ns0:cNvSpPr/>
            <ns0:nvPr/>
          </ns0:nvSpPr>
          <ns0:spPr>
            <ns1:xfrm>
              <ns1:off x="0" y="0"/>
              <ns1:ext cx="11248644" cy="862965"/>
            </ns1:xfrm>
            <ns1:custGeom>
              <ns1:avLst/>
              <ns1:gdLst/>
              <ns1:ahLst/>
              <ns1:cxnLst/>
              <ns1:rect l="l" t="t" r="r" b="b"/>
              <ns1:pathLst>
                <ns1:path w="11248644" h="862965">
                  <ns1:moveTo>
                    <ns1:pt x="0" y="95885"/>
                  </ns1:moveTo>
                  <ns1:cubicBezTo>
                    <ns1:pt x="0" y="42926"/>
                    <ns1:pt x="42926" y="0"/>
                    <ns1:pt x="95885" y="0"/>
                  </ns1:cubicBezTo>
                  <ns1:lnTo>
                    <ns1:pt x="11152759" y="0"/>
                  </ns1:lnTo>
                  <ns1:cubicBezTo>
                    <ns1:pt x="11205718" y="0"/>
                    <ns1:pt x="11248644" y="42926"/>
                    <ns1:pt x="11248644" y="95885"/>
                  </ns1:cubicBezTo>
                  <ns1:lnTo>
                    <ns1:pt x="11248644" y="767080"/>
                  </ns1:lnTo>
                  <ns1:cubicBezTo>
                    <ns1:pt x="11248644" y="820039"/>
                    <ns1:pt x="11205718" y="862965"/>
                    <ns1:pt x="11152759" y="862965"/>
                  </ns1:cubicBezTo>
                  <ns1:lnTo>
                    <ns1:pt x="95885" y="862965"/>
                  </ns1:lnTo>
                  <ns1:cubicBezTo>
                    <ns1:pt x="42926" y="862965"/>
                    <ns1:pt x="0" y="820039"/>
                    <ns1:pt x="0" y="767080"/>
                  </ns1:cubicBezTo>
                  <ns1:close/>
                </ns1:path>
              </ns1:pathLst>
            </ns1:custGeom>
            <ns1:solidFill>
              <ns1:srgbClr val="FBBF24"/>
            </ns1:solidFill>
            <ns1:ln w="25400" cap="sq">
              <ns1:solidFill>
                <ns1:srgbClr val="F59E0B"/>
              </ns1:solidFill>
              <ns1:prstDash val="solid"/>
              <ns1:miter/>
            </ns1:ln>
          </ns0:spPr>
        </ns0:sp>
      </ns0:grpSp>
      <ns0:grpSp>
        <ns0:nvGrpSpPr>
          <ns0:cNvPr id="48" name="Group 48"/>
          <ns0:cNvGrpSpPr/>
          <ns0:nvPr/>
        </ns0:nvGrpSpPr>
        <ns0:grpSpPr>
          <ns1:xfrm>
            <ns1:off x="9509760" y="9180576"/>
            <ns1:ext cx="8119682" cy="548640"/>
            <ns1:chOff x="0" y="0"/>
            <ns1:chExt cx="10826242" cy="731520"/>
          </ns1:xfrm>
        </ns0:grpSpPr>
        <ns0:sp>
          <ns0:nvSpPr>
            <ns0:cNvPr id="49" name="Freeform 49"/>
            <ns0:cNvSpPr/>
            <ns0:nvPr/>
          </ns0:nvSpPr>
          <ns0:spPr>
            <ns1:xfrm>
              <ns1:off x="0" y="0"/>
              <ns1:ext cx="10826240" cy="731520"/>
            </ns1:xfrm>
            <ns1:custGeom>
              <ns1:avLst/>
              <ns1:gdLst/>
              <ns1:ahLst/>
              <ns1:cxnLst/>
              <ns1:rect l="l" t="t" r="r" b="b"/>
              <ns1:pathLst>
                <ns1:path w="10826240" h="731520">
                  <ns1:moveTo>
                    <ns1:pt x="0" y="0"/>
                  </ns1:moveTo>
                  <ns1:lnTo>
                    <ns1:pt x="10826240" y="0"/>
                  </ns1:lnTo>
                  <ns1:lnTo>
                    <ns1:pt x="10826240" y="731520"/>
                  </ns1:lnTo>
                  <ns1:lnTo>
                    <ns1:pt x="0" y="73152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t="-238371" b="-238371"/>
              </ns1:stretch>
            </ns1:blipFill>
          </ns0:spPr>
        </ns0:sp>
        <ns0:sp>
          <ns0:nvSpPr>
            <ns0:cNvPr id="50" name="TextBox 50"/>
            <ns0:cNvSpPr txBox="1"/>
            <ns0:nvPr/>
          </ns0:nvSpPr>
          <ns0:spPr>
            <ns1:xfrm>
              <ns1:off x="0" y="-47625"/>
              <ns1:ext cx="10826242" cy="779145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ctr">
                <ns1:lnSpc>
                  <ns1:spcPts val="2640"/>
                </ns1:lnSpc>
              </ns1:pPr>
              <ns1:r>
                <ns1:rPr lang="en-US" sz="2200">
                  <ns1:solidFill>
                    <ns1:srgbClr val="EA580C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Hasil: </ns1:t>
              </ns1:r>
              <ns1:r>
                <ns1:rPr lang="en-US" sz="2200" b="1">
                  <ns1:solidFill>
                    <ns1:srgbClr val="EA580C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K=5 | Silhouette=0,199861 | 5 iterasi</ns1:t>
              </ns1:r>
            </ns1:p>
          </ns0:txBody>
        </ns0:sp>
      </ns0:grpSp>
      <ns0:sp>
        <ns0:nvSpPr>
          <ns0:cNvPr id="51" name="TextBox 50">
            <ns1:extLst>
              <ns1:ext uri="{FF2B5EF4-FFF2-40B4-BE49-F238E27FC236}">
                <ns3:creationId id="{C7A3CF37-7C69-47E6-9CC7-BD7877D09EF5}"/>
              </ns1:ext>
            </ns1:extLst>
          </ns0:cNvPr>
          <ns0:cNvSpPr txBox="1"/>
          <ns0:nvPr/>
        </ns0:nvSpPr>
        <ns0:spPr>
          <ns1:xfrm>
            <ns1:off x="825500" y="4445000"/>
            <ns1:ext cx="7861300" cy="369332"/>
          </ns1:xfrm>
          <ns1:prstGeom prst="rect">
            <ns1:avLst/>
          </ns1:prstGeom>
          <ns1:noFill/>
        </ns0:spPr>
        <ns0:txBody>
          <ns1:bodyPr vert="horz" lIns="127000" rIns="127000" rtlCol="0" anchor="ctr">
            <ns1:spAutoFit/>
          </ns1:bodyPr>
          <ns1:lstStyle/>
          <ns1:p>
            <ns1:r>
              <ns1:rPr lang="en-ID" b="1">
                <ns1:solidFill>
                  <ns1:srgbClr val="EB4B0F"/>
                </ns1:solidFill>
                <ns1:latin typeface="Poppins"/>
              </ns1:rPr>
              <ns1:t>Grafik Elbow Method</ns1:t>
            </ns1:r>
          </ns1:p>
        </ns0:txBody>
      </ns0:sp>
      <ns0:pic>
        <ns0:nvPicPr>
          <ns0:cNvPr id="53" name="Graphic 52">
            <ns1:extLst>
              <ns1:ext uri="{FF2B5EF4-FFF2-40B4-BE49-F238E27FC236}">
                <ns3:creationId id="{5E5E645F-7EBE-4CDF-94E8-2E68113B39C1}"/>
              </ns1:ext>
            </ns1:extLst>
          </ns0:cNvPr>
          <ns0:cNvPicPr>
            <ns1:picLocks/>
          </ns0:cNvPicPr>
          <ns0:nvPr/>
        </ns0:nvPicPr>
        <ns0:blipFill>
          <ns1:blip ns2:embed="rId4" cstate="print">
            <ns1:extLst>
              <ns1:ext uri="{28A0092B-C50C-407E-A947-70E740481C1C}">
                <ns4:useLocalDpi val="0"/>
              </ns1:ext>
              <ns1:ext uri="{96DAC541-7B7A-43D3-8B79-37D633B846F1}">
                <ns5:svgBlip ns2:embed="rId5"/>
              </ns1:ext>
            </ns1:extLst>
          </ns1:blip>
          <ns1:stretch>
            <ns1:fillRect/>
          </ns1:stretch>
        </ns0:blipFill>
        <ns0:spPr>
          <ns1:xfrm>
            <ns1:off x="1524000" y="4927600"/>
            <ns1:ext cx="6350000" cy="4229100"/>
          </ns1:xfrm>
          <ns1:prstGeom prst="rect">
            <ns1:avLst/>
          </ns1:prstGeom>
        </ns0:spPr>
      </ns0:pic>
    </ns0:spTree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FFBF5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id="2" name="Group 2"/>
          <ns0:cNvGrpSpPr/>
          <ns0:nvPr/>
        </ns0:nvGrpSpPr>
        <ns0:grpSpPr>
          <ns1:xfrm>
            <ns1:off x="-12697" y="-12697"/>
            <ns1:ext cx="18313403" cy="1945643"/>
            <ns1:chOff x="0" y="0"/>
            <ns1:chExt cx="24417871" cy="2594191"/>
          </ns1:xfrm>
        </ns0:grpSpPr>
        <ns0:sp>
          <ns0:nvSpPr>
            <ns0:cNvPr id="3" name="Freeform 3"/>
            <ns0:cNvSpPr/>
            <ns0:nvPr/>
          </ns0:nvSpPr>
          <ns0:spPr>
            <ns1:xfrm>
              <ns1:off x="0" y="0"/>
              <ns1:ext cx="24417910" cy="2594229"/>
            </ns1:xfrm>
            <ns1:custGeom>
              <ns1:avLst/>
              <ns1:gdLst/>
              <ns1:ahLst/>
              <ns1:cxnLst/>
              <ns1:rect l="l" t="t" r="r" b="b"/>
              <ns1:pathLst>
                <ns1:path w="24417910" h="2594229">
                  <ns1:moveTo>
                    <ns1:pt x="0" y="0"/>
                  </ns1:moveTo>
                  <ns1:lnTo>
                    <ns1:pt x="24417910" y="0"/>
                  </ns1:lnTo>
                  <ns1:lnTo>
                    <ns1:pt x="24417910" y="2594229"/>
                  </ns1:lnTo>
                  <ns1:lnTo>
                    <ns1:pt x="0" y="2594229"/>
                  </ns1:lnTo>
                  <ns1:close/>
                </ns1:path>
              </ns1:pathLst>
            </ns1:custGeom>
            <ns1:solidFill>
              <ns1:srgbClr val="0D9488"/>
            </ns1:solidFill>
            <ns1:ln w="25400" cap="sq">
              <ns1:solidFill>
                <ns1:srgbClr val="0D9488"/>
              </ns1:solidFill>
              <ns1:prstDash val="solid"/>
              <ns1:miter/>
            </ns1:ln>
          </ns0:spPr>
        </ns0:sp>
      </ns0:grpSp>
      <ns0:grpSp>
        <ns0:nvGrpSpPr>
          <ns0:cNvPr id="4" name="Group 4"/>
          <ns0:cNvGrpSpPr/>
          <ns0:nvPr/>
        </ns0:nvGrpSpPr>
        <ns0:grpSpPr>
          <ns1:xfrm>
            <ns1:off x="-12697" y="-12697"/>
            <ns1:ext cx="354587" cy="1945643"/>
            <ns1:chOff x="0" y="0"/>
            <ns1:chExt cx="472783" cy="2594191"/>
          </ns1:xfrm>
        </ns0:grpSpPr>
        <ns0:sp>
          <ns0:nvSpPr>
            <ns0:cNvPr id="5" name="Freeform 5"/>
            <ns0:cNvSpPr/>
            <ns0:nvPr/>
          </ns0:nvSpPr>
          <ns0:spPr>
            <ns1:xfrm>
              <ns1:off x="0" y="0"/>
              <ns1:ext cx="472821" cy="2594229"/>
            </ns1:xfrm>
            <ns1:custGeom>
              <ns1:avLst/>
              <ns1:gdLst/>
              <ns1:ahLst/>
              <ns1:cxnLst/>
              <ns1:rect l="l" t="t" r="r" b="b"/>
              <ns1:pathLst>
                <ns1:path w="472821" h="2594229">
                  <ns1:moveTo>
                    <ns1:pt x="0" y="0"/>
                  </ns1:moveTo>
                  <ns1:lnTo>
                    <ns1:pt x="472821" y="0"/>
                  </ns1:lnTo>
                  <ns1:lnTo>
                    <ns1:pt x="472821" y="2594229"/>
                  </ns1:lnTo>
                  <ns1:lnTo>
                    <ns1:pt x="0" y="2594229"/>
                  </ns1:lnTo>
                  <ns1:close/>
                </ns1:path>
              </ns1:pathLst>
            </ns1:custGeom>
            <ns1:solidFill>
              <ns1:srgbClr val="FBBF24"/>
            </ns1:solidFill>
            <ns1:ln w="25400" cap="sq">
              <ns1:solidFill>
                <ns1:srgbClr val="FBBF24"/>
              </ns1:solidFill>
              <ns1:prstDash val="solid"/>
              <ns1:miter/>
            </ns1:ln>
          </ns0:spPr>
        </ns0:sp>
      </ns0:grpSp>
      <ns0:grpSp>
        <ns0:nvGrpSpPr>
          <ns0:cNvPr id="6" name="Group 6"/>
          <ns0:cNvGrpSpPr/>
          <ns0:nvPr/>
        </ns0:nvGrpSpPr>
        <ns0:grpSpPr>
          <ns1:xfrm>
            <ns1:off x="694944" y="0"/>
            <ns1:ext cx="17007840" cy="1920240"/>
            <ns1:chOff x="0" y="0"/>
            <ns1:chExt cx="22677120" cy="2560320"/>
          </ns1:xfrm>
        </ns0:grpSpPr>
        <ns0:sp>
          <ns0:nvSpPr>
            <ns0:cNvPr id="7" name="Freeform 7"/>
            <ns0:cNvSpPr/>
            <ns0:nvPr/>
          </ns0:nvSpPr>
          <ns0:spPr>
            <ns1:xfrm>
              <ns1:off x="0" y="0"/>
              <ns1:ext cx="22677120" cy="2560320"/>
            </ns1:xfrm>
            <ns1:custGeom>
              <ns1:avLst/>
              <ns1:gdLst/>
              <ns1:ahLst/>
              <ns1:cxnLst/>
              <ns1:rect l="l" t="t" r="r" b="b"/>
              <ns1:pathLst>
                <ns1:path w="22677120" h="2560320">
                  <ns1:moveTo>
                    <ns1:pt x="0" y="0"/>
                  </ns1:moveTo>
                  <ns1:lnTo>
                    <ns1:pt x="22677120" y="0"/>
                  </ns1:lnTo>
                  <ns1:lnTo>
                    <ns1:pt x="22677120" y="2560320"/>
                  </ns1:lnTo>
                  <ns1:lnTo>
                    <ns1:pt x="0" y="2560320"/>
                  </ns1:lnTo>
                  <ns1:close/>
                </ns1:path>
              </ns1:pathLst>
            </ns1:custGeom>
            <ns1:blipFill>
              <ns1:blip ns2:embed="rId2">
                <ns1:alphaModFix amt="0"/>
              </ns1:blip>
              <ns1:stretch>
                <ns1:fillRect t="-122581" b="-122581"/>
              </ns1:stretch>
            </ns1:blipFill>
          </ns0:spPr>
        </ns0:sp>
        <ns0:sp>
          <ns0:nvSpPr>
            <ns0:cNvPr id="8" name="TextBox 8"/>
            <ns0:cNvSpPr txBox="1"/>
            <ns0:nvPr/>
          </ns0:nvSpPr>
          <ns0:spPr>
            <ns1:xfrm>
              <ns1:off x="0" y="-76200"/>
              <ns1:ext cx="22677120" cy="2636520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5280"/>
                </ns1:lnSpc>
              </ns1:pPr>
              <ns1:r>
                <ns1:rPr lang="en-US" sz="4400" b="1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Hasil Clustering &amp; Evaluasi</ns1:t>
              </ns1:r>
            </ns1:p>
          </ns0:txBody>
        </ns0:sp>
      </ns0:grpSp>
      <ns0:grpSp>
        <ns0:nvGrpSpPr>
          <ns0:cNvPr id="9" name="Group 9"/>
          <ns0:cNvGrpSpPr/>
          <ns0:nvPr/>
        </ns0:nvGrpSpPr>
        <ns0:grpSpPr>
          <ns1:xfrm>
            <ns1:off x="535943" y="2035559"/>
            <ns1:ext cx="8346443" cy="7938202"/>
            <ns1:chOff x="0" y="0"/>
            <ns1:chExt cx="11128591" cy="10584269"/>
          </ns1:xfrm>
        </ns0:grpSpPr>
        <ns0:sp>
          <ns0:nvSpPr>
            <ns0:cNvPr id="10" name="Freeform 10"/>
            <ns0:cNvSpPr/>
            <ns0:nvPr/>
          </ns0:nvSpPr>
          <ns0:spPr>
            <ns1:xfrm>
              <ns1:off x="0" y="0"/>
              <ns1:ext cx="11128502" cy="10584180"/>
            </ns1:xfrm>
            <ns1:custGeom>
              <ns1:avLst/>
              <ns1:gdLst/>
              <ns1:ahLst/>
              <ns1:cxnLst/>
              <ns1:rect l="l" t="t" r="r" b="b"/>
              <ns1:pathLst>
                <ns1:path w="11128502" h="10584180">
                  <ns1:moveTo>
                    <ns1:pt x="0" y="251968"/>
                  </ns1:moveTo>
                  <ns1:cubicBezTo>
                    <ns1:pt x="0" y="112776"/>
                    <ns1:pt x="112776" y="0"/>
                    <ns1:pt x="251968" y="0"/>
                  </ns1:cubicBezTo>
                  <ns1:lnTo>
                    <ns1:pt x="10876534" y="0"/>
                  </ns1:lnTo>
                  <ns1:cubicBezTo>
                    <ns1:pt x="11015726" y="0"/>
                    <ns1:pt x="11128502" y="112776"/>
                    <ns1:pt x="11128502" y="251968"/>
                  </ns1:cubicBezTo>
                  <ns1:lnTo>
                    <ns1:pt x="11128502" y="10332212"/>
                  </ns1:lnTo>
                  <ns1:cubicBezTo>
                    <ns1:pt x="11128502" y="10471404"/>
                    <ns1:pt x="11015726" y="10584180"/>
                    <ns1:pt x="10876534" y="10584180"/>
                  </ns1:cubicBezTo>
                  <ns1:lnTo>
                    <ns1:pt x="251968" y="10584180"/>
                  </ns1:lnTo>
                  <ns1:cubicBezTo>
                    <ns1:pt x="112776" y="10584307"/>
                    <ns1:pt x="0" y="10471404"/>
                    <ns1:pt x="0" y="10332212"/>
                  </ns1:cubicBezTo>
                  <ns1:close/>
                </ns1:path>
              </ns1:pathLst>
            </ns1:custGeom>
            <ns1:solidFill>
              <ns1:srgbClr val="F0FDFA"/>
            </ns1:solidFill>
            <ns1:ln w="25400" cap="sq">
              <ns1:solidFill>
                <ns1:srgbClr val="0D9488"/>
              </ns1:solidFill>
              <ns1:prstDash val="solid"/>
              <ns1:miter/>
            </ns1:ln>
          </ns0:spPr>
        </ns0:sp>
      </ns0:grpSp>
      <ns0:grpSp>
        <ns0:nvGrpSpPr>
          <ns0:cNvPr id="11" name="Group 11"/>
          <ns0:cNvGrpSpPr/>
          <ns0:nvPr/>
        </ns0:nvGrpSpPr>
        <ns0:grpSpPr>
          <ns1:xfrm>
            <ns1:off x="535943" y="2035559"/>
            <ns1:ext cx="8346443" cy="756923"/>
            <ns1:chOff x="0" y="0"/>
            <ns1:chExt cx="11128591" cy="1009231"/>
          </ns1:xfrm>
        </ns0:grpSpPr>
        <ns0:sp>
          <ns0:nvSpPr>
            <ns0:cNvPr id="12" name="Freeform 12"/>
            <ns0:cNvSpPr/>
            <ns0:nvPr/>
          </ns0:nvSpPr>
          <ns0:spPr>
            <ns1:xfrm>
              <ns1:off x="0" y="0"/>
              <ns1:ext cx="11128628" cy="1009269"/>
            </ns1:xfrm>
            <ns1:custGeom>
              <ns1:avLst/>
              <ns1:gdLst/>
              <ns1:ahLst/>
              <ns1:cxnLst/>
              <ns1:rect l="l" t="t" r="r" b="b"/>
              <ns1:pathLst>
                <ns1:path w="11128628" h="1009269">
                  <ns1:moveTo>
                    <ns1:pt x="0" y="240284"/>
                  </ns1:moveTo>
                  <ns1:cubicBezTo>
                    <ns1:pt x="0" y="107569"/>
                    <ns1:pt x="107569" y="0"/>
                    <ns1:pt x="240284" y="0"/>
                  </ns1:cubicBezTo>
                  <ns1:lnTo>
                    <ns1:pt x="10888345" y="0"/>
                  </ns1:lnTo>
                  <ns1:cubicBezTo>
                    <ns1:pt x="11021060" y="0"/>
                    <ns1:pt x="11128628" y="107569"/>
                    <ns1:pt x="11128628" y="240284"/>
                  </ns1:cubicBezTo>
                  <ns1:lnTo>
                    <ns1:pt x="11128628" y="768985"/>
                  </ns1:lnTo>
                  <ns1:cubicBezTo>
                    <ns1:pt x="11128628" y="901700"/>
                    <ns1:pt x="11021060" y="1009269"/>
                    <ns1:pt x="10888345" y="1009269"/>
                  </ns1:cubicBezTo>
                  <ns1:lnTo>
                    <ns1:pt x="240284" y="1009269"/>
                  </ns1:lnTo>
                  <ns1:cubicBezTo>
                    <ns1:pt x="107569" y="1009269"/>
                    <ns1:pt x="0" y="901700"/>
                    <ns1:pt x="0" y="768985"/>
                  </ns1:cubicBezTo>
                  <ns1:close/>
                </ns1:path>
              </ns1:pathLst>
            </ns1:custGeom>
            <ns1:solidFill>
              <ns1:srgbClr val="0D9488"/>
            </ns1:solidFill>
            <ns1:ln w="25400" cap="sq">
              <ns1:solidFill>
                <ns1:srgbClr val="0D9488"/>
              </ns1:solidFill>
              <ns1:prstDash val="solid"/>
              <ns1:miter/>
            </ns1:ln>
          </ns0:spPr>
        </ns0:sp>
      </ns0:grpSp>
      <ns0:grpSp>
        <ns0:nvGrpSpPr>
          <ns0:cNvPr id="13" name="Group 13"/>
          <ns0:cNvGrpSpPr/>
          <ns0:nvPr/>
        </ns0:nvGrpSpPr>
        <ns0:grpSpPr>
          <ns1:xfrm>
            <ns1:off x="535943" y="2546280"/>
            <ns1:ext cx="8346443" cy="244859"/>
            <ns1:chOff x="0" y="0"/>
            <ns1:chExt cx="11128591" cy="326479"/>
          </ns1:xfrm>
        </ns0:grpSpPr>
        <ns0:sp>
          <ns0:nvSpPr>
            <ns0:cNvPr id="14" name="Freeform 14"/>
            <ns0:cNvSpPr/>
            <ns0:nvPr/>
          </ns0:nvSpPr>
          <ns0:spPr>
            <ns1:xfrm>
              <ns1:off x="0" y="0"/>
              <ns1:ext cx="11128629" cy="326517"/>
            </ns1:xfrm>
            <ns1:custGeom>
              <ns1:avLst/>
              <ns1:gdLst/>
              <ns1:ahLst/>
              <ns1:cxnLst/>
              <ns1:rect l="l" t="t" r="r" b="b"/>
              <ns1:pathLst>
                <ns1:path w="11128629" h="326517">
                  <ns1:moveTo>
                    <ns1:pt x="0" y="0"/>
                  </ns1:moveTo>
                  <ns1:lnTo>
                    <ns1:pt x="11128629" y="0"/>
                  </ns1:lnTo>
                  <ns1:lnTo>
                    <ns1:pt x="11128629" y="326517"/>
                  </ns1:lnTo>
                  <ns1:lnTo>
                    <ns1:pt x="0" y="326517"/>
                  </ns1:lnTo>
                  <ns1:close/>
                </ns1:path>
              </ns1:pathLst>
            </ns1:custGeom>
            <ns1:solidFill>
              <ns1:srgbClr val="0D9488"/>
            </ns1:solidFill>
            <ns1:ln w="25400" cap="sq">
              <ns1:solidFill>
                <ns1:srgbClr val="0D9488"/>
              </ns1:solidFill>
              <ns1:prstDash val="solid"/>
              <ns1:miter/>
            </ns1:ln>
          </ns0:spPr>
        </ns0:sp>
      </ns0:grpSp>
      <ns0:grpSp>
        <ns0:nvGrpSpPr>
          <ns0:cNvPr id="15" name="Group 15"/>
          <ns0:cNvGrpSpPr/>
          <ns0:nvPr/>
        </ns0:nvGrpSpPr>
        <ns0:grpSpPr>
          <ns1:xfrm>
            <ns1:off x="822960" y="2084832"/>
            <ns1:ext cx="7861678" cy="658368"/>
            <ns1:chOff x="0" y="0"/>
            <ns1:chExt cx="10482237" cy="877824"/>
          </ns1:xfrm>
        </ns0:grpSpPr>
        <ns0:sp>
          <ns0:nvSpPr>
            <ns0:cNvPr id="16" name="Freeform 16"/>
            <ns0:cNvSpPr/>
            <ns0:nvPr/>
          </ns0:nvSpPr>
          <ns0:spPr>
            <ns1:xfrm>
              <ns1:off x="0" y="0"/>
              <ns1:ext cx="10482240" cy="877824"/>
            </ns1:xfrm>
            <ns1:custGeom>
              <ns1:avLst/>
              <ns1:gdLst/>
              <ns1:ahLst/>
              <ns1:cxnLst/>
              <ns1:rect l="l" t="t" r="r" b="b"/>
              <ns1:pathLst>
                <ns1:path w="10482240" h="877824">
                  <ns1:moveTo>
                    <ns1:pt x="0" y="0"/>
                  </ns1:moveTo>
                  <ns1:lnTo>
                    <ns1:pt x="10482240" y="0"/>
                  </ns1:lnTo>
                  <ns1:lnTo>
                    <ns1:pt x="10482240" y="877824"/>
                  </ns1:lnTo>
                  <ns1:lnTo>
                    <ns1:pt x="0" y="877824"/>
                  </ns1:lnTo>
                  <ns1:close/>
                </ns1:path>
              </ns1:pathLst>
            </ns1:custGeom>
            <ns1:blipFill>
              <ns1:blip ns2:embed="rId2">
                <ns1:alphaModFix amt="0"/>
              </ns1:blip>
              <ns1:stretch>
                <ns1:fillRect t="-182673" b="-182673"/>
              </ns1:stretch>
            </ns1:blipFill>
          </ns0:spPr>
        </ns0:sp>
        <ns0:sp>
          <ns0:nvSpPr>
            <ns0:cNvPr id="17" name="TextBox 17"/>
            <ns0:cNvSpPr txBox="1"/>
            <ns0:nvPr/>
          </ns0:nvSpPr>
          <ns0:spPr>
            <ns1:xfrm>
              <ns1:off x="0" y="-47625"/>
              <ns1:ext cx="10482237" cy="925449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640"/>
                </ns1:lnSpc>
              </ns1:pPr>
              <ns1:r>
                <ns1:rPr lang="en-US" sz="2200" b="1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Hasil Clustering</ns1:t>
              </ns1:r>
            </ns1:p>
          </ns0:txBody>
        </ns0:sp>
      </ns0:grpSp>
      <ns0:sp>
        <ns0:nvSpPr>
          <ns0:cNvPr id="18" name="TextBox 18"/>
          <ns0:cNvSpPr txBox="1"/>
          <ns0:nvPr/>
        </ns0:nvSpPr>
        <ns0:spPr>
          <ns1:xfrm>
            <ns1:off x="914400" y="2823400"/>
            <ns1:ext cx="7678798" cy="2580132"/>
          </ns1:xfrm>
          <ns1:prstGeom prst="rect">
            <ns1:avLst/>
          </ns1:prstGeom>
        </ns0:spPr>
        <ns0:txBody>
          <ns1:bodyPr lIns="0" tIns="0" rIns="0" bIns="0" rtlCol="0" anchor="t">
            <ns1:spAutoFit/>
          </ns1:bodyPr>
          <ns1:lstStyle/>
          <ns1:p>
            <ns1:pPr algn="l">
              <ns1:lnSpc>
                <ns1:spcPts val="2112"/>
              </ns1:lnSpc>
            </ns1:pPr>
            <ns1:r>
              <ns1:rPr lang="en-US" sz="1760">
                <ns1:solidFill>
                  <ns1:srgbClr val="44403C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- 34 siswa XI Perhotelan
- Terbentuk 5 cluster
- Profil: rata-rata nilai setiap cluster</ns1:t>
            </ns1:r>
          </ns1:p>
          <ns1:p>
            <ns1:pPr algn="l">
              <ns1:lnSpc>
                <ns1:spcPts val="2112"/>
              </ns1:lnSpc>
            </ns1:pPr>
            <ns1:endParaRPr lang="en-US" sz="1760">
              <ns1:solidFill>
                <ns1:srgbClr val="44403C"/>
              </ns1:solidFill>
              <ns1:latin typeface="Calibri (MS)"/>
              <ns1:ea typeface="Calibri (MS)"/>
              <ns1:cs typeface="Calibri (MS)"/>
              <ns1:sym typeface="Calibri (MS)"/>
            </ns1:endParaRPr>
          </ns1:p>
          <ns1:p>
            <ns1:pPr algn="l">
              <ns1:lnSpc>
                <ns1:spcPts val="2112"/>
              </ns1:lnSpc>
            </ns1:pPr>
            <ns1:endParaRPr lang="en-US" sz="1760">
              <ns1:solidFill>
                <ns1:srgbClr val="44403C"/>
              </ns1:solidFill>
              <ns1:latin typeface="Calibri (MS)"/>
              <ns1:ea typeface="Calibri (MS)"/>
              <ns1:cs typeface="Calibri (MS)"/>
              <ns1:sym typeface="Calibri (MS)"/>
            </ns1:endParaRPr>
          </ns1:p>
          <ns1:p>
            <ns1:pPr algn="l">
              <ns1:lnSpc>
                <ns1:spcPts val="2112"/>
              </ns1:lnSpc>
            </ns1:pPr>
            <ns1:endParaRPr lang="en-US" sz="1760">
              <ns1:solidFill>
                <ns1:srgbClr val="44403C"/>
              </ns1:solidFill>
              <ns1:latin typeface="Calibri (MS)"/>
              <ns1:ea typeface="Calibri (MS)"/>
              <ns1:cs typeface="Calibri (MS)"/>
              <ns1:sym typeface="Calibri (MS)"/>
            </ns1:endParaRPr>
          </ns1:p>
          <ns1:p>
            <ns1:pPr algn="l">
              <ns1:lnSpc>
                <ns1:spcPts val="2112"/>
              </ns1:lnSpc>
            </ns1:pPr>
            <ns1:endParaRPr lang="en-US" sz="1760">
              <ns1:solidFill>
                <ns1:srgbClr val="44403C"/>
              </ns1:solidFill>
              <ns1:latin typeface="Calibri (MS)"/>
              <ns1:ea typeface="Calibri (MS)"/>
              <ns1:cs typeface="Calibri (MS)"/>
              <ns1:sym typeface="Calibri (MS)"/>
            </ns1:endParaRPr>
          </ns1:p>
          <ns1:p>
            <ns1:pPr algn="l">
              <ns1:lnSpc>
                <ns1:spcPts val="2112"/>
              </ns1:lnSpc>
            </ns1:pPr>
            <ns1:endParaRPr lang="en-US" sz="1760">
              <ns1:solidFill>
                <ns1:srgbClr val="44403C"/>
              </ns1:solidFill>
              <ns1:latin typeface="Calibri (MS)"/>
              <ns1:ea typeface="Calibri (MS)"/>
              <ns1:cs typeface="Calibri (MS)"/>
              <ns1:sym typeface="Calibri (MS)"/>
            </ns1:endParaRPr>
          </ns1:p>
          <ns1:p>
            <ns1:pPr algn="l">
              <ns1:lnSpc>
                <ns1:spcPts val="2112"/>
              </ns1:lnSpc>
            </ns1:pPr>
            <ns1:endParaRPr lang="en-US" sz="1760">
              <ns1:solidFill>
                <ns1:srgbClr val="44403C"/>
              </ns1:solidFill>
              <ns1:latin typeface="Calibri (MS)"/>
              <ns1:ea typeface="Calibri (MS)"/>
              <ns1:cs typeface="Calibri (MS)"/>
              <ns1:sym typeface="Calibri (MS)"/>
            </ns1:endParaRPr>
          </ns1:p>
        </ns0:txBody>
      </ns0:sp>
      <ns0:grpSp>
        <ns0:nvGrpSpPr>
          <ns0:cNvPr id="19" name="Group 19"/>
          <ns0:cNvGrpSpPr/>
          <ns0:nvPr/>
        </ns0:nvGrpSpPr>
        <ns0:grpSpPr>
          <ns1:xfrm>
            <ns1:off x="822960" y="5558018"/>
            <ns1:ext cx="7861678" cy="36576"/>
            <ns1:chOff x="0" y="0"/>
            <ns1:chExt cx="10482237" cy="48768"/>
          </ns1:xfrm>
        </ns0:grpSpPr>
        <ns0:sp>
          <ns0:nvSpPr>
            <ns0:cNvPr id="20" name="Freeform 20"/>
            <ns0:cNvSpPr/>
            <ns0:nvPr/>
          </ns0:nvSpPr>
          <ns0:spPr>
            <ns1:xfrm>
              <ns1:off x="0" y="0"/>
              <ns1:ext cx="10482199" cy="48768"/>
            </ns1:xfrm>
            <ns1:custGeom>
              <ns1:avLst/>
              <ns1:gdLst/>
              <ns1:ahLst/>
              <ns1:cxnLst/>
              <ns1:rect l="l" t="t" r="r" b="b"/>
              <ns1:pathLst>
                <ns1:path w="10482199" h="48768">
                  <ns1:moveTo>
                    <ns1:pt x="0" y="0"/>
                  </ns1:moveTo>
                  <ns1:lnTo>
                    <ns1:pt x="10482199" y="0"/>
                  </ns1:lnTo>
                  <ns1:lnTo>
                    <ns1:pt x="10482199" y="48768"/>
                  </ns1:lnTo>
                  <ns1:lnTo>
                    <ns1:pt x="0" y="48768"/>
                  </ns1:lnTo>
                  <ns1:close/>
                </ns1:path>
              </ns1:pathLst>
            </ns1:custGeom>
            <ns1:solidFill>
              <ns1:srgbClr val="99F6E4"/>
            </ns1:solidFill>
          </ns0:spPr>
        </ns0:sp>
      </ns0:grpSp>
      <ns0:grpSp>
        <ns0:nvGrpSpPr>
          <ns0:cNvPr id="21" name="Group 21"/>
          <ns0:cNvGrpSpPr/>
          <ns0:nvPr/>
        </ns0:nvGrpSpPr>
        <ns0:grpSpPr>
          <ns1:xfrm>
            <ns1:off x="822960" y="5630589"/>
            <ns1:ext cx="7861678" cy="512064"/>
            <ns1:chOff x="0" y="0"/>
            <ns1:chExt cx="10482237" cy="682752"/>
          </ns1:xfrm>
        </ns0:grpSpPr>
        <ns0:sp>
          <ns0:nvSpPr>
            <ns0:cNvPr id="22" name="Freeform 22"/>
            <ns0:cNvSpPr/>
            <ns0:nvPr/>
          </ns0:nvSpPr>
          <ns0:spPr>
            <ns1:xfrm>
              <ns1:off x="0" y="0"/>
              <ns1:ext cx="10482240" cy="682752"/>
            </ns1:xfrm>
            <ns1:custGeom>
              <ns1:avLst/>
              <ns1:gdLst/>
              <ns1:ahLst/>
              <ns1:cxnLst/>
              <ns1:rect l="l" t="t" r="r" b="b"/>
              <ns1:pathLst>
                <ns1:path w="10482240" h="682752">
                  <ns1:moveTo>
                    <ns1:pt x="0" y="0"/>
                  </ns1:moveTo>
                  <ns1:lnTo>
                    <ns1:pt x="10482240" y="0"/>
                  </ns1:lnTo>
                  <ns1:lnTo>
                    <ns1:pt x="10482240" y="682752"/>
                  </ns1:lnTo>
                  <ns1:lnTo>
                    <ns1:pt x="0" y="682752"/>
                  </ns1:lnTo>
                  <ns1:close/>
                </ns1:path>
              </ns1:pathLst>
            </ns1:custGeom>
            <ns1:blipFill>
              <ns1:blip ns2:embed="rId2">
                <ns1:alphaModFix amt="0"/>
              </ns1:blip>
              <ns1:stretch>
                <ns1:fillRect t="-249152" b="-249152"/>
              </ns1:stretch>
            </ns1:blipFill>
          </ns0:spPr>
        </ns0:sp>
        <ns0:sp>
          <ns0:nvSpPr>
            <ns0:cNvPr id="23" name="TextBox 23"/>
            <ns0:cNvSpPr txBox="1"/>
            <ns0:nvPr/>
          </ns0:nvSpPr>
          <ns0:spPr>
            <ns1:xfrm>
              <ns1:off x="0" y="-38100"/>
              <ns1:ext cx="10482237" cy="720852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400"/>
                </ns1:lnSpc>
              </ns1:pPr>
              <ns1:r>
                <ns1:rPr lang="en-US" sz="2000" b="1">
                  <ns1:solidFill>
                    <ns1:srgbClr val="0D9488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Profil Cluster</ns1:t>
              </ns1:r>
            </ns1:p>
          </ns0:txBody>
        </ns0:sp>
      </ns0:grpSp>
      <ns0:sp>
        <ns0:nvSpPr>
          <ns0:cNvPr id="24" name="TextBox 24"/>
          <ns0:cNvSpPr txBox="1"/>
          <ns0:nvPr/>
        </ns0:nvSpPr>
        <ns0:spPr>
          <ns1:xfrm>
            <ns1:off x="914400" y="6186373"/>
            <ns1:ext cx="7678798" cy="1519142"/>
          </ns1:xfrm>
          <ns1:prstGeom prst="rect">
            <ns1:avLst/>
          </ns1:prstGeom>
        </ns0:spPr>
        <ns0:txBody>
          <ns1:bodyPr lIns="0" tIns="0" rIns="0" bIns="0" rtlCol="0" anchor="t">
            <ns1:spAutoFit/>
          </ns1:bodyPr>
          <ns1:lstStyle/>
          <ns1:p>
            <ns1:pPr algn="l">
              <ns1:lnSpc>
                <ns1:spcPts val="2112"/>
              </ns1:lnSpc>
            </ns1:pPr>
            <ns1:r>
              <ns1:rPr lang="en-US" sz="1760">
                <ns1:solidFill>
                  <ns1:srgbClr val="44403C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Rata-rata nilai menunjukkan keunggulan dan area yang relatif perlu ditingkatkan pada setiap kelompok.</ns1:t>
            </ns1:r>
          </ns1:p>
        </ns0:txBody>
      </ns0:sp>
      <ns0:grpSp>
        <ns0:nvGrpSpPr>
          <ns0:cNvPr id="25" name="Group 25"/>
          <ns0:cNvGrpSpPr/>
          <ns0:nvPr/>
        </ns0:nvGrpSpPr>
        <ns0:grpSpPr>
          <ns1:xfrm>
            <ns1:off x="755399" y="9131303"/>
            <ns1:ext cx="8255003" cy="647195"/>
            <ns1:chOff x="0" y="0"/>
            <ns1:chExt cx="11006671" cy="862927"/>
          </ns1:xfrm>
        </ns0:grpSpPr>
        <ns0:sp>
          <ns0:nvSpPr>
            <ns0:cNvPr id="26" name="Freeform 26"/>
            <ns0:cNvSpPr/>
            <ns0:nvPr/>
          </ns0:nvSpPr>
          <ns0:spPr>
            <ns1:xfrm>
              <ns1:off x="0" y="0"/>
              <ns1:ext cx="11006709" cy="862965"/>
            </ns1:xfrm>
            <ns1:custGeom>
              <ns1:avLst/>
              <ns1:gdLst/>
              <ns1:ahLst/>
              <ns1:cxnLst/>
              <ns1:rect l="l" t="t" r="r" b="b"/>
              <ns1:pathLst>
                <ns1:path w="11006709" h="862965">
                  <ns1:moveTo>
                    <ns1:pt x="0" y="95885"/>
                  </ns1:moveTo>
                  <ns1:cubicBezTo>
                    <ns1:pt x="0" y="42926"/>
                    <ns1:pt x="42926" y="0"/>
                    <ns1:pt x="95885" y="0"/>
                  </ns1:cubicBezTo>
                  <ns1:lnTo>
                    <ns1:pt x="10910824" y="0"/>
                  </ns1:lnTo>
                  <ns1:cubicBezTo>
                    <ns1:pt x="10963783" y="0"/>
                    <ns1:pt x="11006709" y="42926"/>
                    <ns1:pt x="11006709" y="95885"/>
                  </ns1:cubicBezTo>
                  <ns1:lnTo>
                    <ns1:pt x="11006709" y="767080"/>
                  </ns1:lnTo>
                  <ns1:cubicBezTo>
                    <ns1:pt x="11006709" y="820039"/>
                    <ns1:pt x="10963783" y="862965"/>
                    <ns1:pt x="10910824" y="862965"/>
                  </ns1:cubicBezTo>
                  <ns1:lnTo>
                    <ns1:pt x="95885" y="862965"/>
                  </ns1:lnTo>
                  <ns1:cubicBezTo>
                    <ns1:pt x="42926" y="862965"/>
                    <ns1:pt x="0" y="820039"/>
                    <ns1:pt x="0" y="767080"/>
                  </ns1:cubicBezTo>
                  <ns1:close/>
                </ns1:path>
              </ns1:pathLst>
            </ns1:custGeom>
            <ns1:solidFill>
              <ns1:srgbClr val="FBBF24"/>
            </ns1:solidFill>
            <ns1:ln w="25400" cap="sq">
              <ns1:solidFill>
                <ns1:srgbClr val="F59E0B"/>
              </ns1:solidFill>
              <ns1:prstDash val="solid"/>
              <ns1:miter/>
            </ns1:ln>
          </ns0:spPr>
        </ns0:sp>
      </ns0:grpSp>
      <ns0:grpSp>
        <ns0:nvGrpSpPr>
          <ns0:cNvPr id="27" name="Group 27"/>
          <ns0:cNvGrpSpPr/>
          <ns0:nvPr/>
        </ns0:nvGrpSpPr>
        <ns0:grpSpPr>
          <ns1:xfrm>
            <ns1:off x="914400" y="9180576"/>
            <ns1:ext cx="7900797" cy="548640"/>
            <ns1:chOff x="0" y="0"/>
            <ns1:chExt cx="10534396" cy="731520"/>
          </ns1:xfrm>
        </ns0:grpSpPr>
        <ns0:sp>
          <ns0:nvSpPr>
            <ns0:cNvPr id="28" name="Freeform 28"/>
            <ns0:cNvSpPr/>
            <ns0:nvPr/>
          </ns0:nvSpPr>
          <ns0:spPr>
            <ns1:xfrm>
              <ns1:off x="0" y="0"/>
              <ns1:ext cx="10534400" cy="731520"/>
            </ns1:xfrm>
            <ns1:custGeom>
              <ns1:avLst/>
              <ns1:gdLst/>
              <ns1:ahLst/>
              <ns1:cxnLst/>
              <ns1:rect l="l" t="t" r="r" b="b"/>
              <ns1:pathLst>
                <ns1:path w="10534400" h="731520">
                  <ns1:moveTo>
                    <ns1:pt x="0" y="0"/>
                  </ns1:moveTo>
                  <ns1:lnTo>
                    <ns1:pt x="10534400" y="0"/>
                  </ns1:lnTo>
                  <ns1:lnTo>
                    <ns1:pt x="10534400" y="731520"/>
                  </ns1:lnTo>
                  <ns1:lnTo>
                    <ns1:pt x="0" y="731520"/>
                  </ns1:lnTo>
                  <ns1:close/>
                </ns1:path>
              </ns1:pathLst>
            </ns1:custGeom>
            <ns1:blipFill>
              <ns1:blip ns2:embed="rId2">
                <ns1:alphaModFix amt="0"/>
              </ns1:blip>
              <ns1:stretch>
                <ns1:fillRect t="-230598" b="-230598"/>
              </ns1:stretch>
            </ns1:blipFill>
          </ns0:spPr>
        </ns0:sp>
        <ns0:sp>
          <ns0:nvSpPr>
            <ns0:cNvPr id="29" name="TextBox 29"/>
            <ns0:cNvSpPr txBox="1"/>
            <ns0:nvPr/>
          </ns0:nvSpPr>
          <ns0:spPr>
            <ns1:xfrm>
              <ns1:off x="0" y="-47625"/>
              <ns1:ext cx="10534396" cy="779145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ctr">
                <ns1:lnSpc>
                  <ns1:spcPts val="2640"/>
                </ns1:lnSpc>
              </ns1:pPr>
              <ns1:r>
                <ns1:rPr lang="en-US" sz="2200">
                  <ns1:solidFill>
                    <ns1:srgbClr val="EA580C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Silhouette Score = </ns1:t>
              </ns1:r>
              <ns1:r>
                <ns1:rPr lang="en-US" sz="2200" b="1">
                  <ns1:solidFill>
                    <ns1:srgbClr val="EA580C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0,200</ns1:t>
              </ns1:r>
            </ns1:p>
          </ns0:txBody>
        </ns0:sp>
      </ns0:grpSp>
      <ns0:grpSp>
        <ns0:nvGrpSpPr>
          <ns0:cNvPr id="30" name="Group 30"/>
          <ns0:cNvGrpSpPr/>
          <ns0:nvPr/>
        </ns0:nvGrpSpPr>
        <ns0:grpSpPr>
          <ns1:xfrm>
            <ns1:off x="9405623" y="2035559"/>
            <ns1:ext cx="8346443" cy="7938202"/>
            <ns1:chOff x="0" y="0"/>
            <ns1:chExt cx="11128591" cy="10584269"/>
          </ns1:xfrm>
        </ns0:grpSpPr>
        <ns0:sp>
          <ns0:nvSpPr>
            <ns0:cNvPr id="31" name="Freeform 31"/>
            <ns0:cNvSpPr/>
            <ns0:nvPr/>
          </ns0:nvSpPr>
          <ns0:spPr>
            <ns1:xfrm>
              <ns1:off x="0" y="0"/>
              <ns1:ext cx="11128502" cy="10584180"/>
            </ns1:xfrm>
            <ns1:custGeom>
              <ns1:avLst/>
              <ns1:gdLst/>
              <ns1:ahLst/>
              <ns1:cxnLst/>
              <ns1:rect l="l" t="t" r="r" b="b"/>
              <ns1:pathLst>
                <ns1:path w="11128502" h="10584180">
                  <ns1:moveTo>
                    <ns1:pt x="0" y="251968"/>
                  </ns1:moveTo>
                  <ns1:cubicBezTo>
                    <ns1:pt x="0" y="112776"/>
                    <ns1:pt x="112776" y="0"/>
                    <ns1:pt x="251968" y="0"/>
                  </ns1:cubicBezTo>
                  <ns1:lnTo>
                    <ns1:pt x="10876534" y="0"/>
                  </ns1:lnTo>
                  <ns1:cubicBezTo>
                    <ns1:pt x="11015726" y="0"/>
                    <ns1:pt x="11128502" y="112776"/>
                    <ns1:pt x="11128502" y="251968"/>
                  </ns1:cubicBezTo>
                  <ns1:lnTo>
                    <ns1:pt x="11128502" y="10332212"/>
                  </ns1:lnTo>
                  <ns1:cubicBezTo>
                    <ns1:pt x="11128502" y="10471404"/>
                    <ns1:pt x="11015726" y="10584180"/>
                    <ns1:pt x="10876534" y="10584180"/>
                  </ns1:cubicBezTo>
                  <ns1:lnTo>
                    <ns1:pt x="251968" y="10584180"/>
                  </ns1:lnTo>
                  <ns1:cubicBezTo>
                    <ns1:pt x="112776" y="10584307"/>
                    <ns1:pt x="0" y="10471404"/>
                    <ns1:pt x="0" y="10332212"/>
                  </ns1:cubicBezTo>
                  <ns1:close/>
                </ns1:path>
              </ns1:pathLst>
            </ns1:custGeom>
            <ns1:solidFill>
              <ns1:srgbClr val="FFFFFF"/>
            </ns1:solidFill>
            <ns1:ln w="25400" cap="sq">
              <ns1:solidFill>
                <ns1:srgbClr val="FED7AA"/>
              </ns1:solidFill>
              <ns1:prstDash val="solid"/>
              <ns1:miter/>
            </ns1:ln>
          </ns0:spPr>
        </ns0:sp>
      </ns0:grpSp>
      <ns0:grpSp>
        <ns0:nvGrpSpPr>
          <ns0:cNvPr id="32" name="Group 32"/>
          <ns0:cNvGrpSpPr/>
          <ns0:nvPr/>
        </ns0:nvGrpSpPr>
        <ns0:grpSpPr>
          <ns1:xfrm>
            <ns1:off x="9405623" y="2035559"/>
            <ns1:ext cx="8346443" cy="756923"/>
            <ns1:chOff x="0" y="0"/>
            <ns1:chExt cx="11128591" cy="1009231"/>
          </ns1:xfrm>
        </ns0:grpSpPr>
        <ns0:sp>
          <ns0:nvSpPr>
            <ns0:cNvPr id="33" name="Freeform 33"/>
            <ns0:cNvSpPr/>
            <ns0:nvPr/>
          </ns0:nvSpPr>
          <ns0:spPr>
            <ns1:xfrm>
              <ns1:off x="0" y="0"/>
              <ns1:ext cx="11128628" cy="1009269"/>
            </ns1:xfrm>
            <ns1:custGeom>
              <ns1:avLst/>
              <ns1:gdLst/>
              <ns1:ahLst/>
              <ns1:cxnLst/>
              <ns1:rect l="l" t="t" r="r" b="b"/>
              <ns1:pathLst>
                <ns1:path w="11128628" h="1009269">
                  <ns1:moveTo>
                    <ns1:pt x="0" y="240284"/>
                  </ns1:moveTo>
                  <ns1:cubicBezTo>
                    <ns1:pt x="0" y="107569"/>
                    <ns1:pt x="107569" y="0"/>
                    <ns1:pt x="240284" y="0"/>
                  </ns1:cubicBezTo>
                  <ns1:lnTo>
                    <ns1:pt x="10888345" y="0"/>
                  </ns1:lnTo>
                  <ns1:cubicBezTo>
                    <ns1:pt x="11021060" y="0"/>
                    <ns1:pt x="11128628" y="107569"/>
                    <ns1:pt x="11128628" y="240284"/>
                  </ns1:cubicBezTo>
                  <ns1:lnTo>
                    <ns1:pt x="11128628" y="768985"/>
                  </ns1:lnTo>
                  <ns1:cubicBezTo>
                    <ns1:pt x="11128628" y="901700"/>
                    <ns1:pt x="11021060" y="1009269"/>
                    <ns1:pt x="10888345" y="1009269"/>
                  </ns1:cubicBezTo>
                  <ns1:lnTo>
                    <ns1:pt x="240284" y="1009269"/>
                  </ns1:lnTo>
                  <ns1:cubicBezTo>
                    <ns1:pt x="107569" y="1009269"/>
                    <ns1:pt x="0" y="901700"/>
                    <ns1:pt x="0" y="768985"/>
                  </ns1:cubicBezTo>
                  <ns1:close/>
                </ns1:path>
              </ns1:pathLst>
            </ns1:custGeom>
            <ns1:solidFill>
              <ns1:srgbClr val="F97316"/>
            </ns1:solidFill>
            <ns1:ln w="25400" cap="sq">
              <ns1:solidFill>
                <ns1:srgbClr val="F97316"/>
              </ns1:solidFill>
              <ns1:prstDash val="solid"/>
              <ns1:miter/>
            </ns1:ln>
          </ns0:spPr>
        </ns0:sp>
      </ns0:grpSp>
      <ns0:grpSp>
        <ns0:nvGrpSpPr>
          <ns0:cNvPr id="34" name="Group 34"/>
          <ns0:cNvGrpSpPr/>
          <ns0:nvPr/>
        </ns0:nvGrpSpPr>
        <ns0:grpSpPr>
          <ns1:xfrm>
            <ns1:off x="9405623" y="2546280"/>
            <ns1:ext cx="8346443" cy="244859"/>
            <ns1:chOff x="0" y="0"/>
            <ns1:chExt cx="11128591" cy="326479"/>
          </ns1:xfrm>
        </ns0:grpSpPr>
        <ns0:sp>
          <ns0:nvSpPr>
            <ns0:cNvPr id="35" name="Freeform 35"/>
            <ns0:cNvSpPr/>
            <ns0:nvPr/>
          </ns0:nvSpPr>
          <ns0:spPr>
            <ns1:xfrm>
              <ns1:off x="0" y="0"/>
              <ns1:ext cx="11128629" cy="326517"/>
            </ns1:xfrm>
            <ns1:custGeom>
              <ns1:avLst/>
              <ns1:gdLst/>
              <ns1:ahLst/>
              <ns1:cxnLst/>
              <ns1:rect l="l" t="t" r="r" b="b"/>
              <ns1:pathLst>
                <ns1:path w="11128629" h="326517">
                  <ns1:moveTo>
                    <ns1:pt x="0" y="0"/>
                  </ns1:moveTo>
                  <ns1:lnTo>
                    <ns1:pt x="11128629" y="0"/>
                  </ns1:lnTo>
                  <ns1:lnTo>
                    <ns1:pt x="11128629" y="326517"/>
                  </ns1:lnTo>
                  <ns1:lnTo>
                    <ns1:pt x="0" y="326517"/>
                  </ns1:lnTo>
                  <ns1:close/>
                </ns1:path>
              </ns1:pathLst>
            </ns1:custGeom>
            <ns1:solidFill>
              <ns1:srgbClr val="F97316"/>
            </ns1:solidFill>
            <ns1:ln w="25400" cap="sq">
              <ns1:solidFill>
                <ns1:srgbClr val="F97316"/>
              </ns1:solidFill>
              <ns1:prstDash val="solid"/>
              <ns1:miter/>
            </ns1:ln>
          </ns0:spPr>
        </ns0:sp>
      </ns0:grpSp>
      <ns0:grpSp>
        <ns0:nvGrpSpPr>
          <ns0:cNvPr id="36" name="Group 36"/>
          <ns0:cNvGrpSpPr/>
          <ns0:nvPr/>
        </ns0:nvGrpSpPr>
        <ns0:grpSpPr>
          <ns1:xfrm>
            <ns1:off x="9692640" y="2084832"/>
            <ns1:ext cx="7861678" cy="658368"/>
            <ns1:chOff x="0" y="0"/>
            <ns1:chExt cx="10482237" cy="877824"/>
          </ns1:xfrm>
        </ns0:grpSpPr>
        <ns0:sp>
          <ns0:nvSpPr>
            <ns0:cNvPr id="37" name="Freeform 37"/>
            <ns0:cNvSpPr/>
            <ns0:nvPr/>
          </ns0:nvSpPr>
          <ns0:spPr>
            <ns1:xfrm>
              <ns1:off x="0" y="0"/>
              <ns1:ext cx="10482240" cy="877824"/>
            </ns1:xfrm>
            <ns1:custGeom>
              <ns1:avLst/>
              <ns1:gdLst/>
              <ns1:ahLst/>
              <ns1:cxnLst/>
              <ns1:rect l="l" t="t" r="r" b="b"/>
              <ns1:pathLst>
                <ns1:path w="10482240" h="877824">
                  <ns1:moveTo>
                    <ns1:pt x="0" y="0"/>
                  </ns1:moveTo>
                  <ns1:lnTo>
                    <ns1:pt x="10482240" y="0"/>
                  </ns1:lnTo>
                  <ns1:lnTo>
                    <ns1:pt x="10482240" y="877824"/>
                  </ns1:lnTo>
                  <ns1:lnTo>
                    <ns1:pt x="0" y="877824"/>
                  </ns1:lnTo>
                  <ns1:close/>
                </ns1:path>
              </ns1:pathLst>
            </ns1:custGeom>
            <ns1:blipFill>
              <ns1:blip ns2:embed="rId2">
                <ns1:alphaModFix amt="0"/>
              </ns1:blip>
              <ns1:stretch>
                <ns1:fillRect t="-182673" b="-182673"/>
              </ns1:stretch>
            </ns1:blipFill>
          </ns0:spPr>
        </ns0:sp>
        <ns0:sp>
          <ns0:nvSpPr>
            <ns0:cNvPr id="38" name="TextBox 38"/>
            <ns0:cNvSpPr txBox="1"/>
            <ns0:nvPr/>
          </ns0:nvSpPr>
          <ns0:spPr>
            <ns1:xfrm>
              <ns1:off x="0" y="-47625"/>
              <ns1:ext cx="10482237" cy="925449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640"/>
                </ns1:lnSpc>
              </ns1:pPr>
              <ns1:r>
                <ns1:rPr lang="en-US" sz="2200" b="1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Evaluasi Hasil</ns1:t>
              </ns1:r>
            </ns1:p>
          </ns0:txBody>
        </ns0:sp>
      </ns0:grpSp>
      <ns0:sp>
        <ns0:nvSpPr>
          <ns0:cNvPr id="39" name="TextBox 39"/>
          <ns0:cNvSpPr txBox="1"/>
          <ns0:nvPr/>
        </ns0:nvSpPr>
        <ns0:spPr>
          <ns1:xfrm>
            <ns1:off x="9784080" y="2823400"/>
            <ns1:ext cx="7678798" cy="2872740"/>
          </ns1:xfrm>
          <ns1:prstGeom prst="rect">
            <ns1:avLst/>
          </ns1:prstGeom>
        </ns0:spPr>
        <ns0:txBody>
          <ns1:bodyPr lIns="0" tIns="0" rIns="0" bIns="0" rtlCol="0" anchor="t">
            <ns1:spAutoFit/>
          </ns1:bodyPr>
          <ns1:lstStyle/>
          <ns1:p>
            <ns1:pPr algn="l">
              <ns1:lnSpc>
                <ns1:spcPts val="2112"/>
              </ns1:lnSpc>
            </ns1:pPr>
            <ns1:r>
              <ns1:rPr lang="en-US" sz="1760">
                <ns1:solidFill>
                  <ns1:srgbClr val="44403C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Silhouette Score = </ns1:t>
            </ns1:r>
            <ns1:r>
              <ns1:rPr lang="en-US" sz="1760" b="1">
                <ns1:solidFill>
                  <ns1:srgbClr val="EA580C"/>
                </ns1:solidFill>
                <ns1:latin typeface="Calibri (MS) Bold"/>
                <ns1:ea typeface="Calibri (MS) Bold"/>
                <ns1:cs typeface="Calibri (MS) Bold"/>
                <ns1:sym typeface="Calibri (MS) Bold"/>
              </ns1:rPr>
              <ns1:t>0,200</ns1:t>
            </ns1:r>
            <ns1:r>
              <ns1:rPr lang="en-US" sz="1760">
                <ns1:solidFill>
                  <ns1:srgbClr val="44403C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 menunjukkan struktur pemisahan cluster belum kuat.</ns1:t>
            </ns1:r>
          </ns1:p>
          <ns1:p>
            <ns1:pPr algn="l">
              <ns1:lnSpc>
                <ns1:spcPts val="2112"/>
              </ns1:lnSpc>
            </ns1:pPr>
            <ns1:endParaRPr lang="en-US" sz="1760">
              <ns1:solidFill>
                <ns1:srgbClr val="44403C"/>
              </ns1:solidFill>
              <ns1:latin typeface="Calibri (MS)"/>
              <ns1:ea typeface="Calibri (MS)"/>
              <ns1:cs typeface="Calibri (MS)"/>
              <ns1:sym typeface="Calibri (MS)"/>
            </ns1:endParaRPr>
          </ns1:p>
          <ns1:p>
            <ns1:pPr algn="l">
              <ns1:lnSpc>
                <ns1:spcPts val="2112"/>
              </ns1:lnSpc>
            </ns1:pPr>
            <ns1:r>
              <ns1:rPr lang="en-US" sz="1760">
                <ns1:solidFill>
                  <ns1:srgbClr val="44403C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Hasil digunakan sebagai analisis eksploratif.</ns1:t>
            </ns1:r>
          </ns1:p>
          <ns1:p>
            <ns1:pPr algn="l">
              <ns1:lnSpc>
                <ns1:spcPts val="2112"/>
              </ns1:lnSpc>
            </ns1:pPr>
            <ns1:endParaRPr lang="en-US" sz="1760">
              <ns1:solidFill>
                <ns1:srgbClr val="44403C"/>
              </ns1:solidFill>
              <ns1:latin typeface="Calibri (MS)"/>
              <ns1:ea typeface="Calibri (MS)"/>
              <ns1:cs typeface="Calibri (MS)"/>
              <ns1:sym typeface="Calibri (MS)"/>
            </ns1:endParaRPr>
          </ns1:p>
          <ns1:p>
            <ns1:pPr algn="l">
              <ns1:lnSpc>
                <ns1:spcPts val="2112"/>
              </ns1:lnSpc>
            </ns1:pPr>
            <ns1:r>
              <ns1:rPr lang="en-US" sz="1760">
                <ns1:solidFill>
                  <ns1:srgbClr val="44403C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Informasi cluster mendukung guru, bukan keputusan mutlak.</ns1:t>
            </ns1:r>
          </ns1:p>
        </ns0:txBody>
      </ns0:sp>
      <ns0:grpSp>
        <ns0:nvGrpSpPr>
          <ns0:cNvPr id="40" name="Group 40"/>
          <ns0:cNvGrpSpPr/>
          <ns0:nvPr/>
        </ns0:nvGrpSpPr>
        <ns0:grpSpPr>
          <ns1:xfrm>
            <ns1:off x="9692640" y="5853313"/>
            <ns1:ext cx="7861678" cy="512064"/>
            <ns1:chOff x="0" y="0"/>
            <ns1:chExt cx="10482237" cy="682752"/>
          </ns1:xfrm>
        </ns0:grpSpPr>
        <ns0:sp>
          <ns0:nvSpPr>
            <ns0:cNvPr id="41" name="Freeform 41"/>
            <ns0:cNvSpPr/>
            <ns0:nvPr/>
          </ns0:nvSpPr>
          <ns0:spPr>
            <ns1:xfrm>
              <ns1:off x="0" y="0"/>
              <ns1:ext cx="10482240" cy="682752"/>
            </ns1:xfrm>
            <ns1:custGeom>
              <ns1:avLst/>
              <ns1:gdLst/>
              <ns1:ahLst/>
              <ns1:cxnLst/>
              <ns1:rect l="l" t="t" r="r" b="b"/>
              <ns1:pathLst>
                <ns1:path w="10482240" h="682752">
                  <ns1:moveTo>
                    <ns1:pt x="0" y="0"/>
                  </ns1:moveTo>
                  <ns1:lnTo>
                    <ns1:pt x="10482240" y="0"/>
                  </ns1:lnTo>
                  <ns1:lnTo>
                    <ns1:pt x="10482240" y="682752"/>
                  </ns1:lnTo>
                  <ns1:lnTo>
                    <ns1:pt x="0" y="682752"/>
                  </ns1:lnTo>
                  <ns1:close/>
                </ns1:path>
              </ns1:pathLst>
            </ns1:custGeom>
            <ns1:blipFill>
              <ns1:blip ns2:embed="rId2">
                <ns1:alphaModFix amt="0"/>
              </ns1:blip>
              <ns1:stretch>
                <ns1:fillRect t="-249152" b="-249152"/>
              </ns1:stretch>
            </ns1:blipFill>
          </ns0:spPr>
        </ns0:sp>
        <ns0:sp>
          <ns0:nvSpPr>
            <ns0:cNvPr id="42" name="TextBox 42"/>
            <ns0:cNvSpPr txBox="1"/>
            <ns0:nvPr/>
          </ns0:nvSpPr>
          <ns0:spPr>
            <ns1:xfrm>
              <ns1:off x="0" y="-38100"/>
              <ns1:ext cx="10482237" cy="720852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l">
                <ns1:lnSpc>
                  <ns1:spcPts val="2400"/>
                </ns1:lnSpc>
              </ns1:pPr>
              <ns1:r>
                <ns1:rPr lang="en-US" sz="2000" b="1">
                  <ns1:solidFill>
                    <ns1:srgbClr val="EA580C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Makna Hasil</ns1:t>
              </ns1:r>
            </ns1:p>
          </ns0:txBody>
        </ns0:sp>
      </ns0:grpSp>
      <ns0:sp>
        <ns0:nvSpPr>
          <ns0:cNvPr id="43" name="TextBox 43"/>
          <ns0:cNvSpPr txBox="1"/>
          <ns0:nvPr/>
        </ns0:nvSpPr>
        <ns0:spPr>
          <ns1:xfrm>
            <ns1:off x="9784080" y="6409096"/>
            <ns1:ext cx="7678798" cy="1337701"/>
          </ns1:xfrm>
          <ns1:prstGeom prst="rect">
            <ns1:avLst/>
          </ns1:prstGeom>
        </ns0:spPr>
        <ns0:txBody>
          <ns1:bodyPr lIns="0" tIns="0" rIns="0" bIns="0" rtlCol="0" anchor="t">
            <ns1:spAutoFit/>
          </ns1:bodyPr>
          <ns1:lstStyle/>
          <ns1:p>
            <ns1:pPr algn="l">
              <ns1:lnSpc>
                <ns1:spcPts val="2039"/>
              </ns1:lnSpc>
            </ns1:pPr>
            <ns1:r>
              <ns1:rPr lang="en-US" sz="1700">
                <ns1:solidFill>
                  <ns1:srgbClr val="44403C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- Struktur cluster belum kuat</ns1:t>
            </ns1:r>
          </ns1:p>
          <ns1:p>
            <ns1:pPr algn="l">
              <ns1:lnSpc>
                <ns1:spcPts val="2039"/>
              </ns1:lnSpc>
            </ns1:pPr>
            <ns1:r>
              <ns1:rPr lang="en-US" sz="1700">
                <ns1:solidFill>
                  <ns1:srgbClr val="44403C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- Menggambarkan kemiripan pola nilai</ns1:t>
            </ns1:r>
          </ns1:p>
          <ns1:p>
            <ns1:pPr algn="l">
              <ns1:lnSpc>
                <ns1:spcPts val="2039"/>
              </ns1:lnSpc>
            </ns1:pPr>
            <ns1:r>
              <ns1:rPr lang="en-US" sz="1700">
                <ns1:solidFill>
                  <ns1:srgbClr val="44403C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- Informasi pendukung strategi pembelajaran</ns1:t>
            </ns1:r>
          </ns1:p>
          <ns1:p>
            <ns1:pPr algn="l">
              <ns1:lnSpc>
                <ns1:spcPts val="2039"/>
              </ns1:lnSpc>
            </ns1:pPr>
            <ns1:r>
              <ns1:rPr lang="en-US" sz="1700" b="1">
                <ns1:solidFill>
                  <ns1:srgbClr val="EA580C"/>
                </ns1:solidFill>
                <ns1:latin typeface="Calibri (MS) Bold"/>
                <ns1:ea typeface="Calibri (MS) Bold"/>
                <ns1:cs typeface="Calibri (MS) Bold"/>
                <ns1:sym typeface="Calibri (MS) Bold"/>
              </ns1:rPr>
              <ns1:t>- Tetap memerlukan pertimbangan guru</ns1:t>
            </ns1:r>
          </ns1:p>
        </ns0:txBody>
      </ns0:sp>
      <ns0:grpSp>
        <ns0:nvGrpSpPr>
          <ns0:cNvPr id="44" name="Group 44"/>
          <ns0:cNvGrpSpPr/>
          <ns0:nvPr/>
        </ns0:nvGrpSpPr>
        <ns0:grpSpPr>
          <ns1:xfrm>
            <ns1:off x="9350759" y="9131303"/>
            <ns1:ext cx="8436435" cy="647195"/>
            <ns1:chOff x="0" y="0"/>
            <ns1:chExt cx="11248580" cy="862927"/>
          </ns1:xfrm>
        </ns0:grpSpPr>
        <ns0:sp>
          <ns0:nvSpPr>
            <ns0:cNvPr id="45" name="Freeform 45"/>
            <ns0:cNvSpPr/>
            <ns0:nvPr/>
          </ns0:nvSpPr>
          <ns0:spPr>
            <ns1:xfrm>
              <ns1:off x="0" y="0"/>
              <ns1:ext cx="11248644" cy="862965"/>
            </ns1:xfrm>
            <ns1:custGeom>
              <ns1:avLst/>
              <ns1:gdLst/>
              <ns1:ahLst/>
              <ns1:cxnLst/>
              <ns1:rect l="l" t="t" r="r" b="b"/>
              <ns1:pathLst>
                <ns1:path w="11248644" h="862965">
                  <ns1:moveTo>
                    <ns1:pt x="0" y="95885"/>
                  </ns1:moveTo>
                  <ns1:cubicBezTo>
                    <ns1:pt x="0" y="42926"/>
                    <ns1:pt x="42926" y="0"/>
                    <ns1:pt x="95885" y="0"/>
                  </ns1:cubicBezTo>
                  <ns1:lnTo>
                    <ns1:pt x="11152759" y="0"/>
                  </ns1:lnTo>
                  <ns1:cubicBezTo>
                    <ns1:pt x="11205718" y="0"/>
                    <ns1:pt x="11248644" y="42926"/>
                    <ns1:pt x="11248644" y="95885"/>
                  </ns1:cubicBezTo>
                  <ns1:lnTo>
                    <ns1:pt x="11248644" y="767080"/>
                  </ns1:lnTo>
                  <ns1:cubicBezTo>
                    <ns1:pt x="11248644" y="820039"/>
                    <ns1:pt x="11205718" y="862965"/>
                    <ns1:pt x="11152759" y="862965"/>
                  </ns1:cubicBezTo>
                  <ns1:lnTo>
                    <ns1:pt x="95885" y="862965"/>
                  </ns1:lnTo>
                  <ns1:cubicBezTo>
                    <ns1:pt x="42926" y="862965"/>
                    <ns1:pt x="0" y="820039"/>
                    <ns1:pt x="0" y="767080"/>
                  </ns1:cubicBezTo>
                  <ns1:close/>
                </ns1:path>
              </ns1:pathLst>
            </ns1:custGeom>
            <ns1:solidFill>
              <ns1:srgbClr val="FBBF24"/>
            </ns1:solidFill>
            <ns1:ln w="25400" cap="sq">
              <ns1:solidFill>
                <ns1:srgbClr val="F59E0B"/>
              </ns1:solidFill>
              <ns1:prstDash val="solid"/>
              <ns1:miter/>
            </ns1:ln>
          </ns0:spPr>
        </ns0:sp>
      </ns0:grpSp>
      <ns0:grpSp>
        <ns0:nvGrpSpPr>
          <ns0:cNvPr id="46" name="Group 46"/>
          <ns0:cNvGrpSpPr/>
          <ns0:nvPr/>
        </ns0:nvGrpSpPr>
        <ns0:grpSpPr>
          <ns1:xfrm>
            <ns1:off x="9509760" y="9180576"/>
            <ns1:ext cx="8119682" cy="548640"/>
            <ns1:chOff x="0" y="0"/>
            <ns1:chExt cx="10826242" cy="731520"/>
          </ns1:xfrm>
        </ns0:grpSpPr>
        <ns0:sp>
          <ns0:nvSpPr>
            <ns0:cNvPr id="47" name="Freeform 47"/>
            <ns0:cNvSpPr/>
            <ns0:nvPr/>
          </ns0:nvSpPr>
          <ns0:spPr>
            <ns1:xfrm>
              <ns1:off x="0" y="0"/>
              <ns1:ext cx="10826240" cy="731520"/>
            </ns1:xfrm>
            <ns1:custGeom>
              <ns1:avLst/>
              <ns1:gdLst/>
              <ns1:ahLst/>
              <ns1:cxnLst/>
              <ns1:rect l="l" t="t" r="r" b="b"/>
              <ns1:pathLst>
                <ns1:path w="10826240" h="731520">
                  <ns1:moveTo>
                    <ns1:pt x="0" y="0"/>
                  </ns1:moveTo>
                  <ns1:lnTo>
                    <ns1:pt x="10826240" y="0"/>
                  </ns1:lnTo>
                  <ns1:lnTo>
                    <ns1:pt x="10826240" y="731520"/>
                  </ns1:lnTo>
                  <ns1:lnTo>
                    <ns1:pt x="0" y="731520"/>
                  </ns1:lnTo>
                  <ns1:close/>
                </ns1:path>
              </ns1:pathLst>
            </ns1:custGeom>
            <ns1:blipFill>
              <ns1:blip ns2:embed="rId2">
                <ns1:alphaModFix amt="0"/>
              </ns1:blip>
              <ns1:stretch>
                <ns1:fillRect t="-238371" b="-238371"/>
              </ns1:stretch>
            </ns1:blipFill>
          </ns0:spPr>
        </ns0:sp>
        <ns0:sp>
          <ns0:nvSpPr>
            <ns0:cNvPr id="48" name="TextBox 48"/>
            <ns0:cNvSpPr txBox="1"/>
            <ns0:nvPr/>
          </ns0:nvSpPr>
          <ns0:spPr>
            <ns1:xfrm>
              <ns1:off x="0" y="-47625"/>
              <ns1:ext cx="10826242" cy="779145"/>
            </ns1:xfrm>
            <ns1:prstGeom prst="rect">
              <ns1:avLst/>
            </ns1:prstGeom>
          </ns0:spPr>
          <ns0:txBody>
            <ns1:bodyPr lIns="0" tIns="0" rIns="0" bIns="0" rtlCol="0" anchor="ctr"/>
            <ns1:lstStyle/>
            <ns1:p>
              <ns1:pPr algn="ctr">
                <ns1:lnSpc>
                  <ns1:spcPts val="2640"/>
                </ns1:lnSpc>
              </ns1:pPr>
              <ns1:r>
                <ns1:rPr lang="en-US" sz="2200">
                  <ns1:solidFill>
                    <ns1:srgbClr val="EA580C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K=5 | Silhouette Score = </ns1:t>
              </ns1:r>
              <ns1:r>
                <ns1:rPr lang="en-US" sz="2200" b="1">
                  <ns1:solidFill>
                    <ns1:srgbClr val="EA580C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0,200</ns1:t>
              </ns1:r>
            </ns1:p>
          </ns0:txBody>
        </ns0:sp>
      </ns0:grpSp>
    </ns0:spTree>
  </ns0:cSld>
  <ns0:clrMapOvr>
    <ns1:masterClrMapping/>
  </ns0:clrMapOvr>
</ns0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EA580C"/>
            </a:solidFill>
            <a:ln w="25400" cap="sq">
              <a:solidFill>
                <a:srgbClr val="EA580C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12697" y="-12697"/>
            <a:ext cx="354587" cy="1945643"/>
            <a:chOff x="0" y="0"/>
            <a:chExt cx="472783" cy="25941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2821" cy="2594229"/>
            </a:xfrm>
            <a:custGeom>
              <a:avLst/>
              <a:gdLst/>
              <a:ahLst/>
              <a:cxnLst/>
              <a:rect l="l" t="t" r="r" b="b"/>
              <a:pathLst>
                <a:path w="472821" h="2594229">
                  <a:moveTo>
                    <a:pt x="0" y="0"/>
                  </a:moveTo>
                  <a:lnTo>
                    <a:pt x="472821" y="0"/>
                  </a:lnTo>
                  <a:lnTo>
                    <a:pt x="472821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FBBF24"/>
            </a:solidFill>
            <a:ln w="25400" cap="sq">
              <a:solidFill>
                <a:srgbClr val="FBBF24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94944" y="0"/>
            <a:ext cx="17007840" cy="1920240"/>
            <a:chOff x="0" y="0"/>
            <a:chExt cx="22677120" cy="25603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677120" cy="2560320"/>
            </a:xfrm>
            <a:custGeom>
              <a:avLst/>
              <a:gdLst/>
              <a:ahLst/>
              <a:cxnLst/>
              <a:rect l="l" t="t" r="r" b="b"/>
              <a:pathLst>
                <a:path w="22677120" h="2560320">
                  <a:moveTo>
                    <a:pt x="0" y="0"/>
                  </a:moveTo>
                  <a:lnTo>
                    <a:pt x="22677120" y="0"/>
                  </a:lnTo>
                  <a:lnTo>
                    <a:pt x="2267712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581" b="-122581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22677120" cy="2636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Implementasi Website &amp; Pengujian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35943" y="2145287"/>
            <a:ext cx="3170939" cy="1342139"/>
            <a:chOff x="0" y="0"/>
            <a:chExt cx="4227919" cy="178951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27957" cy="1789557"/>
            </a:xfrm>
            <a:custGeom>
              <a:avLst/>
              <a:gdLst/>
              <a:ahLst/>
              <a:cxnLst/>
              <a:rect l="l" t="t" r="r" b="b"/>
              <a:pathLst>
                <a:path w="4227957" h="1789557">
                  <a:moveTo>
                    <a:pt x="0" y="198882"/>
                  </a:moveTo>
                  <a:cubicBezTo>
                    <a:pt x="0" y="89027"/>
                    <a:pt x="89027" y="0"/>
                    <a:pt x="198882" y="0"/>
                  </a:cubicBezTo>
                  <a:lnTo>
                    <a:pt x="4029075" y="0"/>
                  </a:lnTo>
                  <a:cubicBezTo>
                    <a:pt x="4138930" y="0"/>
                    <a:pt x="4227957" y="89027"/>
                    <a:pt x="4227957" y="198882"/>
                  </a:cubicBezTo>
                  <a:lnTo>
                    <a:pt x="4227957" y="1590675"/>
                  </a:lnTo>
                  <a:cubicBezTo>
                    <a:pt x="4227957" y="1700530"/>
                    <a:pt x="4138930" y="1789557"/>
                    <a:pt x="4029075" y="1789557"/>
                  </a:cubicBezTo>
                  <a:lnTo>
                    <a:pt x="198882" y="1789557"/>
                  </a:lnTo>
                  <a:cubicBezTo>
                    <a:pt x="89027" y="1789557"/>
                    <a:pt x="0" y="1700530"/>
                    <a:pt x="0" y="1590675"/>
                  </a:cubicBez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48640" y="2212848"/>
            <a:ext cx="3145536" cy="585216"/>
            <a:chOff x="0" y="0"/>
            <a:chExt cx="4194048" cy="78028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194048" cy="780288"/>
            </a:xfrm>
            <a:custGeom>
              <a:avLst/>
              <a:gdLst/>
              <a:ahLst/>
              <a:cxnLst/>
              <a:rect l="l" t="t" r="r" b="b"/>
              <a:pathLst>
                <a:path w="4194048" h="780288">
                  <a:moveTo>
                    <a:pt x="0" y="0"/>
                  </a:moveTo>
                  <a:lnTo>
                    <a:pt x="4194048" y="0"/>
                  </a:lnTo>
                  <a:lnTo>
                    <a:pt x="419404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732" b="-5473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194048" cy="81838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PHP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48640" y="2759964"/>
            <a:ext cx="3145536" cy="550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010663" y="2145287"/>
            <a:ext cx="3170939" cy="1342139"/>
            <a:chOff x="0" y="0"/>
            <a:chExt cx="4227919" cy="17895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227957" cy="1789557"/>
            </a:xfrm>
            <a:custGeom>
              <a:avLst/>
              <a:gdLst/>
              <a:ahLst/>
              <a:cxnLst/>
              <a:rect l="l" t="t" r="r" b="b"/>
              <a:pathLst>
                <a:path w="4227957" h="1789557">
                  <a:moveTo>
                    <a:pt x="0" y="198882"/>
                  </a:moveTo>
                  <a:cubicBezTo>
                    <a:pt x="0" y="89027"/>
                    <a:pt x="89027" y="0"/>
                    <a:pt x="198882" y="0"/>
                  </a:cubicBezTo>
                  <a:lnTo>
                    <a:pt x="4029075" y="0"/>
                  </a:lnTo>
                  <a:cubicBezTo>
                    <a:pt x="4138930" y="0"/>
                    <a:pt x="4227957" y="89027"/>
                    <a:pt x="4227957" y="198882"/>
                  </a:cubicBezTo>
                  <a:lnTo>
                    <a:pt x="4227957" y="1590675"/>
                  </a:lnTo>
                  <a:cubicBezTo>
                    <a:pt x="4227957" y="1700530"/>
                    <a:pt x="4138930" y="1789557"/>
                    <a:pt x="4029075" y="1789557"/>
                  </a:cubicBezTo>
                  <a:lnTo>
                    <a:pt x="198882" y="1789557"/>
                  </a:lnTo>
                  <a:cubicBezTo>
                    <a:pt x="89027" y="1789557"/>
                    <a:pt x="0" y="1700530"/>
                    <a:pt x="0" y="1590675"/>
                  </a:cubicBezTo>
                  <a:close/>
                </a:path>
              </a:pathLst>
            </a:custGeom>
            <a:solidFill>
              <a:srgbClr val="0D9488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4023360" y="2212848"/>
            <a:ext cx="3145536" cy="585216"/>
            <a:chOff x="0" y="0"/>
            <a:chExt cx="4194048" cy="78028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194048" cy="780288"/>
            </a:xfrm>
            <a:custGeom>
              <a:avLst/>
              <a:gdLst/>
              <a:ahLst/>
              <a:cxnLst/>
              <a:rect l="l" t="t" r="r" b="b"/>
              <a:pathLst>
                <a:path w="4194048" h="780288">
                  <a:moveTo>
                    <a:pt x="0" y="0"/>
                  </a:moveTo>
                  <a:lnTo>
                    <a:pt x="4194048" y="0"/>
                  </a:lnTo>
                  <a:lnTo>
                    <a:pt x="419404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732" b="-54732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4194048" cy="81838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MySQL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023360" y="2759964"/>
            <a:ext cx="3145536" cy="550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Basis Data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485383" y="2145287"/>
            <a:ext cx="3170939" cy="1342139"/>
            <a:chOff x="0" y="0"/>
            <a:chExt cx="4227919" cy="17895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227957" cy="1789557"/>
            </a:xfrm>
            <a:custGeom>
              <a:avLst/>
              <a:gdLst/>
              <a:ahLst/>
              <a:cxnLst/>
              <a:rect l="l" t="t" r="r" b="b"/>
              <a:pathLst>
                <a:path w="4227957" h="1789557">
                  <a:moveTo>
                    <a:pt x="0" y="198882"/>
                  </a:moveTo>
                  <a:cubicBezTo>
                    <a:pt x="0" y="89027"/>
                    <a:pt x="89027" y="0"/>
                    <a:pt x="198882" y="0"/>
                  </a:cubicBezTo>
                  <a:lnTo>
                    <a:pt x="4029075" y="0"/>
                  </a:lnTo>
                  <a:cubicBezTo>
                    <a:pt x="4138930" y="0"/>
                    <a:pt x="4227957" y="89027"/>
                    <a:pt x="4227957" y="198882"/>
                  </a:cubicBezTo>
                  <a:lnTo>
                    <a:pt x="4227957" y="1590675"/>
                  </a:lnTo>
                  <a:cubicBezTo>
                    <a:pt x="4227957" y="1700530"/>
                    <a:pt x="4138930" y="1789557"/>
                    <a:pt x="4029075" y="1789557"/>
                  </a:cubicBezTo>
                  <a:lnTo>
                    <a:pt x="198882" y="1789557"/>
                  </a:lnTo>
                  <a:cubicBezTo>
                    <a:pt x="89027" y="1789557"/>
                    <a:pt x="0" y="1700530"/>
                    <a:pt x="0" y="1590675"/>
                  </a:cubicBezTo>
                  <a:close/>
                </a:path>
              </a:pathLst>
            </a:custGeom>
            <a:solidFill>
              <a:srgbClr val="F97316"/>
            </a:solidFill>
            <a:ln w="2540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7498080" y="2212848"/>
            <a:ext cx="3145536" cy="585216"/>
            <a:chOff x="0" y="0"/>
            <a:chExt cx="4194048" cy="78028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194048" cy="780288"/>
            </a:xfrm>
            <a:custGeom>
              <a:avLst/>
              <a:gdLst/>
              <a:ahLst/>
              <a:cxnLst/>
              <a:rect l="l" t="t" r="r" b="b"/>
              <a:pathLst>
                <a:path w="4194048" h="780288">
                  <a:moveTo>
                    <a:pt x="0" y="0"/>
                  </a:moveTo>
                  <a:lnTo>
                    <a:pt x="4194048" y="0"/>
                  </a:lnTo>
                  <a:lnTo>
                    <a:pt x="419404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732" b="-54732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4194048" cy="81838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498080" y="2759964"/>
            <a:ext cx="3145536" cy="550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K-Means / Scikit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960103" y="2145287"/>
            <a:ext cx="3170939" cy="1342139"/>
            <a:chOff x="0" y="0"/>
            <a:chExt cx="4227919" cy="17895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227957" cy="1789557"/>
            </a:xfrm>
            <a:custGeom>
              <a:avLst/>
              <a:gdLst/>
              <a:ahLst/>
              <a:cxnLst/>
              <a:rect l="l" t="t" r="r" b="b"/>
              <a:pathLst>
                <a:path w="4227957" h="1789557">
                  <a:moveTo>
                    <a:pt x="0" y="198882"/>
                  </a:moveTo>
                  <a:cubicBezTo>
                    <a:pt x="0" y="89027"/>
                    <a:pt x="89027" y="0"/>
                    <a:pt x="198882" y="0"/>
                  </a:cubicBezTo>
                  <a:lnTo>
                    <a:pt x="4029075" y="0"/>
                  </a:lnTo>
                  <a:cubicBezTo>
                    <a:pt x="4138930" y="0"/>
                    <a:pt x="4227957" y="89027"/>
                    <a:pt x="4227957" y="198882"/>
                  </a:cubicBezTo>
                  <a:lnTo>
                    <a:pt x="4227957" y="1590675"/>
                  </a:lnTo>
                  <a:cubicBezTo>
                    <a:pt x="4227957" y="1700530"/>
                    <a:pt x="4138930" y="1789557"/>
                    <a:pt x="4029075" y="1789557"/>
                  </a:cubicBezTo>
                  <a:lnTo>
                    <a:pt x="198882" y="1789557"/>
                  </a:lnTo>
                  <a:cubicBezTo>
                    <a:pt x="89027" y="1789557"/>
                    <a:pt x="0" y="1700530"/>
                    <a:pt x="0" y="1590675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0972800" y="2212848"/>
            <a:ext cx="3145536" cy="585216"/>
            <a:chOff x="0" y="0"/>
            <a:chExt cx="4194048" cy="78028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194048" cy="780288"/>
            </a:xfrm>
            <a:custGeom>
              <a:avLst/>
              <a:gdLst/>
              <a:ahLst/>
              <a:cxnLst/>
              <a:rect l="l" t="t" r="r" b="b"/>
              <a:pathLst>
                <a:path w="4194048" h="780288">
                  <a:moveTo>
                    <a:pt x="0" y="0"/>
                  </a:moveTo>
                  <a:lnTo>
                    <a:pt x="4194048" y="0"/>
                  </a:lnTo>
                  <a:lnTo>
                    <a:pt x="419404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732" b="-54732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4194048" cy="81838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HTML/CSS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0972800" y="2759964"/>
            <a:ext cx="3145536" cy="550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Antarmuka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4434823" y="2145287"/>
            <a:ext cx="3170939" cy="1342139"/>
            <a:chOff x="0" y="0"/>
            <a:chExt cx="4227919" cy="178951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227957" cy="1789557"/>
            </a:xfrm>
            <a:custGeom>
              <a:avLst/>
              <a:gdLst/>
              <a:ahLst/>
              <a:cxnLst/>
              <a:rect l="l" t="t" r="r" b="b"/>
              <a:pathLst>
                <a:path w="4227957" h="1789557">
                  <a:moveTo>
                    <a:pt x="0" y="198882"/>
                  </a:moveTo>
                  <a:cubicBezTo>
                    <a:pt x="0" y="89027"/>
                    <a:pt x="89027" y="0"/>
                    <a:pt x="198882" y="0"/>
                  </a:cubicBezTo>
                  <a:lnTo>
                    <a:pt x="4029075" y="0"/>
                  </a:lnTo>
                  <a:cubicBezTo>
                    <a:pt x="4138930" y="0"/>
                    <a:pt x="4227957" y="89027"/>
                    <a:pt x="4227957" y="198882"/>
                  </a:cubicBezTo>
                  <a:lnTo>
                    <a:pt x="4227957" y="1590675"/>
                  </a:lnTo>
                  <a:cubicBezTo>
                    <a:pt x="4227957" y="1700530"/>
                    <a:pt x="4138930" y="1789557"/>
                    <a:pt x="4029075" y="1789557"/>
                  </a:cubicBezTo>
                  <a:lnTo>
                    <a:pt x="198882" y="1789557"/>
                  </a:lnTo>
                  <a:cubicBezTo>
                    <a:pt x="89027" y="1789557"/>
                    <a:pt x="0" y="1700530"/>
                    <a:pt x="0" y="1590675"/>
                  </a:cubicBezTo>
                  <a:close/>
                </a:path>
              </a:pathLst>
            </a:custGeom>
            <a:solidFill>
              <a:srgbClr val="7C3AED"/>
            </a:solidFill>
            <a:ln w="254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14447520" y="2212848"/>
            <a:ext cx="3145536" cy="585216"/>
            <a:chOff x="0" y="0"/>
            <a:chExt cx="4194048" cy="78028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194048" cy="780288"/>
            </a:xfrm>
            <a:custGeom>
              <a:avLst/>
              <a:gdLst/>
              <a:ahLst/>
              <a:cxnLst/>
              <a:rect l="l" t="t" r="r" b="b"/>
              <a:pathLst>
                <a:path w="4194048" h="780288">
                  <a:moveTo>
                    <a:pt x="0" y="0"/>
                  </a:moveTo>
                  <a:lnTo>
                    <a:pt x="4194048" y="0"/>
                  </a:lnTo>
                  <a:lnTo>
                    <a:pt x="419404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732" b="-54732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4194048" cy="81838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XAMPP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4447520" y="2759964"/>
            <a:ext cx="3145536" cy="550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Lingkungan Dev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535943" y="3699767"/>
            <a:ext cx="8529323" cy="6206747"/>
            <a:chOff x="0" y="0"/>
            <a:chExt cx="11372431" cy="827566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1372342" cy="8275701"/>
            </a:xfrm>
            <a:custGeom>
              <a:avLst/>
              <a:gdLst/>
              <a:ahLst/>
              <a:cxnLst/>
              <a:rect l="l" t="t" r="r" b="b"/>
              <a:pathLst>
                <a:path w="11372342" h="8275701">
                  <a:moveTo>
                    <a:pt x="0" y="244856"/>
                  </a:moveTo>
                  <a:cubicBezTo>
                    <a:pt x="0" y="109601"/>
                    <a:pt x="109601" y="0"/>
                    <a:pt x="244856" y="0"/>
                  </a:cubicBezTo>
                  <a:lnTo>
                    <a:pt x="11127487" y="0"/>
                  </a:lnTo>
                  <a:cubicBezTo>
                    <a:pt x="11262741" y="0"/>
                    <a:pt x="11372342" y="109601"/>
                    <a:pt x="11372342" y="244856"/>
                  </a:cubicBezTo>
                  <a:lnTo>
                    <a:pt x="11372342" y="8030845"/>
                  </a:lnTo>
                  <a:cubicBezTo>
                    <a:pt x="11372342" y="8166100"/>
                    <a:pt x="11262741" y="8275701"/>
                    <a:pt x="11127487" y="8275701"/>
                  </a:cubicBezTo>
                  <a:lnTo>
                    <a:pt x="244856" y="8275701"/>
                  </a:lnTo>
                  <a:cubicBezTo>
                    <a:pt x="109601" y="8275701"/>
                    <a:pt x="0" y="8165973"/>
                    <a:pt x="0" y="8030845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ED7AA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768096" y="3803904"/>
            <a:ext cx="8046720" cy="585216"/>
            <a:chOff x="0" y="0"/>
            <a:chExt cx="10728960" cy="78028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728960" cy="780288"/>
            </a:xfrm>
            <a:custGeom>
              <a:avLst/>
              <a:gdLst/>
              <a:ahLst/>
              <a:cxnLst/>
              <a:rect l="l" t="t" r="r" b="b"/>
              <a:pathLst>
                <a:path w="10728960" h="780288">
                  <a:moveTo>
                    <a:pt x="0" y="0"/>
                  </a:moveTo>
                  <a:lnTo>
                    <a:pt x="10728960" y="0"/>
                  </a:lnTo>
                  <a:lnTo>
                    <a:pt x="107289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919" b="-217919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1072896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EA58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Fitur Utama Website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55399" y="4522727"/>
            <a:ext cx="8108699" cy="793499"/>
            <a:chOff x="0" y="0"/>
            <a:chExt cx="10811599" cy="105799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811510" cy="1057910"/>
            </a:xfrm>
            <a:custGeom>
              <a:avLst/>
              <a:gdLst/>
              <a:ahLst/>
              <a:cxnLst/>
              <a:rect l="l" t="t" r="r" b="b"/>
              <a:pathLst>
                <a:path w="10811510" h="1057910">
                  <a:moveTo>
                    <a:pt x="0" y="151130"/>
                  </a:moveTo>
                  <a:cubicBezTo>
                    <a:pt x="0" y="67691"/>
                    <a:pt x="67691" y="0"/>
                    <a:pt x="151130" y="0"/>
                  </a:cubicBezTo>
                  <a:lnTo>
                    <a:pt x="10660380" y="0"/>
                  </a:lnTo>
                  <a:cubicBezTo>
                    <a:pt x="10743819" y="0"/>
                    <a:pt x="10811510" y="67691"/>
                    <a:pt x="10811510" y="151130"/>
                  </a:cubicBezTo>
                  <a:lnTo>
                    <a:pt x="10811510" y="906780"/>
                  </a:lnTo>
                  <a:cubicBezTo>
                    <a:pt x="10811510" y="990219"/>
                    <a:pt x="10743819" y="1057910"/>
                    <a:pt x="10660380" y="1057910"/>
                  </a:cubicBezTo>
                  <a:lnTo>
                    <a:pt x="151130" y="1057910"/>
                  </a:lnTo>
                  <a:cubicBezTo>
                    <a:pt x="67691" y="1058037"/>
                    <a:pt x="0" y="990346"/>
                    <a:pt x="0" y="906907"/>
                  </a:cubicBezTo>
                  <a:close/>
                </a:path>
              </a:pathLst>
            </a:custGeom>
            <a:solidFill>
              <a:srgbClr val="FFF7ED"/>
            </a:solidFill>
            <a:ln w="25400" cap="sq">
              <a:solidFill>
                <a:srgbClr val="FED7AA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1005840" y="4645152"/>
            <a:ext cx="7589520" cy="548640"/>
            <a:chOff x="0" y="0"/>
            <a:chExt cx="10119360" cy="73152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119360" cy="731520"/>
            </a:xfrm>
            <a:custGeom>
              <a:avLst/>
              <a:gdLst/>
              <a:ahLst/>
              <a:cxnLst/>
              <a:rect l="l" t="t" r="r" b="b"/>
              <a:pathLst>
                <a:path w="10119360" h="731520">
                  <a:moveTo>
                    <a:pt x="0" y="0"/>
                  </a:moveTo>
                  <a:lnTo>
                    <a:pt x="10119360" y="0"/>
                  </a:lnTo>
                  <a:lnTo>
                    <a:pt x="1011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543" b="-219543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101193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0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Kelola data siswa dan mata pelajaran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55399" y="5400551"/>
            <a:ext cx="8108699" cy="793499"/>
            <a:chOff x="0" y="0"/>
            <a:chExt cx="10811599" cy="1057999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0811510" cy="1057910"/>
            </a:xfrm>
            <a:custGeom>
              <a:avLst/>
              <a:gdLst/>
              <a:ahLst/>
              <a:cxnLst/>
              <a:rect l="l" t="t" r="r" b="b"/>
              <a:pathLst>
                <a:path w="10811510" h="1057910">
                  <a:moveTo>
                    <a:pt x="0" y="151130"/>
                  </a:moveTo>
                  <a:cubicBezTo>
                    <a:pt x="0" y="67691"/>
                    <a:pt x="67691" y="0"/>
                    <a:pt x="151130" y="0"/>
                  </a:cubicBezTo>
                  <a:lnTo>
                    <a:pt x="10660380" y="0"/>
                  </a:lnTo>
                  <a:cubicBezTo>
                    <a:pt x="10743819" y="0"/>
                    <a:pt x="10811510" y="67691"/>
                    <a:pt x="10811510" y="151130"/>
                  </a:cubicBezTo>
                  <a:lnTo>
                    <a:pt x="10811510" y="906780"/>
                  </a:lnTo>
                  <a:cubicBezTo>
                    <a:pt x="10811510" y="990219"/>
                    <a:pt x="10743819" y="1057910"/>
                    <a:pt x="10660380" y="1057910"/>
                  </a:cubicBezTo>
                  <a:lnTo>
                    <a:pt x="151130" y="1057910"/>
                  </a:lnTo>
                  <a:cubicBezTo>
                    <a:pt x="67691" y="1058037"/>
                    <a:pt x="0" y="990346"/>
                    <a:pt x="0" y="906907"/>
                  </a:cubicBezTo>
                  <a:close/>
                </a:path>
              </a:pathLst>
            </a:custGeom>
            <a:solidFill>
              <a:srgbClr val="FFF7ED"/>
            </a:solidFill>
            <a:ln w="25400" cap="sq">
              <a:solidFill>
                <a:srgbClr val="FED7AA"/>
              </a:solidFill>
              <a:prstDash val="solid"/>
              <a:miter/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1005840" y="5522976"/>
            <a:ext cx="7589520" cy="548640"/>
            <a:chOff x="0" y="0"/>
            <a:chExt cx="10119360" cy="73152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0119360" cy="731520"/>
            </a:xfrm>
            <a:custGeom>
              <a:avLst/>
              <a:gdLst/>
              <a:ahLst/>
              <a:cxnLst/>
              <a:rect l="l" t="t" r="r" b="b"/>
              <a:pathLst>
                <a:path w="10119360" h="731520">
                  <a:moveTo>
                    <a:pt x="0" y="0"/>
                  </a:moveTo>
                  <a:lnTo>
                    <a:pt x="10119360" y="0"/>
                  </a:lnTo>
                  <a:lnTo>
                    <a:pt x="1011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543" b="-219543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101193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0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Input nilai manual dan import leger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55399" y="6278375"/>
            <a:ext cx="8108699" cy="793499"/>
            <a:chOff x="0" y="0"/>
            <a:chExt cx="10811599" cy="1057999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811510" cy="1057910"/>
            </a:xfrm>
            <a:custGeom>
              <a:avLst/>
              <a:gdLst/>
              <a:ahLst/>
              <a:cxnLst/>
              <a:rect l="l" t="t" r="r" b="b"/>
              <a:pathLst>
                <a:path w="10811510" h="1057910">
                  <a:moveTo>
                    <a:pt x="0" y="151130"/>
                  </a:moveTo>
                  <a:cubicBezTo>
                    <a:pt x="0" y="67691"/>
                    <a:pt x="67691" y="0"/>
                    <a:pt x="151130" y="0"/>
                  </a:cubicBezTo>
                  <a:lnTo>
                    <a:pt x="10660380" y="0"/>
                  </a:lnTo>
                  <a:cubicBezTo>
                    <a:pt x="10743819" y="0"/>
                    <a:pt x="10811510" y="67691"/>
                    <a:pt x="10811510" y="151130"/>
                  </a:cubicBezTo>
                  <a:lnTo>
                    <a:pt x="10811510" y="906780"/>
                  </a:lnTo>
                  <a:cubicBezTo>
                    <a:pt x="10811510" y="990219"/>
                    <a:pt x="10743819" y="1057910"/>
                    <a:pt x="10660380" y="1057910"/>
                  </a:cubicBezTo>
                  <a:lnTo>
                    <a:pt x="151130" y="1057910"/>
                  </a:lnTo>
                  <a:cubicBezTo>
                    <a:pt x="67691" y="1058037"/>
                    <a:pt x="0" y="990346"/>
                    <a:pt x="0" y="906907"/>
                  </a:cubicBezTo>
                  <a:close/>
                </a:path>
              </a:pathLst>
            </a:custGeom>
            <a:solidFill>
              <a:srgbClr val="FFF7ED"/>
            </a:solidFill>
            <a:ln w="25400" cap="sq">
              <a:solidFill>
                <a:srgbClr val="FED7AA"/>
              </a:solidFill>
              <a:prstDash val="solid"/>
              <a:miter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1005840" y="6400800"/>
            <a:ext cx="7589520" cy="548640"/>
            <a:chOff x="0" y="0"/>
            <a:chExt cx="10119360" cy="73152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0119360" cy="731520"/>
            </a:xfrm>
            <a:custGeom>
              <a:avLst/>
              <a:gdLst/>
              <a:ahLst/>
              <a:cxnLst/>
              <a:rect l="l" t="t" r="r" b="b"/>
              <a:pathLst>
                <a:path w="10119360" h="731520">
                  <a:moveTo>
                    <a:pt x="0" y="0"/>
                  </a:moveTo>
                  <a:lnTo>
                    <a:pt x="10119360" y="0"/>
                  </a:lnTo>
                  <a:lnTo>
                    <a:pt x="1011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543" b="-219543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101193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0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Proses clustering K-Means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55399" y="7156199"/>
            <a:ext cx="8108699" cy="793499"/>
            <a:chOff x="0" y="0"/>
            <a:chExt cx="10811599" cy="1057999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0811510" cy="1057910"/>
            </a:xfrm>
            <a:custGeom>
              <a:avLst/>
              <a:gdLst/>
              <a:ahLst/>
              <a:cxnLst/>
              <a:rect l="l" t="t" r="r" b="b"/>
              <a:pathLst>
                <a:path w="10811510" h="1057910">
                  <a:moveTo>
                    <a:pt x="0" y="151130"/>
                  </a:moveTo>
                  <a:cubicBezTo>
                    <a:pt x="0" y="67691"/>
                    <a:pt x="67691" y="0"/>
                    <a:pt x="151130" y="0"/>
                  </a:cubicBezTo>
                  <a:lnTo>
                    <a:pt x="10660380" y="0"/>
                  </a:lnTo>
                  <a:cubicBezTo>
                    <a:pt x="10743819" y="0"/>
                    <a:pt x="10811510" y="67691"/>
                    <a:pt x="10811510" y="151130"/>
                  </a:cubicBezTo>
                  <a:lnTo>
                    <a:pt x="10811510" y="906780"/>
                  </a:lnTo>
                  <a:cubicBezTo>
                    <a:pt x="10811510" y="990219"/>
                    <a:pt x="10743819" y="1057910"/>
                    <a:pt x="10660380" y="1057910"/>
                  </a:cubicBezTo>
                  <a:lnTo>
                    <a:pt x="151130" y="1057910"/>
                  </a:lnTo>
                  <a:cubicBezTo>
                    <a:pt x="67691" y="1058037"/>
                    <a:pt x="0" y="990346"/>
                    <a:pt x="0" y="906907"/>
                  </a:cubicBezTo>
                  <a:close/>
                </a:path>
              </a:pathLst>
            </a:custGeom>
            <a:solidFill>
              <a:srgbClr val="FFF7ED"/>
            </a:solidFill>
            <a:ln w="25400" cap="sq">
              <a:solidFill>
                <a:srgbClr val="FED7AA"/>
              </a:solidFill>
              <a:prstDash val="solid"/>
              <a:miter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1005840" y="7278624"/>
            <a:ext cx="7589520" cy="548640"/>
            <a:chOff x="0" y="0"/>
            <a:chExt cx="10119360" cy="73152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0119360" cy="731520"/>
            </a:xfrm>
            <a:custGeom>
              <a:avLst/>
              <a:gdLst/>
              <a:ahLst/>
              <a:cxnLst/>
              <a:rect l="l" t="t" r="r" b="b"/>
              <a:pathLst>
                <a:path w="10119360" h="731520">
                  <a:moveTo>
                    <a:pt x="0" y="0"/>
                  </a:moveTo>
                  <a:lnTo>
                    <a:pt x="10119360" y="0"/>
                  </a:lnTo>
                  <a:lnTo>
                    <a:pt x="1011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543" b="-219543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38100"/>
              <a:ext cx="101193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0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Hasil cluster dan profil siswa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755399" y="8034023"/>
            <a:ext cx="8108699" cy="793499"/>
            <a:chOff x="0" y="0"/>
            <a:chExt cx="10811599" cy="1057999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0811510" cy="1057910"/>
            </a:xfrm>
            <a:custGeom>
              <a:avLst/>
              <a:gdLst/>
              <a:ahLst/>
              <a:cxnLst/>
              <a:rect l="l" t="t" r="r" b="b"/>
              <a:pathLst>
                <a:path w="10811510" h="1057910">
                  <a:moveTo>
                    <a:pt x="0" y="151130"/>
                  </a:moveTo>
                  <a:cubicBezTo>
                    <a:pt x="0" y="67691"/>
                    <a:pt x="67691" y="0"/>
                    <a:pt x="151130" y="0"/>
                  </a:cubicBezTo>
                  <a:lnTo>
                    <a:pt x="10660380" y="0"/>
                  </a:lnTo>
                  <a:cubicBezTo>
                    <a:pt x="10743819" y="0"/>
                    <a:pt x="10811510" y="67691"/>
                    <a:pt x="10811510" y="151130"/>
                  </a:cubicBezTo>
                  <a:lnTo>
                    <a:pt x="10811510" y="906780"/>
                  </a:lnTo>
                  <a:cubicBezTo>
                    <a:pt x="10811510" y="990219"/>
                    <a:pt x="10743819" y="1057910"/>
                    <a:pt x="10660380" y="1057910"/>
                  </a:cubicBezTo>
                  <a:lnTo>
                    <a:pt x="151130" y="1057910"/>
                  </a:lnTo>
                  <a:cubicBezTo>
                    <a:pt x="67691" y="1058037"/>
                    <a:pt x="0" y="990346"/>
                    <a:pt x="0" y="906907"/>
                  </a:cubicBezTo>
                  <a:close/>
                </a:path>
              </a:pathLst>
            </a:custGeom>
            <a:solidFill>
              <a:srgbClr val="FFF7ED"/>
            </a:solidFill>
            <a:ln w="25400" cap="sq">
              <a:solidFill>
                <a:srgbClr val="FED7AA"/>
              </a:solidFill>
              <a:prstDash val="solid"/>
              <a:miter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1005840" y="8156448"/>
            <a:ext cx="7589520" cy="548640"/>
            <a:chOff x="0" y="0"/>
            <a:chExt cx="10119360" cy="73152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0119360" cy="731520"/>
            </a:xfrm>
            <a:custGeom>
              <a:avLst/>
              <a:gdLst/>
              <a:ahLst/>
              <a:cxnLst/>
              <a:rect l="l" t="t" r="r" b="b"/>
              <a:pathLst>
                <a:path w="10119360" h="731520">
                  <a:moveTo>
                    <a:pt x="0" y="0"/>
                  </a:moveTo>
                  <a:lnTo>
                    <a:pt x="10119360" y="0"/>
                  </a:lnTo>
                  <a:lnTo>
                    <a:pt x="1011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543" b="-219543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101193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0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 aktivitas dan backup database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55399" y="8911847"/>
            <a:ext cx="8108699" cy="793499"/>
            <a:chOff x="0" y="0"/>
            <a:chExt cx="10811599" cy="1057999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0811510" cy="1057910"/>
            </a:xfrm>
            <a:custGeom>
              <a:avLst/>
              <a:gdLst/>
              <a:ahLst/>
              <a:cxnLst/>
              <a:rect l="l" t="t" r="r" b="b"/>
              <a:pathLst>
                <a:path w="10811510" h="1057910">
                  <a:moveTo>
                    <a:pt x="0" y="151130"/>
                  </a:moveTo>
                  <a:cubicBezTo>
                    <a:pt x="0" y="67691"/>
                    <a:pt x="67691" y="0"/>
                    <a:pt x="151130" y="0"/>
                  </a:cubicBezTo>
                  <a:lnTo>
                    <a:pt x="10660380" y="0"/>
                  </a:lnTo>
                  <a:cubicBezTo>
                    <a:pt x="10743819" y="0"/>
                    <a:pt x="10811510" y="67691"/>
                    <a:pt x="10811510" y="151130"/>
                  </a:cubicBezTo>
                  <a:lnTo>
                    <a:pt x="10811510" y="906780"/>
                  </a:lnTo>
                  <a:cubicBezTo>
                    <a:pt x="10811510" y="990219"/>
                    <a:pt x="10743819" y="1057910"/>
                    <a:pt x="10660380" y="1057910"/>
                  </a:cubicBezTo>
                  <a:lnTo>
                    <a:pt x="151130" y="1057910"/>
                  </a:lnTo>
                  <a:cubicBezTo>
                    <a:pt x="67691" y="1058037"/>
                    <a:pt x="0" y="990346"/>
                    <a:pt x="0" y="906907"/>
                  </a:cubicBezTo>
                  <a:close/>
                </a:path>
              </a:pathLst>
            </a:custGeom>
            <a:solidFill>
              <a:srgbClr val="FFF7ED"/>
            </a:solidFill>
            <a:ln w="25400" cap="sq">
              <a:solidFill>
                <a:srgbClr val="FED7AA"/>
              </a:solidFill>
              <a:prstDash val="solid"/>
              <a:miter/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1005840" y="9034272"/>
            <a:ext cx="7589520" cy="548640"/>
            <a:chOff x="0" y="0"/>
            <a:chExt cx="10119360" cy="73152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0119360" cy="731520"/>
            </a:xfrm>
            <a:custGeom>
              <a:avLst/>
              <a:gdLst/>
              <a:ahLst/>
              <a:cxnLst/>
              <a:rect l="l" t="t" r="r" b="b"/>
              <a:pathLst>
                <a:path w="10119360" h="731520">
                  <a:moveTo>
                    <a:pt x="0" y="0"/>
                  </a:moveTo>
                  <a:lnTo>
                    <a:pt x="10119360" y="0"/>
                  </a:lnTo>
                  <a:lnTo>
                    <a:pt x="1011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543" b="-219543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101193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0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Akses sesuai peran admin dan guru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9405623" y="3699767"/>
            <a:ext cx="8529323" cy="6206747"/>
            <a:chOff x="0" y="0"/>
            <a:chExt cx="11372431" cy="8275663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1372342" cy="8275701"/>
            </a:xfrm>
            <a:custGeom>
              <a:avLst/>
              <a:gdLst/>
              <a:ahLst/>
              <a:cxnLst/>
              <a:rect l="l" t="t" r="r" b="b"/>
              <a:pathLst>
                <a:path w="11372342" h="8275701">
                  <a:moveTo>
                    <a:pt x="0" y="244856"/>
                  </a:moveTo>
                  <a:cubicBezTo>
                    <a:pt x="0" y="109601"/>
                    <a:pt x="109601" y="0"/>
                    <a:pt x="244856" y="0"/>
                  </a:cubicBezTo>
                  <a:lnTo>
                    <a:pt x="11127487" y="0"/>
                  </a:lnTo>
                  <a:cubicBezTo>
                    <a:pt x="11262741" y="0"/>
                    <a:pt x="11372342" y="109601"/>
                    <a:pt x="11372342" y="244856"/>
                  </a:cubicBezTo>
                  <a:lnTo>
                    <a:pt x="11372342" y="8030845"/>
                  </a:lnTo>
                  <a:cubicBezTo>
                    <a:pt x="11372342" y="8166100"/>
                    <a:pt x="11262741" y="8275701"/>
                    <a:pt x="11127487" y="8275701"/>
                  </a:cubicBezTo>
                  <a:lnTo>
                    <a:pt x="244856" y="8275701"/>
                  </a:lnTo>
                  <a:cubicBezTo>
                    <a:pt x="109601" y="8275701"/>
                    <a:pt x="0" y="8165973"/>
                    <a:pt x="0" y="8030845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ED7AA"/>
              </a:solidFill>
              <a:prstDash val="solid"/>
              <a:miter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9637776" y="3803904"/>
            <a:ext cx="8046720" cy="585216"/>
            <a:chOff x="0" y="0"/>
            <a:chExt cx="10728960" cy="780288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0728960" cy="780288"/>
            </a:xfrm>
            <a:custGeom>
              <a:avLst/>
              <a:gdLst/>
              <a:ahLst/>
              <a:cxnLst/>
              <a:rect l="l" t="t" r="r" b="b"/>
              <a:pathLst>
                <a:path w="10728960" h="780288">
                  <a:moveTo>
                    <a:pt x="0" y="0"/>
                  </a:moveTo>
                  <a:lnTo>
                    <a:pt x="10728960" y="0"/>
                  </a:lnTo>
                  <a:lnTo>
                    <a:pt x="107289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919" b="-217919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1072896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EA58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Hasil Pengujian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625079" y="4522727"/>
            <a:ext cx="8108699" cy="2494283"/>
            <a:chOff x="0" y="0"/>
            <a:chExt cx="10811599" cy="3325711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0811637" cy="3325749"/>
            </a:xfrm>
            <a:custGeom>
              <a:avLst/>
              <a:gdLst/>
              <a:ahLst/>
              <a:cxnLst/>
              <a:rect l="l" t="t" r="r" b="b"/>
              <a:pathLst>
                <a:path w="10811637" h="3325749">
                  <a:moveTo>
                    <a:pt x="0" y="197104"/>
                  </a:moveTo>
                  <a:cubicBezTo>
                    <a:pt x="0" y="88265"/>
                    <a:pt x="88265" y="0"/>
                    <a:pt x="197104" y="0"/>
                  </a:cubicBezTo>
                  <a:lnTo>
                    <a:pt x="10614533" y="0"/>
                  </a:lnTo>
                  <a:cubicBezTo>
                    <a:pt x="10723372" y="0"/>
                    <a:pt x="10811637" y="88265"/>
                    <a:pt x="10811637" y="197104"/>
                  </a:cubicBezTo>
                  <a:lnTo>
                    <a:pt x="10811637" y="3128645"/>
                  </a:lnTo>
                  <a:cubicBezTo>
                    <a:pt x="10811637" y="3237484"/>
                    <a:pt x="10723372" y="3325749"/>
                    <a:pt x="10614533" y="3325749"/>
                  </a:cubicBezTo>
                  <a:lnTo>
                    <a:pt x="197104" y="3325749"/>
                  </a:lnTo>
                  <a:cubicBezTo>
                    <a:pt x="88265" y="3325749"/>
                    <a:pt x="0" y="3237484"/>
                    <a:pt x="0" y="3128645"/>
                  </a:cubicBezTo>
                  <a:close/>
                </a:path>
              </a:pathLst>
            </a:custGeom>
            <a:solidFill>
              <a:srgbClr val="FFF7ED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81" name="Group 81"/>
          <p:cNvGrpSpPr/>
          <p:nvPr/>
        </p:nvGrpSpPr>
        <p:grpSpPr>
          <a:xfrm>
            <a:off x="9875520" y="4645152"/>
            <a:ext cx="7589520" cy="512064"/>
            <a:chOff x="0" y="0"/>
            <a:chExt cx="10119360" cy="682752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0119360" cy="682752"/>
            </a:xfrm>
            <a:custGeom>
              <a:avLst/>
              <a:gdLst/>
              <a:ahLst/>
              <a:cxnLst/>
              <a:rect l="l" t="t" r="r" b="b"/>
              <a:pathLst>
                <a:path w="10119360" h="682752">
                  <a:moveTo>
                    <a:pt x="0" y="0"/>
                  </a:moveTo>
                  <a:lnTo>
                    <a:pt x="10119360" y="0"/>
                  </a:lnTo>
                  <a:lnTo>
                    <a:pt x="10119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8796" b="-238796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47625"/>
              <a:ext cx="1011936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EA58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⬛  Black Box Testing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9875520" y="5157216"/>
            <a:ext cx="7589520" cy="1682496"/>
            <a:chOff x="0" y="0"/>
            <a:chExt cx="10119360" cy="2243328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0119360" cy="2243328"/>
            </a:xfrm>
            <a:custGeom>
              <a:avLst/>
              <a:gdLst/>
              <a:ahLst/>
              <a:cxnLst/>
              <a:rect l="l" t="t" r="r" b="b"/>
              <a:pathLst>
                <a:path w="10119360" h="2243328">
                  <a:moveTo>
                    <a:pt x="0" y="0"/>
                  </a:moveTo>
                  <a:lnTo>
                    <a:pt x="10119360" y="0"/>
                  </a:lnTo>
                  <a:lnTo>
                    <a:pt x="1011936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894" b="-37894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-38100"/>
              <a:ext cx="10119360" cy="2281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440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modul diuji: Login, Data Siswa, Mata Pelajaran, Input Nilai, Import Leger, Clustering, dan Hasil. Seluruh skenario berhasil.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9625079" y="7211063"/>
            <a:ext cx="8108699" cy="2549147"/>
            <a:chOff x="0" y="0"/>
            <a:chExt cx="10811599" cy="3398863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10811510" cy="3398774"/>
            </a:xfrm>
            <a:custGeom>
              <a:avLst/>
              <a:gdLst/>
              <a:ahLst/>
              <a:cxnLst/>
              <a:rect l="l" t="t" r="r" b="b"/>
              <a:pathLst>
                <a:path w="10811510" h="3398774">
                  <a:moveTo>
                    <a:pt x="0" y="196977"/>
                  </a:moveTo>
                  <a:cubicBezTo>
                    <a:pt x="0" y="88265"/>
                    <a:pt x="88265" y="0"/>
                    <a:pt x="196977" y="0"/>
                  </a:cubicBezTo>
                  <a:lnTo>
                    <a:pt x="10614533" y="0"/>
                  </a:lnTo>
                  <a:cubicBezTo>
                    <a:pt x="10723372" y="0"/>
                    <a:pt x="10811510" y="88265"/>
                    <a:pt x="10811510" y="196977"/>
                  </a:cubicBezTo>
                  <a:lnTo>
                    <a:pt x="10811510" y="3201797"/>
                  </a:lnTo>
                  <a:cubicBezTo>
                    <a:pt x="10811510" y="3310636"/>
                    <a:pt x="10723245" y="3398774"/>
                    <a:pt x="10614533" y="3398774"/>
                  </a:cubicBezTo>
                  <a:lnTo>
                    <a:pt x="196977" y="3398774"/>
                  </a:lnTo>
                  <a:cubicBezTo>
                    <a:pt x="88265" y="3398901"/>
                    <a:pt x="0" y="3310636"/>
                    <a:pt x="0" y="3201797"/>
                  </a:cubicBezTo>
                  <a:close/>
                </a:path>
              </a:pathLst>
            </a:custGeom>
            <a:solidFill>
              <a:srgbClr val="F0FDFA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id="89" name="Group 89"/>
          <p:cNvGrpSpPr/>
          <p:nvPr/>
        </p:nvGrpSpPr>
        <p:grpSpPr>
          <a:xfrm>
            <a:off x="9875520" y="7333488"/>
            <a:ext cx="7589520" cy="512064"/>
            <a:chOff x="0" y="0"/>
            <a:chExt cx="10119360" cy="682752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10119360" cy="682752"/>
            </a:xfrm>
            <a:custGeom>
              <a:avLst/>
              <a:gdLst/>
              <a:ahLst/>
              <a:cxnLst/>
              <a:rect l="l" t="t" r="r" b="b"/>
              <a:pathLst>
                <a:path w="10119360" h="682752">
                  <a:moveTo>
                    <a:pt x="0" y="0"/>
                  </a:moveTo>
                  <a:lnTo>
                    <a:pt x="10119360" y="0"/>
                  </a:lnTo>
                  <a:lnTo>
                    <a:pt x="10119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8796" b="-238796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47625"/>
              <a:ext cx="1011936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⬜  White Box Testing (Basis Path)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9875520" y="7863840"/>
            <a:ext cx="7589520" cy="1755648"/>
            <a:chOff x="0" y="0"/>
            <a:chExt cx="10119360" cy="2340864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10119360" cy="2340864"/>
            </a:xfrm>
            <a:custGeom>
              <a:avLst/>
              <a:gdLst/>
              <a:ahLst/>
              <a:cxnLst/>
              <a:rect l="l" t="t" r="r" b="b"/>
              <a:pathLst>
                <a:path w="10119360" h="2340864">
                  <a:moveTo>
                    <a:pt x="0" y="0"/>
                  </a:moveTo>
                  <a:lnTo>
                    <a:pt x="10119360" y="0"/>
                  </a:lnTo>
                  <a:lnTo>
                    <a:pt x="10119360" y="2340864"/>
                  </a:lnTo>
                  <a:lnTo>
                    <a:pt x="0" y="23408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232" b="-34232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-38100"/>
              <a:ext cx="10119360" cy="23789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440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Node=10, Edge=12, Cyclomatic Complexity=4. Empat jalur independen berhasil diuji.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EA580C"/>
            </a:solidFill>
            <a:ln w="25400" cap="sq">
              <a:solidFill>
                <a:srgbClr val="EA580C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12697" y="-12697"/>
            <a:ext cx="354587" cy="1945643"/>
            <a:chOff x="0" y="0"/>
            <a:chExt cx="472783" cy="25941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2821" cy="2594229"/>
            </a:xfrm>
            <a:custGeom>
              <a:avLst/>
              <a:gdLst/>
              <a:ahLst/>
              <a:cxnLst/>
              <a:rect l="l" t="t" r="r" b="b"/>
              <a:pathLst>
                <a:path w="472821" h="2594229">
                  <a:moveTo>
                    <a:pt x="0" y="0"/>
                  </a:moveTo>
                  <a:lnTo>
                    <a:pt x="472821" y="0"/>
                  </a:lnTo>
                  <a:lnTo>
                    <a:pt x="472821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FBBF24"/>
            </a:solidFill>
            <a:ln w="25400" cap="sq">
              <a:solidFill>
                <a:srgbClr val="FBBF24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94944" y="0"/>
            <a:ext cx="17007840" cy="1920240"/>
            <a:chOff x="0" y="0"/>
            <a:chExt cx="22677120" cy="25603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677120" cy="2560320"/>
            </a:xfrm>
            <a:custGeom>
              <a:avLst/>
              <a:gdLst/>
              <a:ahLst/>
              <a:cxnLst/>
              <a:rect l="l" t="t" r="r" b="b"/>
              <a:pathLst>
                <a:path w="22677120" h="2560320">
                  <a:moveTo>
                    <a:pt x="0" y="0"/>
                  </a:moveTo>
                  <a:lnTo>
                    <a:pt x="22677120" y="0"/>
                  </a:lnTo>
                  <a:lnTo>
                    <a:pt x="2267712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581" b="-122581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22677120" cy="2636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BAB V  –  Kesimpulan &amp; Saran</a:t>
              </a:r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646CC036-3EA9-47DD-968E-10B1BB19B1AD}"/>
              </a:ext>
            </a:extLst>
          </p:cNvPr>
          <p:cNvSpPr txBox="1"/>
          <p:nvPr/>
        </p:nvSpPr>
        <p:spPr>
          <a:xfrm>
            <a:off x="635000" y="2095500"/>
            <a:ext cx="8255000" cy="461665"/>
          </a:xfrm>
          <a:prstGeom prst="rect">
            <a:avLst/>
          </a:prstGeom>
          <a:noFill/>
        </p:spPr>
        <p:txBody>
          <a:bodyPr vert="horz" lIns="127000" rIns="127000" rtlCol="0" anchor="ctr">
            <a:spAutoFit/>
          </a:bodyPr>
          <a:lstStyle/>
          <a:p>
            <a:pPr algn="ctr"/>
            <a:r>
              <a:rPr lang="en-ID" sz="2400" b="1">
                <a:solidFill>
                  <a:srgbClr val="F25A0B"/>
                </a:solidFill>
                <a:latin typeface="Poppins"/>
              </a:rPr>
              <a:t>Kesimpulan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A33A754-7459-4254-A1A2-CD0FAF485E82}"/>
              </a:ext>
            </a:extLst>
          </p:cNvPr>
          <p:cNvSpPr txBox="1"/>
          <p:nvPr/>
        </p:nvSpPr>
        <p:spPr>
          <a:xfrm>
            <a:off x="9525000" y="2095500"/>
            <a:ext cx="8255000" cy="461665"/>
          </a:xfrm>
          <a:prstGeom prst="rect">
            <a:avLst/>
          </a:prstGeom>
          <a:noFill/>
        </p:spPr>
        <p:txBody>
          <a:bodyPr vert="horz" lIns="127000" rIns="127000" rtlCol="0" anchor="ctr">
            <a:spAutoFit/>
          </a:bodyPr>
          <a:lstStyle/>
          <a:p>
            <a:pPr algn="ctr"/>
            <a:r>
              <a:rPr lang="en-ID" sz="2400" b="1">
                <a:solidFill>
                  <a:srgbClr val="0F978B"/>
                </a:solidFill>
                <a:latin typeface="Poppins"/>
              </a:rPr>
              <a:t>Saran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3417E084-18E7-4B5F-9AEA-DBFAED50A282}"/>
              </a:ext>
            </a:extLst>
          </p:cNvPr>
          <p:cNvSpPr/>
          <p:nvPr/>
        </p:nvSpPr>
        <p:spPr>
          <a:xfrm>
            <a:off x="571500" y="2857500"/>
            <a:ext cx="8509000" cy="1333500"/>
          </a:xfrm>
          <a:prstGeom prst="roundRect">
            <a:avLst/>
          </a:prstGeom>
          <a:solidFill>
            <a:srgbClr val="FFF9EF"/>
          </a:solidFill>
          <a:ln w="19050">
            <a:solidFill>
              <a:srgbClr val="F5BE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5A6554B5-654F-40E2-BD16-A9CC121439B3}"/>
              </a:ext>
            </a:extLst>
          </p:cNvPr>
          <p:cNvSpPr/>
          <p:nvPr/>
        </p:nvSpPr>
        <p:spPr>
          <a:xfrm>
            <a:off x="825500" y="3175000"/>
            <a:ext cx="660400" cy="660400"/>
          </a:xfrm>
          <a:prstGeom prst="ellipse">
            <a:avLst/>
          </a:prstGeom>
          <a:solidFill>
            <a:srgbClr val="F25A0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rIns="127000" rtlCol="0" anchor="ctr"/>
          <a:lstStyle/>
          <a:p>
            <a:pPr algn="ctr"/>
            <a:r>
              <a:rPr lang="en-ID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E7696EF-43B5-4EE1-B949-1968682B069D}"/>
              </a:ext>
            </a:extLst>
          </p:cNvPr>
          <p:cNvSpPr txBox="1"/>
          <p:nvPr/>
        </p:nvSpPr>
        <p:spPr>
          <a:xfrm>
            <a:off x="1651000" y="3009900"/>
            <a:ext cx="7048500" cy="353943"/>
          </a:xfrm>
          <a:prstGeom prst="rect">
            <a:avLst/>
          </a:prstGeom>
          <a:noFill/>
        </p:spPr>
        <p:txBody>
          <a:bodyPr vert="horz" lIns="127000" rIns="127000" rtlCol="0" anchor="ctr">
            <a:spAutoFit/>
          </a:bodyPr>
          <a:lstStyle/>
          <a:p>
            <a:r>
              <a:rPr lang="en-ID" sz="1700">
                <a:solidFill>
                  <a:srgbClr val="373737"/>
                </a:solidFill>
                <a:latin typeface="Poppins"/>
              </a:rPr>
              <a:t>CRISP-DM diterapkan dari pemahaman bisnis hingga deployment.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C7DF1BBD-2ED5-4876-8A38-0EFC4E626A3E}"/>
              </a:ext>
            </a:extLst>
          </p:cNvPr>
          <p:cNvSpPr/>
          <p:nvPr/>
        </p:nvSpPr>
        <p:spPr>
          <a:xfrm>
            <a:off x="571500" y="4445000"/>
            <a:ext cx="8509000" cy="1333500"/>
          </a:xfrm>
          <a:prstGeom prst="roundRect">
            <a:avLst/>
          </a:prstGeom>
          <a:solidFill>
            <a:srgbClr val="FFF9EF"/>
          </a:solidFill>
          <a:ln w="19050">
            <a:solidFill>
              <a:srgbClr val="F5BE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60D189CF-0C34-4FBC-8112-CACA24B0015E}"/>
              </a:ext>
            </a:extLst>
          </p:cNvPr>
          <p:cNvSpPr/>
          <p:nvPr/>
        </p:nvSpPr>
        <p:spPr>
          <a:xfrm>
            <a:off x="825500" y="4762500"/>
            <a:ext cx="660400" cy="660400"/>
          </a:xfrm>
          <a:prstGeom prst="ellipse">
            <a:avLst/>
          </a:prstGeom>
          <a:solidFill>
            <a:srgbClr val="F25A0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rIns="127000" rtlCol="0" anchor="ctr"/>
          <a:lstStyle/>
          <a:p>
            <a:pPr algn="ctr"/>
            <a:r>
              <a:rPr lang="en-ID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1B0D06D-4965-4CE5-A7F9-BC2ACC9A0092}"/>
              </a:ext>
            </a:extLst>
          </p:cNvPr>
          <p:cNvSpPr txBox="1"/>
          <p:nvPr/>
        </p:nvSpPr>
        <p:spPr>
          <a:xfrm>
            <a:off x="1651000" y="4597400"/>
            <a:ext cx="7048500" cy="353943"/>
          </a:xfrm>
          <a:prstGeom prst="rect">
            <a:avLst/>
          </a:prstGeom>
          <a:noFill/>
        </p:spPr>
        <p:txBody>
          <a:bodyPr vert="horz" lIns="127000" rIns="127000" rtlCol="0" anchor="ctr">
            <a:spAutoFit/>
          </a:bodyPr>
          <a:lstStyle/>
          <a:p>
            <a:r>
              <a:rPr lang="en-ID" sz="1700">
                <a:solidFill>
                  <a:srgbClr val="373737"/>
                </a:solidFill>
                <a:latin typeface="Poppins"/>
              </a:rPr>
              <a:t>K-Means mengelompokkan 34 siswa XI Perhotelan menjadi 5 cluster.</a:t>
            </a: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9E97B850-F5E2-442B-AEC1-59338C3DEF49}"/>
              </a:ext>
            </a:extLst>
          </p:cNvPr>
          <p:cNvSpPr/>
          <p:nvPr/>
        </p:nvSpPr>
        <p:spPr>
          <a:xfrm>
            <a:off x="571500" y="6032500"/>
            <a:ext cx="8509000" cy="1333500"/>
          </a:xfrm>
          <a:prstGeom prst="roundRect">
            <a:avLst/>
          </a:prstGeom>
          <a:solidFill>
            <a:srgbClr val="FFF9EF"/>
          </a:solidFill>
          <a:ln w="19050">
            <a:solidFill>
              <a:srgbClr val="F5BE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044E55AB-B9E2-49E0-A1C6-5ABC4C0D1ABE}"/>
              </a:ext>
            </a:extLst>
          </p:cNvPr>
          <p:cNvSpPr/>
          <p:nvPr/>
        </p:nvSpPr>
        <p:spPr>
          <a:xfrm>
            <a:off x="825500" y="6350000"/>
            <a:ext cx="660400" cy="660400"/>
          </a:xfrm>
          <a:prstGeom prst="ellipse">
            <a:avLst/>
          </a:prstGeom>
          <a:solidFill>
            <a:srgbClr val="F25A0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rIns="127000" rtlCol="0" anchor="ctr"/>
          <a:lstStyle/>
          <a:p>
            <a:pPr algn="ctr"/>
            <a:r>
              <a:rPr lang="en-ID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B40C26A-4F02-4BF8-B83A-5BDCC42D0A43}"/>
              </a:ext>
            </a:extLst>
          </p:cNvPr>
          <p:cNvSpPr txBox="1"/>
          <p:nvPr/>
        </p:nvSpPr>
        <p:spPr>
          <a:xfrm>
            <a:off x="1651000" y="6184900"/>
            <a:ext cx="7048500" cy="353943"/>
          </a:xfrm>
          <a:prstGeom prst="rect">
            <a:avLst/>
          </a:prstGeom>
          <a:noFill/>
        </p:spPr>
        <p:txBody>
          <a:bodyPr vert="horz" lIns="127000" rIns="127000" rtlCol="0" anchor="ctr">
            <a:spAutoFit/>
          </a:bodyPr>
          <a:lstStyle/>
          <a:p>
            <a:r>
              <a:rPr lang="en-ID" sz="1700">
                <a:solidFill>
                  <a:srgbClr val="373737"/>
                </a:solidFill>
                <a:latin typeface="Poppins"/>
              </a:rPr>
              <a:t>Silhouette 0,199861 menunjukkan struktur cluster belum kuat.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0A4B1E3E-DB07-42B9-B35B-60F9830BC1F2}"/>
              </a:ext>
            </a:extLst>
          </p:cNvPr>
          <p:cNvSpPr/>
          <p:nvPr/>
        </p:nvSpPr>
        <p:spPr>
          <a:xfrm>
            <a:off x="571500" y="7620000"/>
            <a:ext cx="8509000" cy="1333500"/>
          </a:xfrm>
          <a:prstGeom prst="roundRect">
            <a:avLst/>
          </a:prstGeom>
          <a:solidFill>
            <a:srgbClr val="FFF9EF"/>
          </a:solidFill>
          <a:ln w="19050">
            <a:solidFill>
              <a:srgbClr val="F5BE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86CB9397-4ACC-4687-8F0F-FBD13A1A6AAA}"/>
              </a:ext>
            </a:extLst>
          </p:cNvPr>
          <p:cNvSpPr/>
          <p:nvPr/>
        </p:nvSpPr>
        <p:spPr>
          <a:xfrm>
            <a:off x="825500" y="7937500"/>
            <a:ext cx="660400" cy="660400"/>
          </a:xfrm>
          <a:prstGeom prst="ellipse">
            <a:avLst/>
          </a:prstGeom>
          <a:solidFill>
            <a:srgbClr val="F25A0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rIns="127000" rtlCol="0" anchor="ctr"/>
          <a:lstStyle/>
          <a:p>
            <a:pPr algn="ctr"/>
            <a:r>
              <a:rPr lang="en-ID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2FC38B6-B605-4167-B93B-F8349747F2F9}"/>
              </a:ext>
            </a:extLst>
          </p:cNvPr>
          <p:cNvSpPr txBox="1"/>
          <p:nvPr/>
        </p:nvSpPr>
        <p:spPr>
          <a:xfrm>
            <a:off x="1651000" y="7772400"/>
            <a:ext cx="7048500" cy="353943"/>
          </a:xfrm>
          <a:prstGeom prst="rect">
            <a:avLst/>
          </a:prstGeom>
          <a:noFill/>
        </p:spPr>
        <p:txBody>
          <a:bodyPr vert="horz" lIns="127000" rIns="127000" rtlCol="0" anchor="ctr">
            <a:spAutoFit/>
          </a:bodyPr>
          <a:lstStyle/>
          <a:p>
            <a:r>
              <a:rPr lang="en-ID" sz="1700">
                <a:solidFill>
                  <a:srgbClr val="373737"/>
                </a:solidFill>
                <a:latin typeface="Poppins"/>
              </a:rPr>
              <a:t>Website menyediakan informasi pendukung strategi pembelajaran.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B173BC82-3CFA-43D2-A888-FE055609863A}"/>
              </a:ext>
            </a:extLst>
          </p:cNvPr>
          <p:cNvSpPr/>
          <p:nvPr/>
        </p:nvSpPr>
        <p:spPr>
          <a:xfrm>
            <a:off x="9461500" y="2984500"/>
            <a:ext cx="8445500" cy="1714500"/>
          </a:xfrm>
          <a:prstGeom prst="roundRect">
            <a:avLst/>
          </a:prstGeom>
          <a:solidFill>
            <a:srgbClr val="EFFAF8"/>
          </a:solidFill>
          <a:ln w="19050">
            <a:solidFill>
              <a:srgbClr val="0F97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1BA0D0CA-5095-422C-8AB4-A669D82526EF}"/>
              </a:ext>
            </a:extLst>
          </p:cNvPr>
          <p:cNvSpPr/>
          <p:nvPr/>
        </p:nvSpPr>
        <p:spPr>
          <a:xfrm>
            <a:off x="9779000" y="3505200"/>
            <a:ext cx="660400" cy="660400"/>
          </a:xfrm>
          <a:prstGeom prst="ellipse">
            <a:avLst/>
          </a:prstGeom>
          <a:solidFill>
            <a:srgbClr val="0F978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rIns="127000" rtlCol="0" anchor="ctr"/>
          <a:lstStyle/>
          <a:p>
            <a:pPr algn="ctr"/>
            <a:r>
              <a:rPr lang="en-ID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000357FE-64AF-489C-91F1-8E9FA1E84F0D}"/>
              </a:ext>
            </a:extLst>
          </p:cNvPr>
          <p:cNvSpPr txBox="1"/>
          <p:nvPr/>
        </p:nvSpPr>
        <p:spPr>
          <a:xfrm>
            <a:off x="10668000" y="3238500"/>
            <a:ext cx="6794500" cy="615553"/>
          </a:xfrm>
          <a:prstGeom prst="rect">
            <a:avLst/>
          </a:prstGeom>
          <a:noFill/>
        </p:spPr>
        <p:txBody>
          <a:bodyPr vert="horz" lIns="127000" rIns="127000" rtlCol="0" anchor="ctr">
            <a:spAutoFit/>
          </a:bodyPr>
          <a:lstStyle/>
          <a:p>
            <a:r>
              <a:rPr lang="sv-SE" sz="1700">
                <a:solidFill>
                  <a:srgbClr val="373737"/>
                </a:solidFill>
                <a:latin typeface="Poppins"/>
              </a:rPr>
              <a:t>Menambah atribut yang relevan, seperti kehadiran, sikap, dan prestasi non-akademik.</a:t>
            </a:r>
            <a:endParaRPr lang="en-ID" sz="1700">
              <a:solidFill>
                <a:srgbClr val="373737"/>
              </a:solidFill>
              <a:latin typeface="Poppins"/>
            </a:endParaRP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BEA10E63-7491-471A-AFF3-014338B0A5F0}"/>
              </a:ext>
            </a:extLst>
          </p:cNvPr>
          <p:cNvSpPr/>
          <p:nvPr/>
        </p:nvSpPr>
        <p:spPr>
          <a:xfrm>
            <a:off x="9461500" y="5143500"/>
            <a:ext cx="8445500" cy="1714500"/>
          </a:xfrm>
          <a:prstGeom prst="roundRect">
            <a:avLst/>
          </a:prstGeom>
          <a:solidFill>
            <a:srgbClr val="EFFAF8"/>
          </a:solidFill>
          <a:ln w="19050">
            <a:solidFill>
              <a:srgbClr val="0F97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098B3EAB-9E1D-4014-A159-40C9CB8F00DC}"/>
              </a:ext>
            </a:extLst>
          </p:cNvPr>
          <p:cNvSpPr/>
          <p:nvPr/>
        </p:nvSpPr>
        <p:spPr>
          <a:xfrm>
            <a:off x="9779000" y="5664200"/>
            <a:ext cx="660400" cy="660400"/>
          </a:xfrm>
          <a:prstGeom prst="ellipse">
            <a:avLst/>
          </a:prstGeom>
          <a:solidFill>
            <a:srgbClr val="0F978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rIns="127000" rtlCol="0" anchor="ctr"/>
          <a:lstStyle/>
          <a:p>
            <a:pPr algn="ctr"/>
            <a:r>
              <a:rPr lang="en-ID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0D5AF579-EC6C-4410-821F-1A14DB66DBF3}"/>
              </a:ext>
            </a:extLst>
          </p:cNvPr>
          <p:cNvSpPr txBox="1"/>
          <p:nvPr/>
        </p:nvSpPr>
        <p:spPr>
          <a:xfrm>
            <a:off x="10668000" y="5397500"/>
            <a:ext cx="6794500" cy="353943"/>
          </a:xfrm>
          <a:prstGeom prst="rect">
            <a:avLst/>
          </a:prstGeom>
          <a:noFill/>
        </p:spPr>
        <p:txBody>
          <a:bodyPr vert="horz" lIns="127000" rIns="127000" rtlCol="0" anchor="ctr">
            <a:spAutoFit/>
          </a:bodyPr>
          <a:lstStyle/>
          <a:p>
            <a:r>
              <a:rPr lang="en-ID" sz="1700">
                <a:solidFill>
                  <a:srgbClr val="373737"/>
                </a:solidFill>
                <a:latin typeface="Poppins"/>
              </a:rPr>
              <a:t>Membandingkan K-Means dengan metode clustering lain.</a:t>
            </a: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E24D66EE-70E9-48B8-9EF7-0350A8DD0D04}"/>
              </a:ext>
            </a:extLst>
          </p:cNvPr>
          <p:cNvSpPr/>
          <p:nvPr/>
        </p:nvSpPr>
        <p:spPr>
          <a:xfrm>
            <a:off x="9461500" y="7302500"/>
            <a:ext cx="8445500" cy="1714500"/>
          </a:xfrm>
          <a:prstGeom prst="roundRect">
            <a:avLst/>
          </a:prstGeom>
          <a:solidFill>
            <a:srgbClr val="EFFAF8"/>
          </a:solidFill>
          <a:ln w="19050">
            <a:solidFill>
              <a:srgbClr val="0F97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4FA9A521-61F4-4A45-8C06-098E5514419A}"/>
              </a:ext>
            </a:extLst>
          </p:cNvPr>
          <p:cNvSpPr/>
          <p:nvPr/>
        </p:nvSpPr>
        <p:spPr>
          <a:xfrm>
            <a:off x="9779000" y="7823200"/>
            <a:ext cx="660400" cy="660400"/>
          </a:xfrm>
          <a:prstGeom prst="ellipse">
            <a:avLst/>
          </a:prstGeom>
          <a:solidFill>
            <a:srgbClr val="0F978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rIns="127000" rtlCol="0" anchor="ctr"/>
          <a:lstStyle/>
          <a:p>
            <a:pPr algn="ctr"/>
            <a:r>
              <a:rPr lang="en-ID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5719638-1AE0-47F4-9B7D-3CF73D3EF8C6}"/>
              </a:ext>
            </a:extLst>
          </p:cNvPr>
          <p:cNvSpPr txBox="1"/>
          <p:nvPr/>
        </p:nvSpPr>
        <p:spPr>
          <a:xfrm>
            <a:off x="10668000" y="7556500"/>
            <a:ext cx="6794500" cy="353943"/>
          </a:xfrm>
          <a:prstGeom prst="rect">
            <a:avLst/>
          </a:prstGeom>
          <a:noFill/>
        </p:spPr>
        <p:txBody>
          <a:bodyPr vert="horz" lIns="127000" rIns="127000" rtlCol="0" anchor="ctr">
            <a:spAutoFit/>
          </a:bodyPr>
          <a:lstStyle/>
          <a:p>
            <a:r>
              <a:rPr lang="en-ID" sz="1700">
                <a:solidFill>
                  <a:srgbClr val="373737"/>
                </a:solidFill>
                <a:latin typeface="Poppins"/>
              </a:rPr>
              <a:t>Memperluas cakupan data dan mengembangkan visualisasi hasil.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5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74503" y="-2755897"/>
            <a:ext cx="10998203" cy="10998203"/>
            <a:chOff x="0" y="0"/>
            <a:chExt cx="14664271" cy="146642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64182" cy="14664182"/>
            </a:xfrm>
            <a:custGeom>
              <a:avLst/>
              <a:gdLst/>
              <a:ahLst/>
              <a:cxnLst/>
              <a:rect l="l" t="t" r="r" b="b"/>
              <a:pathLst>
                <a:path w="14664182" h="14664182">
                  <a:moveTo>
                    <a:pt x="0" y="7332091"/>
                  </a:moveTo>
                  <a:cubicBezTo>
                    <a:pt x="0" y="3282696"/>
                    <a:pt x="3282696" y="0"/>
                    <a:pt x="7332091" y="0"/>
                  </a:cubicBezTo>
                  <a:cubicBezTo>
                    <a:pt x="11381487" y="0"/>
                    <a:pt x="14664182" y="3282696"/>
                    <a:pt x="14664182" y="7332091"/>
                  </a:cubicBezTo>
                  <a:cubicBezTo>
                    <a:pt x="14664182" y="11381487"/>
                    <a:pt x="11381487" y="14664182"/>
                    <a:pt x="7332091" y="14664182"/>
                  </a:cubicBezTo>
                  <a:cubicBezTo>
                    <a:pt x="3282696" y="14664182"/>
                    <a:pt x="0" y="11381613"/>
                    <a:pt x="0" y="7332091"/>
                  </a:cubicBezTo>
                  <a:close/>
                </a:path>
              </a:pathLst>
            </a:custGeom>
            <a:solidFill>
              <a:srgbClr val="FBBF24">
                <a:alpha val="5882"/>
              </a:srgbClr>
            </a:solidFill>
            <a:ln w="254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3670297" y="5473703"/>
            <a:ext cx="10083803" cy="10083803"/>
            <a:chOff x="0" y="0"/>
            <a:chExt cx="13445071" cy="13445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444982" cy="13444982"/>
            </a:xfrm>
            <a:custGeom>
              <a:avLst/>
              <a:gdLst/>
              <a:ahLst/>
              <a:cxnLst/>
              <a:rect l="l" t="t" r="r" b="b"/>
              <a:pathLst>
                <a:path w="13444982" h="13444982">
                  <a:moveTo>
                    <a:pt x="0" y="6722491"/>
                  </a:moveTo>
                  <a:cubicBezTo>
                    <a:pt x="0" y="3009773"/>
                    <a:pt x="3009773" y="0"/>
                    <a:pt x="6722491" y="0"/>
                  </a:cubicBezTo>
                  <a:cubicBezTo>
                    <a:pt x="10435210" y="0"/>
                    <a:pt x="13444982" y="3009773"/>
                    <a:pt x="13444982" y="6722491"/>
                  </a:cubicBezTo>
                  <a:cubicBezTo>
                    <a:pt x="13444982" y="10435210"/>
                    <a:pt x="10435210" y="13444982"/>
                    <a:pt x="6722491" y="13444982"/>
                  </a:cubicBezTo>
                  <a:cubicBezTo>
                    <a:pt x="3009773" y="13444982"/>
                    <a:pt x="0" y="10435336"/>
                    <a:pt x="0" y="6722491"/>
                  </a:cubicBezTo>
                  <a:close/>
                </a:path>
              </a:pathLst>
            </a:custGeom>
            <a:solidFill>
              <a:srgbClr val="F59E0B">
                <a:alpha val="8627"/>
              </a:srgbClr>
            </a:solidFill>
            <a:ln w="254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4193543" y="2547623"/>
            <a:ext cx="9900923" cy="1397003"/>
            <a:chOff x="0" y="0"/>
            <a:chExt cx="13201231" cy="18626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201269" cy="1862709"/>
            </a:xfrm>
            <a:custGeom>
              <a:avLst/>
              <a:gdLst/>
              <a:ahLst/>
              <a:cxnLst/>
              <a:rect l="l" t="t" r="r" b="b"/>
              <a:pathLst>
                <a:path w="13201269" h="1862709">
                  <a:moveTo>
                    <a:pt x="0" y="298069"/>
                  </a:moveTo>
                  <a:cubicBezTo>
                    <a:pt x="0" y="133477"/>
                    <a:pt x="133477" y="0"/>
                    <a:pt x="298069" y="0"/>
                  </a:cubicBezTo>
                  <a:lnTo>
                    <a:pt x="12903200" y="0"/>
                  </a:lnTo>
                  <a:cubicBezTo>
                    <a:pt x="13067792" y="0"/>
                    <a:pt x="13201269" y="133477"/>
                    <a:pt x="13201269" y="298069"/>
                  </a:cubicBezTo>
                  <a:lnTo>
                    <a:pt x="13201269" y="1564640"/>
                  </a:lnTo>
                  <a:cubicBezTo>
                    <a:pt x="13201269" y="1729232"/>
                    <a:pt x="13067792" y="1862709"/>
                    <a:pt x="12903200" y="1862709"/>
                  </a:cubicBezTo>
                  <a:lnTo>
                    <a:pt x="298069" y="1862709"/>
                  </a:lnTo>
                  <a:cubicBezTo>
                    <a:pt x="133477" y="1862709"/>
                    <a:pt x="0" y="1729232"/>
                    <a:pt x="0" y="1564640"/>
                  </a:cubicBezTo>
                  <a:close/>
                </a:path>
              </a:pathLst>
            </a:custGeom>
            <a:solidFill>
              <a:srgbClr val="FBBF24"/>
            </a:solidFill>
            <a:ln w="25400" cap="sq">
              <a:solidFill>
                <a:srgbClr val="FBBF24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206240" y="2560320"/>
            <a:ext cx="9875520" cy="1371600"/>
            <a:chOff x="0" y="0"/>
            <a:chExt cx="13167360" cy="1828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167361" cy="1828800"/>
            </a:xfrm>
            <a:custGeom>
              <a:avLst/>
              <a:gdLst/>
              <a:ahLst/>
              <a:cxnLst/>
              <a:rect l="l" t="t" r="r" b="b"/>
              <a:pathLst>
                <a:path w="13167361" h="1828800">
                  <a:moveTo>
                    <a:pt x="0" y="0"/>
                  </a:moveTo>
                  <a:lnTo>
                    <a:pt x="13167361" y="0"/>
                  </a:lnTo>
                  <a:lnTo>
                    <a:pt x="13167361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0292" b="-90292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23825"/>
              <a:ext cx="13167360" cy="1952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EA58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Terima Kasih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28800" y="4297680"/>
            <a:ext cx="14630400" cy="1554480"/>
            <a:chOff x="0" y="0"/>
            <a:chExt cx="19507200" cy="20726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507200" cy="2072640"/>
            </a:xfrm>
            <a:custGeom>
              <a:avLst/>
              <a:gdLst/>
              <a:ahLst/>
              <a:cxnLst/>
              <a:rect l="l" t="t" r="r" b="b"/>
              <a:pathLst>
                <a:path w="19507200" h="2072640">
                  <a:moveTo>
                    <a:pt x="0" y="0"/>
                  </a:moveTo>
                  <a:lnTo>
                    <a:pt x="19507200" y="0"/>
                  </a:lnTo>
                  <a:lnTo>
                    <a:pt x="195072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3388" b="-133388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9507200" cy="21202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E4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Penerapan Algoritma K-Means untuk Pengelompokan Siswa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E4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sebagai Dasar Strategi Pembelajaran pada SMK Negeri 4 Tanah Grogot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52950" y="6015990"/>
            <a:ext cx="9182100" cy="38100"/>
            <a:chOff x="0" y="0"/>
            <a:chExt cx="12242800" cy="50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242800" cy="50800"/>
            </a:xfrm>
            <a:custGeom>
              <a:avLst/>
              <a:gdLst/>
              <a:ahLst/>
              <a:cxnLst/>
              <a:rect l="l" t="t" r="r" b="b"/>
              <a:pathLst>
                <a:path w="12242800" h="50800">
                  <a:moveTo>
                    <a:pt x="0" y="0"/>
                  </a:moveTo>
                  <a:lnTo>
                    <a:pt x="12242800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4645894" b="-4645894"/>
              </a:stretch>
            </a:blipFill>
            <a:ln w="38100" cap="sq">
              <a:solidFill>
                <a:srgbClr val="FBBF24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828800" y="6254496"/>
            <a:ext cx="14630400" cy="1645920"/>
            <a:chOff x="0" y="0"/>
            <a:chExt cx="19507200" cy="21945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507200" cy="2194560"/>
            </a:xfrm>
            <a:custGeom>
              <a:avLst/>
              <a:gdLst/>
              <a:ahLst/>
              <a:cxnLst/>
              <a:rect l="l" t="t" r="r" b="b"/>
              <a:pathLst>
                <a:path w="19507200" h="2194560">
                  <a:moveTo>
                    <a:pt x="0" y="0"/>
                  </a:moveTo>
                  <a:lnTo>
                    <a:pt x="19507200" y="0"/>
                  </a:lnTo>
                  <a:lnTo>
                    <a:pt x="19507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3200" b="-123200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9507200" cy="22517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Fityan Noor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22.43.032  ·  Teknik Informatika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STMIK Widya Cipta Dharma  ·  2026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279143" y="8180327"/>
            <a:ext cx="11729723" cy="1451867"/>
            <a:chOff x="0" y="0"/>
            <a:chExt cx="15639631" cy="193582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5639543" cy="1935734"/>
            </a:xfrm>
            <a:custGeom>
              <a:avLst/>
              <a:gdLst/>
              <a:ahLst/>
              <a:cxnLst/>
              <a:rect l="l" t="t" r="r" b="b"/>
              <a:pathLst>
                <a:path w="15639543" h="1935734">
                  <a:moveTo>
                    <a:pt x="0" y="248158"/>
                  </a:moveTo>
                  <a:cubicBezTo>
                    <a:pt x="0" y="111125"/>
                    <a:pt x="111125" y="0"/>
                    <a:pt x="248158" y="0"/>
                  </a:cubicBezTo>
                  <a:lnTo>
                    <a:pt x="15391385" y="0"/>
                  </a:lnTo>
                  <a:cubicBezTo>
                    <a:pt x="15528418" y="0"/>
                    <a:pt x="15639543" y="111125"/>
                    <a:pt x="15639543" y="248158"/>
                  </a:cubicBezTo>
                  <a:lnTo>
                    <a:pt x="15639543" y="1687576"/>
                  </a:lnTo>
                  <a:cubicBezTo>
                    <a:pt x="15639543" y="1824609"/>
                    <a:pt x="15528418" y="1935734"/>
                    <a:pt x="15391385" y="1935734"/>
                  </a:cubicBezTo>
                  <a:lnTo>
                    <a:pt x="248158" y="1935734"/>
                  </a:lnTo>
                  <a:cubicBezTo>
                    <a:pt x="111125" y="1935861"/>
                    <a:pt x="0" y="1824736"/>
                    <a:pt x="0" y="1687576"/>
                  </a:cubicBezTo>
                  <a:close/>
                </a:path>
              </a:pathLst>
            </a:custGeom>
            <a:solidFill>
              <a:srgbClr val="1C1917">
                <a:alpha val="48627"/>
              </a:srgbClr>
            </a:solidFill>
            <a:ln w="25400" cap="sq">
              <a:solidFill>
                <a:srgbClr val="FBBF24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3657600" y="8266176"/>
            <a:ext cx="10972800" cy="1280160"/>
            <a:chOff x="0" y="0"/>
            <a:chExt cx="14630400" cy="17068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630400" cy="1706880"/>
            </a:xfrm>
            <a:custGeom>
              <a:avLst/>
              <a:gdLst/>
              <a:ahLst/>
              <a:cxnLst/>
              <a:rect l="l" t="t" r="r" b="b"/>
              <a:pathLst>
                <a:path w="14630400" h="1706880">
                  <a:moveTo>
                    <a:pt x="0" y="0"/>
                  </a:moveTo>
                  <a:lnTo>
                    <a:pt x="14630400" y="0"/>
                  </a:lnTo>
                  <a:lnTo>
                    <a:pt x="14630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14" b="-117014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4630400" cy="17545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FFD5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Pembimbing Utama       :  </a:t>
              </a: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Wahyuni, S.Kom., M.Kom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FFD5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Pembimbing Pendamping :  </a:t>
              </a: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Rizki Galang Rahmadani, S.Kom., M.Kom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941</Words>
  <Application>Microsoft Office PowerPoint</Application>
  <PresentationFormat>Custom</PresentationFormat>
  <Paragraphs>206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 (MS) Italics</vt:lpstr>
      <vt:lpstr>Calibri (MS) Bold</vt:lpstr>
      <vt:lpstr>Arial</vt:lpstr>
      <vt:lpstr>Poppins</vt:lpstr>
      <vt:lpstr>Calibri (MS)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seminar_hasil_fityan_noor vol 3.pptx</dc:title>
  <cp:lastModifiedBy>Fityan Noor</cp:lastModifiedBy>
  <cp:revision>2</cp:revision>
  <dcterms:created xsi:type="dcterms:W3CDTF">2006-08-16T00:00:00Z</dcterms:created>
  <dcterms:modified xsi:type="dcterms:W3CDTF">2026-07-12T13:32:08Z</dcterms:modified>
  <dc:identifier>DAHOkU09Ml4</dc:identifier>
</cp:coreProperties>
</file>